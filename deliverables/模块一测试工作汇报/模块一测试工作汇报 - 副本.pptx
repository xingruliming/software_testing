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75" r:id="rId9"/>
    <p:sldId id="264" r:id="rId10"/>
    <p:sldId id="265" r:id="rId11"/>
    <p:sldId id="272" r:id="rId12"/>
    <p:sldId id="266" r:id="rId13"/>
    <p:sldId id="267" r:id="rId14"/>
    <p:sldId id="273" r:id="rId15"/>
    <p:sldId id="268" r:id="rId16"/>
    <p:sldId id="274" r:id="rId17"/>
    <p:sldId id="269" r:id="rId18"/>
    <p:sldId id="270" r:id="rId19"/>
    <p:sldId id="271" r:id="rId20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F5FD"/>
    <a:srgbClr val="D9EBFF"/>
    <a:srgbClr val="4FA1E8"/>
    <a:srgbClr val="575053"/>
    <a:srgbClr val="25557A"/>
    <a:srgbClr val="F5F7F9"/>
    <a:srgbClr val="FFFFFF"/>
    <a:srgbClr val="848EAC"/>
    <a:srgbClr val="A12B10"/>
    <a:srgbClr val="2483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4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158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77.xml"/><Relationship Id="rId17" Type="http://schemas.openxmlformats.org/officeDocument/2006/relationships/image" Target="../media/image5.png"/><Relationship Id="rId16" Type="http://schemas.openxmlformats.org/officeDocument/2006/relationships/image" Target="../media/image4.jpeg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8.xml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94.xml"/><Relationship Id="rId16" Type="http://schemas.openxmlformats.org/officeDocument/2006/relationships/image" Target="../media/image7.png"/><Relationship Id="rId15" Type="http://schemas.openxmlformats.org/officeDocument/2006/relationships/tags" Target="../tags/tag93.xml"/><Relationship Id="rId14" Type="http://schemas.openxmlformats.org/officeDocument/2006/relationships/tags" Target="../tags/tag92.xml"/><Relationship Id="rId13" Type="http://schemas.openxmlformats.org/officeDocument/2006/relationships/tags" Target="../tags/tag91.xml"/><Relationship Id="rId12" Type="http://schemas.openxmlformats.org/officeDocument/2006/relationships/tags" Target="../tags/tag90.xml"/><Relationship Id="rId11" Type="http://schemas.openxmlformats.org/officeDocument/2006/relationships/tags" Target="../tags/tag89.xml"/><Relationship Id="rId10" Type="http://schemas.openxmlformats.org/officeDocument/2006/relationships/tags" Target="../tags/tag88.xml"/><Relationship Id="rId1" Type="http://schemas.openxmlformats.org/officeDocument/2006/relationships/tags" Target="../tags/tag79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95.xml"/><Relationship Id="rId4" Type="http://schemas.openxmlformats.org/officeDocument/2006/relationships/image" Target="../media/image5.png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97.xml"/><Relationship Id="rId4" Type="http://schemas.openxmlformats.org/officeDocument/2006/relationships/image" Target="../media/image5.png"/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tags" Target="../tags/tag9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8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9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01.xml"/><Relationship Id="rId7" Type="http://schemas.openxmlformats.org/officeDocument/2006/relationships/image" Target="../media/image5.png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Relationship Id="rId3" Type="http://schemas.openxmlformats.org/officeDocument/2006/relationships/tags" Target="../tags/tag100.xml"/><Relationship Id="rId2" Type="http://schemas.openxmlformats.org/officeDocument/2006/relationships/image" Target="../media/image11.jpe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03.xml"/><Relationship Id="rId4" Type="http://schemas.openxmlformats.org/officeDocument/2006/relationships/image" Target="../media/image5.png"/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tags" Target="../tags/tag10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4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5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07.xml"/><Relationship Id="rId4" Type="http://schemas.openxmlformats.org/officeDocument/2006/relationships/image" Target="../media/image5.png"/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tags" Target="../tags/tag106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08.xml"/><Relationship Id="rId4" Type="http://schemas.openxmlformats.org/officeDocument/2006/relationships/image" Target="../media/image5.png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23.xml"/><Relationship Id="rId15" Type="http://schemas.openxmlformats.org/officeDocument/2006/relationships/image" Target="../media/image7.png"/><Relationship Id="rId14" Type="http://schemas.openxmlformats.org/officeDocument/2006/relationships/tags" Target="../tags/tag122.xml"/><Relationship Id="rId13" Type="http://schemas.openxmlformats.org/officeDocument/2006/relationships/tags" Target="../tags/tag121.xml"/><Relationship Id="rId12" Type="http://schemas.openxmlformats.org/officeDocument/2006/relationships/tags" Target="../tags/tag120.xml"/><Relationship Id="rId11" Type="http://schemas.openxmlformats.org/officeDocument/2006/relationships/tags" Target="../tags/tag119.xml"/><Relationship Id="rId10" Type="http://schemas.openxmlformats.org/officeDocument/2006/relationships/tags" Target="../tags/tag118.xml"/><Relationship Id="rId1" Type="http://schemas.openxmlformats.org/officeDocument/2006/relationships/tags" Target="../tags/tag109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32.xml"/><Relationship Id="rId8" Type="http://schemas.openxmlformats.org/officeDocument/2006/relationships/tags" Target="../tags/tag131.xml"/><Relationship Id="rId7" Type="http://schemas.openxmlformats.org/officeDocument/2006/relationships/tags" Target="../tags/tag130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139.xml"/><Relationship Id="rId16" Type="http://schemas.openxmlformats.org/officeDocument/2006/relationships/image" Target="../media/image7.png"/><Relationship Id="rId15" Type="http://schemas.openxmlformats.org/officeDocument/2006/relationships/tags" Target="../tags/tag138.xml"/><Relationship Id="rId14" Type="http://schemas.openxmlformats.org/officeDocument/2006/relationships/tags" Target="../tags/tag137.xml"/><Relationship Id="rId13" Type="http://schemas.openxmlformats.org/officeDocument/2006/relationships/tags" Target="../tags/tag136.xml"/><Relationship Id="rId12" Type="http://schemas.openxmlformats.org/officeDocument/2006/relationships/tags" Target="../tags/tag135.xml"/><Relationship Id="rId11" Type="http://schemas.openxmlformats.org/officeDocument/2006/relationships/tags" Target="../tags/tag134.xml"/><Relationship Id="rId10" Type="http://schemas.openxmlformats.org/officeDocument/2006/relationships/tags" Target="../tags/tag133.xml"/><Relationship Id="rId1" Type="http://schemas.openxmlformats.org/officeDocument/2006/relationships/tags" Target="../tags/tag124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148.xml"/><Relationship Id="rId8" Type="http://schemas.openxmlformats.org/officeDocument/2006/relationships/tags" Target="../tags/tag147.xml"/><Relationship Id="rId7" Type="http://schemas.openxmlformats.org/officeDocument/2006/relationships/tags" Target="../tags/tag146.xml"/><Relationship Id="rId6" Type="http://schemas.openxmlformats.org/officeDocument/2006/relationships/tags" Target="../tags/tag145.xml"/><Relationship Id="rId5" Type="http://schemas.openxmlformats.org/officeDocument/2006/relationships/tags" Target="../tags/tag144.xml"/><Relationship Id="rId4" Type="http://schemas.openxmlformats.org/officeDocument/2006/relationships/tags" Target="../tags/tag143.xml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56.xml"/><Relationship Id="rId17" Type="http://schemas.openxmlformats.org/officeDocument/2006/relationships/image" Target="../media/image7.png"/><Relationship Id="rId16" Type="http://schemas.openxmlformats.org/officeDocument/2006/relationships/tags" Target="../tags/tag155.xml"/><Relationship Id="rId15" Type="http://schemas.openxmlformats.org/officeDocument/2006/relationships/tags" Target="../tags/tag154.xml"/><Relationship Id="rId14" Type="http://schemas.openxmlformats.org/officeDocument/2006/relationships/tags" Target="../tags/tag153.xml"/><Relationship Id="rId13" Type="http://schemas.openxmlformats.org/officeDocument/2006/relationships/tags" Target="../tags/tag152.xml"/><Relationship Id="rId12" Type="http://schemas.openxmlformats.org/officeDocument/2006/relationships/tags" Target="../tags/tag151.xml"/><Relationship Id="rId11" Type="http://schemas.openxmlformats.org/officeDocument/2006/relationships/tags" Target="../tags/tag150.xml"/><Relationship Id="rId10" Type="http://schemas.openxmlformats.org/officeDocument/2006/relationships/tags" Target="../tags/tag149.xml"/><Relationship Id="rId1" Type="http://schemas.openxmlformats.org/officeDocument/2006/relationships/tags" Target="../tags/tag140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5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/>
          <p:cNvGrpSpPr/>
          <p:nvPr/>
        </p:nvGrpSpPr>
        <p:grpSpPr>
          <a:xfrm rot="10800000">
            <a:off x="-28575" y="3744463"/>
            <a:ext cx="4737100" cy="5091168"/>
            <a:chOff x="8135783" y="-1669981"/>
            <a:chExt cx="4056217" cy="4359393"/>
          </a:xfrm>
        </p:grpSpPr>
        <p:sp>
          <p:nvSpPr>
            <p:cNvPr id="65" name="任意多边形: 形状 64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4" name="直角三角形 63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9" name="图片 8" descr="1037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9106535" y="5777865"/>
            <a:ext cx="3085714" cy="108000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2151380" y="2035175"/>
            <a:ext cx="7889240" cy="2787650"/>
            <a:chOff x="4143" y="4637"/>
            <a:chExt cx="12424" cy="4390"/>
          </a:xfrm>
        </p:grpSpPr>
        <p:sp>
          <p:nvSpPr>
            <p:cNvPr id="27" name="文本框 1"/>
            <p:cNvSpPr txBox="1"/>
            <p:nvPr/>
          </p:nvSpPr>
          <p:spPr>
            <a:xfrm>
              <a:off x="4143" y="4637"/>
              <a:ext cx="12424" cy="1598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p>
              <a:pPr algn="ctr" rtl="0" eaLnBrk="1" fontAlgn="auto" latinLnBrk="0" hangingPunct="1"/>
              <a:r>
                <a:rPr lang="zh-CN" sz="6000" b="1" kern="100">
                  <a:solidFill>
                    <a:srgbClr val="25557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VGGT</a:t>
              </a:r>
              <a:r>
                <a:rPr lang="en-US" altLang="zh-CN" sz="6000" b="1" kern="100">
                  <a:solidFill>
                    <a:srgbClr val="25557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模块一</a:t>
              </a:r>
              <a:r>
                <a:rPr lang="zh-CN" altLang="en-US" sz="6000" b="1" kern="100">
                  <a:solidFill>
                    <a:srgbClr val="25557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测试汇报</a:t>
              </a:r>
              <a:endParaRPr lang="zh-CN" altLang="en-US" sz="6000" b="1" kern="100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endParaRPr>
            </a:p>
          </p:txBody>
        </p:sp>
        <p:sp>
          <p:nvSpPr>
            <p:cNvPr id="28" name="文本框 1"/>
            <p:cNvSpPr txBox="1"/>
            <p:nvPr/>
          </p:nvSpPr>
          <p:spPr>
            <a:xfrm>
              <a:off x="7636" y="8530"/>
              <a:ext cx="5913" cy="497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algn="l" rtl="0" eaLnBrk="1" fontAlgn="auto" latinLnBrk="0" hangingPunct="1">
                <a:lnSpc>
                  <a:spcPts val="1800"/>
                </a:lnSpc>
              </a:pPr>
              <a:r>
                <a:rPr lang="zh-CN" altLang="en-US" sz="1600" kern="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汇报人丨黄国宸 曹钧杰</a:t>
              </a:r>
              <a:r>
                <a:rPr lang="en-US" altLang="zh-CN" sz="1600" kern="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  </a:t>
              </a:r>
              <a:r>
                <a:rPr lang="zh-CN" altLang="en-US" sz="1600" kern="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时间丨</a:t>
              </a:r>
              <a:r>
                <a:rPr lang="en-US" altLang="zh-CN" sz="1600" kern="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2026</a:t>
              </a:r>
              <a:r>
                <a:rPr lang="zh-CN" altLang="en-US" sz="1600" kern="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.</a:t>
              </a:r>
              <a:r>
                <a:rPr lang="en-US" altLang="zh-CN" sz="1600" kern="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9</a:t>
              </a:r>
              <a:endParaRPr lang="zh-CN" altLang="en-US" sz="1600" kern="1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endParaRPr>
            </a:p>
          </p:txBody>
        </p:sp>
        <p:sp>
          <p:nvSpPr>
            <p:cNvPr id="29" name="文本框 32"/>
            <p:cNvSpPr txBox="1"/>
            <p:nvPr/>
          </p:nvSpPr>
          <p:spPr>
            <a:xfrm>
              <a:off x="5781" y="6564"/>
              <a:ext cx="9129" cy="564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algn="ctr" rtl="0" eaLnBrk="1" fontAlgn="auto" latinLnBrk="0" hangingPunct="1">
                <a:lnSpc>
                  <a:spcPts val="2000"/>
                </a:lnSpc>
              </a:pPr>
              <a:r>
                <a:rPr lang="zh-CN" altLang="en-US" sz="2000" b="1" kern="100">
                  <a:solidFill>
                    <a:srgbClr val="59595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32 条用例 · 2 种方法</a:t>
              </a:r>
              <a:r>
                <a:rPr lang="en-US" altLang="zh-CN" sz="2000" b="1" kern="100">
                  <a:solidFill>
                    <a:srgbClr val="59595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  | </a:t>
              </a:r>
              <a:r>
                <a:rPr lang="zh-CN" altLang="en-US" sz="2000" b="1" kern="100">
                  <a:solidFill>
                    <a:srgbClr val="59595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1 个缺陷</a:t>
              </a:r>
              <a:endParaRPr lang="en-US" altLang="zh-CN" sz="2000" b="1" kern="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7454900" y="-1959610"/>
            <a:ext cx="4737100" cy="5091430"/>
            <a:chOff x="11740" y="-3086"/>
            <a:chExt cx="7460" cy="8018"/>
          </a:xfrm>
        </p:grpSpPr>
        <p:grpSp>
          <p:nvGrpSpPr>
            <p:cNvPr id="3" name="组合 2"/>
            <p:cNvGrpSpPr/>
            <p:nvPr/>
          </p:nvGrpSpPr>
          <p:grpSpPr>
            <a:xfrm>
              <a:off x="11740" y="-3086"/>
              <a:ext cx="7460" cy="8018"/>
              <a:chOff x="8135783" y="-1669981"/>
              <a:chExt cx="4056217" cy="4359393"/>
            </a:xfrm>
          </p:grpSpPr>
          <p:sp>
            <p:nvSpPr>
              <p:cNvPr id="7" name="任意多边形: 形状 12"/>
              <p:cNvSpPr/>
              <p:nvPr/>
            </p:nvSpPr>
            <p:spPr>
              <a:xfrm rot="18900000">
                <a:off x="8135783" y="-1669981"/>
                <a:ext cx="3339963" cy="3339962"/>
              </a:xfrm>
              <a:custGeom>
                <a:avLst/>
                <a:gdLst>
                  <a:gd name="connsiteX0" fmla="*/ 0 w 3339963"/>
                  <a:gd name="connsiteY0" fmla="*/ 0 h 3339962"/>
                  <a:gd name="connsiteX1" fmla="*/ 3339963 w 3339963"/>
                  <a:gd name="connsiteY1" fmla="*/ 3339962 h 3339962"/>
                  <a:gd name="connsiteX2" fmla="*/ 1099563 w 3339963"/>
                  <a:gd name="connsiteY2" fmla="*/ 3339962 h 333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39963" h="3339962">
                    <a:moveTo>
                      <a:pt x="0" y="0"/>
                    </a:moveTo>
                    <a:lnTo>
                      <a:pt x="3339963" y="3339962"/>
                    </a:lnTo>
                    <a:lnTo>
                      <a:pt x="1099563" y="3339962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7" name="直角三角形 16"/>
              <p:cNvSpPr/>
              <p:nvPr/>
            </p:nvSpPr>
            <p:spPr>
              <a:xfrm rot="10800000">
                <a:off x="9502588" y="0"/>
                <a:ext cx="2689412" cy="2689412"/>
              </a:xfrm>
              <a:prstGeom prst="rtTriangle">
                <a:avLst/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pic>
          <p:nvPicPr>
            <p:cNvPr id="18" name="图片 17" descr="校徽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399" y="293"/>
              <a:ext cx="2240" cy="1701"/>
            </a:xfrm>
            <a:prstGeom prst="rect">
              <a:avLst/>
            </a:prstGeom>
          </p:spPr>
        </p:pic>
      </p:grp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4679950" cy="3831590"/>
          </a:xfrm>
          <a:prstGeom prst="rect">
            <a:avLst/>
          </a:prstGeom>
          <a:gradFill>
            <a:gsLst>
              <a:gs pos="52000">
                <a:srgbClr val="25557A"/>
              </a:gs>
              <a:gs pos="100000">
                <a:srgbClr val="2D84B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10870" y="535305"/>
            <a:ext cx="3458210" cy="18776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auto">
              <a:lnSpc>
                <a:spcPct val="150000"/>
              </a:lnSpc>
            </a:pPr>
            <a:r>
              <a:rPr lang="zh-CN" altLang="en-US" sz="8000" b="1"/>
              <a:t>目录</a:t>
            </a:r>
            <a:endParaRPr lang="zh-CN" altLang="en-US" sz="8000"/>
          </a:p>
          <a:p>
            <a:pPr algn="ctr" fontAlgn="auto">
              <a:lnSpc>
                <a:spcPct val="150000"/>
              </a:lnSpc>
            </a:pPr>
            <a:r>
              <a:rPr lang="en-US" altLang="zh-CN" sz="3200"/>
              <a:t>CONTENTS</a:t>
            </a:r>
            <a:endParaRPr lang="en-US" altLang="zh-CN" sz="3200"/>
          </a:p>
        </p:txBody>
      </p:sp>
      <p:grpSp>
        <p:nvGrpSpPr>
          <p:cNvPr id="16" name="组合 15"/>
          <p:cNvGrpSpPr/>
          <p:nvPr>
            <p:custDataLst>
              <p:tags r:id="rId1"/>
            </p:custDataLst>
          </p:nvPr>
        </p:nvGrpSpPr>
        <p:grpSpPr>
          <a:xfrm>
            <a:off x="5471795" y="1267460"/>
            <a:ext cx="3966845" cy="4323715"/>
            <a:chOff x="8183" y="1320"/>
            <a:chExt cx="6247" cy="6809"/>
          </a:xfrm>
        </p:grpSpPr>
        <p:sp>
          <p:nvSpPr>
            <p:cNvPr id="34" name="椭圆 33"/>
            <p:cNvSpPr/>
            <p:nvPr>
              <p:custDataLst>
                <p:tags r:id="rId2"/>
              </p:custDataLst>
            </p:nvPr>
          </p:nvSpPr>
          <p:spPr>
            <a:xfrm>
              <a:off x="8183" y="1320"/>
              <a:ext cx="1244" cy="12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3200" b="1" dirty="0">
                  <a:solidFill>
                    <a:srgbClr val="25557A"/>
                  </a:solidFill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endParaRPr lang="en-US" altLang="zh-CN" sz="3200" b="1" dirty="0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矩形 34"/>
            <p:cNvSpPr/>
            <p:nvPr>
              <p:custDataLst>
                <p:tags r:id="rId3"/>
              </p:custDataLst>
            </p:nvPr>
          </p:nvSpPr>
          <p:spPr>
            <a:xfrm>
              <a:off x="10046" y="1521"/>
              <a:ext cx="4235" cy="82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zh-CN" altLang="en-US" sz="2800" spc="300" dirty="0">
                  <a:latin typeface="+mn-ea"/>
                </a:rPr>
                <a:t>被测对象功能</a:t>
              </a:r>
              <a:endParaRPr lang="zh-CN" altLang="en-US" sz="2800" spc="300" dirty="0">
                <a:latin typeface="+mn-ea"/>
              </a:endParaRPr>
            </a:p>
          </p:txBody>
        </p:sp>
        <p:cxnSp>
          <p:nvCxnSpPr>
            <p:cNvPr id="36" name="直接连接符 35"/>
            <p:cNvCxnSpPr/>
            <p:nvPr>
              <p:custDataLst>
                <p:tags r:id="rId4"/>
              </p:custDataLst>
            </p:nvPr>
          </p:nvCxnSpPr>
          <p:spPr>
            <a:xfrm>
              <a:off x="9782" y="1651"/>
              <a:ext cx="0" cy="606"/>
            </a:xfrm>
            <a:prstGeom prst="line">
              <a:avLst/>
            </a:prstGeom>
            <a:ln w="31750">
              <a:solidFill>
                <a:srgbClr val="25557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组合 7"/>
            <p:cNvGrpSpPr/>
            <p:nvPr/>
          </p:nvGrpSpPr>
          <p:grpSpPr>
            <a:xfrm>
              <a:off x="8183" y="3175"/>
              <a:ext cx="6247" cy="1244"/>
              <a:chOff x="8183" y="3571"/>
              <a:chExt cx="6247" cy="1244"/>
            </a:xfrm>
          </p:grpSpPr>
          <p:sp>
            <p:nvSpPr>
              <p:cNvPr id="39" name="椭圆 38"/>
              <p:cNvSpPr/>
              <p:nvPr>
                <p:custDataLst>
                  <p:tags r:id="rId5"/>
                </p:custDataLst>
              </p:nvPr>
            </p:nvSpPr>
            <p:spPr>
              <a:xfrm>
                <a:off x="8183" y="3571"/>
                <a:ext cx="1244" cy="124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3200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2</a:t>
                </a:r>
                <a:endParaRPr lang="en-US" altLang="zh-CN" sz="3200" b="1" dirty="0">
                  <a:solidFill>
                    <a:srgbClr val="25557A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0" name="矩形 39"/>
              <p:cNvSpPr/>
              <p:nvPr>
                <p:custDataLst>
                  <p:tags r:id="rId6"/>
                </p:custDataLst>
              </p:nvPr>
            </p:nvSpPr>
            <p:spPr>
              <a:xfrm>
                <a:off x="10044" y="3785"/>
                <a:ext cx="4386" cy="5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r>
                  <a:rPr lang="zh-CN" altLang="en-US" sz="2800" spc="300" dirty="0">
                    <a:latin typeface="+mn-ea"/>
                  </a:rPr>
                  <a:t>主要测试策略</a:t>
                </a:r>
                <a:endParaRPr lang="zh-CN" altLang="en-US" sz="2800" spc="300" dirty="0">
                  <a:latin typeface="+mn-ea"/>
                </a:endParaRPr>
              </a:p>
            </p:txBody>
          </p:sp>
          <p:cxnSp>
            <p:nvCxnSpPr>
              <p:cNvPr id="41" name="直接连接符 40"/>
              <p:cNvCxnSpPr/>
              <p:nvPr>
                <p:custDataLst>
                  <p:tags r:id="rId7"/>
                </p:custDataLst>
              </p:nvPr>
            </p:nvCxnSpPr>
            <p:spPr>
              <a:xfrm>
                <a:off x="9782" y="3902"/>
                <a:ext cx="0" cy="606"/>
              </a:xfrm>
              <a:prstGeom prst="line">
                <a:avLst/>
              </a:prstGeom>
              <a:ln w="31750">
                <a:solidFill>
                  <a:srgbClr val="2555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/>
            <p:cNvGrpSpPr/>
            <p:nvPr/>
          </p:nvGrpSpPr>
          <p:grpSpPr>
            <a:xfrm>
              <a:off x="8183" y="5030"/>
              <a:ext cx="5635" cy="1244"/>
              <a:chOff x="8183" y="5822"/>
              <a:chExt cx="5635" cy="1244"/>
            </a:xfrm>
          </p:grpSpPr>
          <p:sp>
            <p:nvSpPr>
              <p:cNvPr id="43" name="椭圆 42"/>
              <p:cNvSpPr/>
              <p:nvPr>
                <p:custDataLst>
                  <p:tags r:id="rId8"/>
                </p:custDataLst>
              </p:nvPr>
            </p:nvSpPr>
            <p:spPr>
              <a:xfrm>
                <a:off x="8183" y="5822"/>
                <a:ext cx="1244" cy="124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3200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3</a:t>
                </a:r>
                <a:endParaRPr lang="en-US" altLang="zh-CN" sz="3200" b="1" dirty="0">
                  <a:solidFill>
                    <a:srgbClr val="25557A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4" name="矩形 43"/>
              <p:cNvSpPr/>
              <p:nvPr>
                <p:custDataLst>
                  <p:tags r:id="rId9"/>
                </p:custDataLst>
              </p:nvPr>
            </p:nvSpPr>
            <p:spPr>
              <a:xfrm>
                <a:off x="10044" y="6022"/>
                <a:ext cx="3775" cy="8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r>
                  <a:rPr lang="zh-CN" altLang="en-US" sz="2800" spc="300" dirty="0">
                    <a:latin typeface="+mn-ea"/>
                  </a:rPr>
                  <a:t>自动化实施</a:t>
                </a:r>
                <a:endParaRPr lang="zh-CN" altLang="en-US" sz="2800" spc="300" dirty="0">
                  <a:latin typeface="+mn-ea"/>
                </a:endParaRPr>
              </a:p>
            </p:txBody>
          </p:sp>
          <p:cxnSp>
            <p:nvCxnSpPr>
              <p:cNvPr id="45" name="直接连接符 44"/>
              <p:cNvCxnSpPr/>
              <p:nvPr>
                <p:custDataLst>
                  <p:tags r:id="rId10"/>
                </p:custDataLst>
              </p:nvPr>
            </p:nvCxnSpPr>
            <p:spPr>
              <a:xfrm>
                <a:off x="9782" y="6153"/>
                <a:ext cx="0" cy="606"/>
              </a:xfrm>
              <a:prstGeom prst="line">
                <a:avLst/>
              </a:prstGeom>
              <a:ln w="31750">
                <a:solidFill>
                  <a:srgbClr val="2555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10"/>
            <p:cNvGrpSpPr/>
            <p:nvPr/>
          </p:nvGrpSpPr>
          <p:grpSpPr>
            <a:xfrm>
              <a:off x="8185" y="6885"/>
              <a:ext cx="5634" cy="1244"/>
              <a:chOff x="8186" y="8236"/>
              <a:chExt cx="5634" cy="1244"/>
            </a:xfrm>
          </p:grpSpPr>
          <p:sp>
            <p:nvSpPr>
              <p:cNvPr id="47" name="椭圆 46"/>
              <p:cNvSpPr/>
              <p:nvPr>
                <p:custDataLst>
                  <p:tags r:id="rId11"/>
                </p:custDataLst>
              </p:nvPr>
            </p:nvSpPr>
            <p:spPr>
              <a:xfrm>
                <a:off x="8186" y="8236"/>
                <a:ext cx="1244" cy="124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3200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4</a:t>
                </a:r>
                <a:endParaRPr lang="en-US" altLang="zh-CN" sz="3200" b="1" dirty="0">
                  <a:solidFill>
                    <a:srgbClr val="25557A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8" name="矩形 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10046" y="8447"/>
                <a:ext cx="3775" cy="8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r>
                  <a:rPr lang="zh-CN" altLang="en-US" sz="2800" spc="300" dirty="0">
                    <a:latin typeface="+mn-ea"/>
                  </a:rPr>
                  <a:t>结果与结论</a:t>
                </a:r>
                <a:endParaRPr lang="zh-CN" altLang="en-US" sz="2800" spc="300" dirty="0">
                  <a:latin typeface="+mn-ea"/>
                </a:endParaRPr>
              </a:p>
            </p:txBody>
          </p:sp>
          <p:cxnSp>
            <p:nvCxnSpPr>
              <p:cNvPr id="49" name="直接连接符 48"/>
              <p:cNvCxnSpPr/>
              <p:nvPr>
                <p:custDataLst>
                  <p:tags r:id="rId13"/>
                </p:custDataLst>
              </p:nvPr>
            </p:nvCxnSpPr>
            <p:spPr>
              <a:xfrm>
                <a:off x="9785" y="8567"/>
                <a:ext cx="0" cy="606"/>
              </a:xfrm>
              <a:prstGeom prst="line">
                <a:avLst/>
              </a:prstGeom>
              <a:ln w="31750">
                <a:solidFill>
                  <a:srgbClr val="2555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26" name="图片 25" descr="校史馆"/>
          <p:cNvPicPr>
            <a:picLocks noChangeAspect="1"/>
          </p:cNvPicPr>
          <p:nvPr/>
        </p:nvPicPr>
        <p:blipFill>
          <a:blip r:embed="rId14">
            <a:alphaModFix amt="25000"/>
          </a:blip>
          <a:stretch>
            <a:fillRect/>
          </a:stretch>
        </p:blipFill>
        <p:spPr>
          <a:xfrm>
            <a:off x="9255760" y="5777865"/>
            <a:ext cx="2905830" cy="108000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7454900" y="-1959610"/>
            <a:ext cx="4737100" cy="5091430"/>
            <a:chOff x="11740" y="-3086"/>
            <a:chExt cx="7460" cy="8018"/>
          </a:xfrm>
        </p:grpSpPr>
        <p:grpSp>
          <p:nvGrpSpPr>
            <p:cNvPr id="3" name="组合 2"/>
            <p:cNvGrpSpPr/>
            <p:nvPr/>
          </p:nvGrpSpPr>
          <p:grpSpPr>
            <a:xfrm>
              <a:off x="11740" y="-3086"/>
              <a:ext cx="7460" cy="8018"/>
              <a:chOff x="8135783" y="-1669981"/>
              <a:chExt cx="4056217" cy="4359393"/>
            </a:xfrm>
          </p:grpSpPr>
          <p:sp>
            <p:nvSpPr>
              <p:cNvPr id="7" name="任意多边形: 形状 12"/>
              <p:cNvSpPr/>
              <p:nvPr/>
            </p:nvSpPr>
            <p:spPr>
              <a:xfrm rot="18900000">
                <a:off x="8135783" y="-1669981"/>
                <a:ext cx="3339963" cy="3339962"/>
              </a:xfrm>
              <a:custGeom>
                <a:avLst/>
                <a:gdLst>
                  <a:gd name="connsiteX0" fmla="*/ 0 w 3339963"/>
                  <a:gd name="connsiteY0" fmla="*/ 0 h 3339962"/>
                  <a:gd name="connsiteX1" fmla="*/ 3339963 w 3339963"/>
                  <a:gd name="connsiteY1" fmla="*/ 3339962 h 3339962"/>
                  <a:gd name="connsiteX2" fmla="*/ 1099563 w 3339963"/>
                  <a:gd name="connsiteY2" fmla="*/ 3339962 h 333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39963" h="3339962">
                    <a:moveTo>
                      <a:pt x="0" y="0"/>
                    </a:moveTo>
                    <a:lnTo>
                      <a:pt x="3339963" y="3339962"/>
                    </a:lnTo>
                    <a:lnTo>
                      <a:pt x="1099563" y="3339962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7" name="直角三角形 16"/>
              <p:cNvSpPr/>
              <p:nvPr/>
            </p:nvSpPr>
            <p:spPr>
              <a:xfrm rot="10800000">
                <a:off x="9502588" y="0"/>
                <a:ext cx="2689412" cy="2689412"/>
              </a:xfrm>
              <a:prstGeom prst="rtTriangle">
                <a:avLst/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pic>
          <p:nvPicPr>
            <p:cNvPr id="18" name="图片 17" descr="校徽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6399" y="293"/>
              <a:ext cx="2240" cy="1701"/>
            </a:xfrm>
            <a:prstGeom prst="rect">
              <a:avLst/>
            </a:prstGeom>
          </p:spPr>
        </p:pic>
      </p:grpSp>
      <p:grpSp>
        <p:nvGrpSpPr>
          <p:cNvPr id="20" name="组合 19"/>
          <p:cNvGrpSpPr/>
          <p:nvPr/>
        </p:nvGrpSpPr>
        <p:grpSpPr>
          <a:xfrm>
            <a:off x="0" y="3738245"/>
            <a:ext cx="4679950" cy="3119755"/>
            <a:chOff x="0" y="5887"/>
            <a:chExt cx="7370" cy="4913"/>
          </a:xfrm>
        </p:grpSpPr>
        <p:pic>
          <p:nvPicPr>
            <p:cNvPr id="13" name="图片 12" descr="IMG_2578(20220922-170619)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0" y="5887"/>
              <a:ext cx="7370" cy="4913"/>
            </a:xfrm>
            <a:prstGeom prst="rect">
              <a:avLst/>
            </a:prstGeom>
          </p:spPr>
        </p:pic>
        <p:pic>
          <p:nvPicPr>
            <p:cNvPr id="19" name="图片 18" descr="小招logo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2834" y="9474"/>
              <a:ext cx="1701" cy="952"/>
            </a:xfrm>
            <a:prstGeom prst="rect">
              <a:avLst/>
            </a:prstGeom>
          </p:spPr>
        </p:pic>
      </p:grpSp>
    </p:spTree>
    <p:custDataLst>
      <p:tags r:id="rId1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任意多边形: 形状 52"/>
          <p:cNvSpPr/>
          <p:nvPr/>
        </p:nvSpPr>
        <p:spPr>
          <a:xfrm flipH="1">
            <a:off x="4337050" y="0"/>
            <a:ext cx="7854950" cy="6858000"/>
          </a:xfrm>
          <a:custGeom>
            <a:avLst/>
            <a:gdLst>
              <a:gd name="connsiteX0" fmla="*/ 12191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12191999 w 12192000"/>
              <a:gd name="connsiteY3" fmla="*/ 6858000 h 6858000"/>
              <a:gd name="connsiteX4" fmla="*/ 0 w 12192000"/>
              <a:gd name="connsiteY4" fmla="*/ 0 h 6858000"/>
              <a:gd name="connsiteX5" fmla="*/ 11295445 w 12192000"/>
              <a:gd name="connsiteY5" fmla="*/ 0 h 6858000"/>
              <a:gd name="connsiteX6" fmla="*/ 4437446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2191999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close/>
                <a:moveTo>
                  <a:pt x="0" y="0"/>
                </a:moveTo>
                <a:lnTo>
                  <a:pt x="11295445" y="0"/>
                </a:lnTo>
                <a:lnTo>
                  <a:pt x="4437446" y="6858000"/>
                </a:lnTo>
                <a:lnTo>
                  <a:pt x="0" y="6858000"/>
                </a:lnTo>
                <a:close/>
              </a:path>
            </a:pathLst>
          </a:custGeom>
          <a:gradFill flip="none">
            <a:gsLst>
              <a:gs pos="15000">
                <a:srgbClr val="25557A"/>
              </a:gs>
              <a:gs pos="32000">
                <a:srgbClr val="2483D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7" name="组合 26"/>
          <p:cNvGrpSpPr/>
          <p:nvPr/>
        </p:nvGrpSpPr>
        <p:grpSpPr>
          <a:xfrm>
            <a:off x="4896485" y="635"/>
            <a:ext cx="7295515" cy="6858000"/>
            <a:chOff x="7711" y="1"/>
            <a:chExt cx="11489" cy="10800"/>
          </a:xfrm>
        </p:grpSpPr>
        <p:pic>
          <p:nvPicPr>
            <p:cNvPr id="17" name="图片 16" descr="IMG_2580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006DBF">
                    <a:alpha val="100000"/>
                  </a:srgbClr>
                </a:clrFrom>
                <a:clrTo>
                  <a:srgbClr val="006DB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840" y="2371"/>
              <a:ext cx="7360" cy="8429"/>
            </a:xfrm>
            <a:prstGeom prst="rect">
              <a:avLst/>
            </a:prstGeom>
          </p:spPr>
        </p:pic>
        <p:sp>
          <p:nvSpPr>
            <p:cNvPr id="21" name="任意多边形: 形状 52"/>
            <p:cNvSpPr/>
            <p:nvPr/>
          </p:nvSpPr>
          <p:spPr>
            <a:xfrm flipV="1">
              <a:off x="7711" y="1"/>
              <a:ext cx="6416" cy="10800"/>
            </a:xfrm>
            <a:custGeom>
              <a:avLst/>
              <a:gdLst>
                <a:gd name="connsiteX0" fmla="*/ 12191999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12191999 w 12192000"/>
                <a:gd name="connsiteY3" fmla="*/ 6858000 h 6858000"/>
                <a:gd name="connsiteX4" fmla="*/ 0 w 12192000"/>
                <a:gd name="connsiteY4" fmla="*/ 0 h 6858000"/>
                <a:gd name="connsiteX5" fmla="*/ 11295445 w 12192000"/>
                <a:gd name="connsiteY5" fmla="*/ 0 h 6858000"/>
                <a:gd name="connsiteX6" fmla="*/ 4437446 w 12192000"/>
                <a:gd name="connsiteY6" fmla="*/ 6858000 h 6858000"/>
                <a:gd name="connsiteX7" fmla="*/ 0 w 12192000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8000">
                  <a:moveTo>
                    <a:pt x="12191999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12191999" y="6858000"/>
                  </a:lnTo>
                  <a:close/>
                  <a:moveTo>
                    <a:pt x="0" y="0"/>
                  </a:moveTo>
                  <a:lnTo>
                    <a:pt x="11295445" y="0"/>
                  </a:lnTo>
                  <a:lnTo>
                    <a:pt x="4437446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25" name="图片 24" descr="校徽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399" y="293"/>
              <a:ext cx="2240" cy="1701"/>
            </a:xfrm>
            <a:prstGeom prst="rect">
              <a:avLst/>
            </a:prstGeom>
          </p:spPr>
        </p:pic>
      </p:grpSp>
      <p:grpSp>
        <p:nvGrpSpPr>
          <p:cNvPr id="28" name="组合 27"/>
          <p:cNvGrpSpPr/>
          <p:nvPr/>
        </p:nvGrpSpPr>
        <p:grpSpPr>
          <a:xfrm>
            <a:off x="1981200" y="1901190"/>
            <a:ext cx="6291580" cy="2896235"/>
            <a:chOff x="1932" y="2994"/>
            <a:chExt cx="9908" cy="4561"/>
          </a:xfrm>
        </p:grpSpPr>
        <p:grpSp>
          <p:nvGrpSpPr>
            <p:cNvPr id="30" name="组合 29"/>
            <p:cNvGrpSpPr/>
            <p:nvPr/>
          </p:nvGrpSpPr>
          <p:grpSpPr>
            <a:xfrm>
              <a:off x="1932" y="2994"/>
              <a:ext cx="3242" cy="2179"/>
              <a:chOff x="2761095" y="2292169"/>
              <a:chExt cx="2058736" cy="1383665"/>
            </a:xfrm>
          </p:grpSpPr>
          <p:sp>
            <p:nvSpPr>
              <p:cNvPr id="2" name="矩形: 圆角 1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66" name="矩形: 圆角 6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" name="文本框 2"/>
              <p:cNvSpPr txBox="1"/>
              <p:nvPr/>
            </p:nvSpPr>
            <p:spPr>
              <a:xfrm>
                <a:off x="3020843" y="2292169"/>
                <a:ext cx="1798988" cy="1383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84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8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68" name="矩形 67"/>
            <p:cNvSpPr/>
            <p:nvPr/>
          </p:nvSpPr>
          <p:spPr>
            <a:xfrm>
              <a:off x="4066" y="2994"/>
              <a:ext cx="2262" cy="2082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en-US" altLang="zh-CN" sz="8000" b="1" dirty="0">
                  <a:latin typeface="微软雅黑" panose="020B0503020204020204" charset="-122"/>
                  <a:ea typeface="微软雅黑" panose="020B0503020204020204" charset="-122"/>
                </a:rPr>
                <a:t>01</a:t>
              </a:r>
              <a:endParaRPr lang="en-US" altLang="zh-CN" sz="8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9" name="矩形 68"/>
            <p:cNvSpPr/>
            <p:nvPr/>
          </p:nvSpPr>
          <p:spPr>
            <a:xfrm>
              <a:off x="2118" y="5546"/>
              <a:ext cx="8568" cy="1743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zh-CN" altLang="en-US" sz="6600" b="1" spc="300" dirty="0">
                  <a:latin typeface="微软雅黑" panose="020B0503020204020204" charset="-122"/>
                  <a:ea typeface="微软雅黑" panose="020B0503020204020204" charset="-122"/>
                </a:rPr>
                <a:t>被测对象功能</a:t>
              </a:r>
              <a:endParaRPr lang="zh-CN" altLang="en-US" sz="66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2212" y="6975"/>
              <a:ext cx="9628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endParaRPr lang="en-US" altLang="zh-CN" sz="900" spc="6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6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TEST OBJECT &amp; CORE FUNCTIONS</a:t>
              </a:r>
              <a:endParaRPr lang="en-US" altLang="zh-CN" sz="900" spc="6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 rot="10800000">
            <a:off x="-28575" y="3744463"/>
            <a:ext cx="4737100" cy="5091168"/>
            <a:chOff x="8135783" y="-1669981"/>
            <a:chExt cx="4056217" cy="4359393"/>
          </a:xfrm>
        </p:grpSpPr>
        <p:sp>
          <p:nvSpPr>
            <p:cNvPr id="65" name="任意多边形: 形状 64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4" name="直角三角形 63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9" name="图片 18" descr="小招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3745" y="6055995"/>
            <a:ext cx="1080000" cy="60443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51155" y="325120"/>
            <a:ext cx="4559300" cy="1015365"/>
            <a:chOff x="1572" y="494"/>
            <a:chExt cx="7180" cy="1599"/>
          </a:xfrm>
        </p:grpSpPr>
        <p:grpSp>
          <p:nvGrpSpPr>
            <p:cNvPr id="8" name="组合 7"/>
            <p:cNvGrpSpPr/>
            <p:nvPr/>
          </p:nvGrpSpPr>
          <p:grpSpPr>
            <a:xfrm>
              <a:off x="1572" y="494"/>
              <a:ext cx="2047" cy="1599"/>
              <a:chOff x="2761095" y="2248418"/>
              <a:chExt cx="1948563" cy="1522661"/>
            </a:xfrm>
          </p:grpSpPr>
          <p:sp>
            <p:nvSpPr>
              <p:cNvPr id="9" name="矩形: 圆角 24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2910670" y="2248418"/>
                <a:ext cx="1798988" cy="1522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6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6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3078" y="751"/>
              <a:ext cx="3788" cy="919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zh-CN" altLang="en-US" sz="3200" b="1" spc="300" dirty="0">
                  <a:latin typeface="微软雅黑" panose="020B0503020204020204" charset="-122"/>
                  <a:ea typeface="微软雅黑" panose="020B0503020204020204" charset="-122"/>
                </a:rPr>
                <a:t>被测对象：VGGT 的几何计算层</a:t>
              </a:r>
              <a:endParaRPr lang="zh-CN" altLang="en-US" sz="32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107" y="1365"/>
              <a:ext cx="5645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3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TEST OBJECT &amp; CORE FUNCTIONS</a:t>
              </a:r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9" name="矩形: 圆角 18"/>
          <p:cNvSpPr/>
          <p:nvPr/>
        </p:nvSpPr>
        <p:spPr>
          <a:xfrm>
            <a:off x="977900" y="1648460"/>
            <a:ext cx="10236200" cy="45834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13" name="任意多边形: 形状 21"/>
          <p:cNvSpPr/>
          <p:nvPr/>
        </p:nvSpPr>
        <p:spPr>
          <a:xfrm>
            <a:off x="977900" y="2575560"/>
            <a:ext cx="1675765" cy="2781300"/>
          </a:xfrm>
          <a:custGeom>
            <a:avLst/>
            <a:gdLst>
              <a:gd name="connsiteX0" fmla="*/ 284837 w 1675487"/>
              <a:gd name="connsiteY0" fmla="*/ 0 h 2781300"/>
              <a:gd name="connsiteX1" fmla="*/ 1675487 w 1675487"/>
              <a:gd name="connsiteY1" fmla="*/ 1390650 h 2781300"/>
              <a:gd name="connsiteX2" fmla="*/ 284837 w 1675487"/>
              <a:gd name="connsiteY2" fmla="*/ 2781300 h 2781300"/>
              <a:gd name="connsiteX3" fmla="*/ 4573 w 1675487"/>
              <a:gd name="connsiteY3" fmla="*/ 2753047 h 2781300"/>
              <a:gd name="connsiteX4" fmla="*/ 0 w 1675487"/>
              <a:gd name="connsiteY4" fmla="*/ 2751872 h 2781300"/>
              <a:gd name="connsiteX5" fmla="*/ 0 w 1675487"/>
              <a:gd name="connsiteY5" fmla="*/ 29429 h 2781300"/>
              <a:gd name="connsiteX6" fmla="*/ 4573 w 1675487"/>
              <a:gd name="connsiteY6" fmla="*/ 28253 h 2781300"/>
              <a:gd name="connsiteX7" fmla="*/ 284837 w 1675487"/>
              <a:gd name="connsiteY7" fmla="*/ 0 h 278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75487" h="2781300">
                <a:moveTo>
                  <a:pt x="284837" y="0"/>
                </a:moveTo>
                <a:cubicBezTo>
                  <a:pt x="1052872" y="0"/>
                  <a:pt x="1675487" y="622615"/>
                  <a:pt x="1675487" y="1390650"/>
                </a:cubicBezTo>
                <a:cubicBezTo>
                  <a:pt x="1675487" y="2158685"/>
                  <a:pt x="1052872" y="2781300"/>
                  <a:pt x="284837" y="2781300"/>
                </a:cubicBezTo>
                <a:cubicBezTo>
                  <a:pt x="188833" y="2781300"/>
                  <a:pt x="95101" y="2771572"/>
                  <a:pt x="4573" y="2753047"/>
                </a:cubicBezTo>
                <a:lnTo>
                  <a:pt x="0" y="2751872"/>
                </a:lnTo>
                <a:lnTo>
                  <a:pt x="0" y="29429"/>
                </a:lnTo>
                <a:lnTo>
                  <a:pt x="4573" y="28253"/>
                </a:lnTo>
                <a:cubicBezTo>
                  <a:pt x="95101" y="9729"/>
                  <a:pt x="188833" y="0"/>
                  <a:pt x="284837" y="0"/>
                </a:cubicBezTo>
                <a:close/>
              </a:path>
            </a:pathLst>
          </a:cu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169035" y="3429000"/>
            <a:ext cx="1071880" cy="1076325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zh-CN" sz="32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被测</a:t>
            </a:r>
            <a:endParaRPr lang="zh-CN" sz="3200" b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32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对象</a:t>
            </a:r>
            <a:endParaRPr lang="zh-CN" sz="3200" b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5" name="组合 14"/>
          <p:cNvGrpSpPr/>
          <p:nvPr>
            <p:custDataLst>
              <p:tags r:id="rId1"/>
            </p:custDataLst>
          </p:nvPr>
        </p:nvGrpSpPr>
        <p:grpSpPr>
          <a:xfrm rot="0">
            <a:off x="2890520" y="2061845"/>
            <a:ext cx="7985125" cy="1217930"/>
            <a:chOff x="3134969" y="2228849"/>
            <a:chExt cx="7984866" cy="1218108"/>
          </a:xfrm>
        </p:grpSpPr>
        <p:sp>
          <p:nvSpPr>
            <p:cNvPr id="18" name="椭圆 17"/>
            <p:cNvSpPr/>
            <p:nvPr>
              <p:custDataLst>
                <p:tags r:id="rId2"/>
              </p:custDataLst>
            </p:nvPr>
          </p:nvSpPr>
          <p:spPr>
            <a:xfrm>
              <a:off x="3134969" y="2228849"/>
              <a:ext cx="435661" cy="435661"/>
            </a:xfrm>
            <a:prstGeom prst="ellips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1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3765265" y="2243632"/>
              <a:ext cx="7354570" cy="1203325"/>
              <a:chOff x="7893455" y="4126834"/>
              <a:chExt cx="7354570" cy="1203325"/>
            </a:xfrm>
          </p:grpSpPr>
          <p:sp>
            <p:nvSpPr>
              <p:cNvPr id="32" name="矩形 31"/>
              <p:cNvSpPr/>
              <p:nvPr>
                <p:custDataLst>
                  <p:tags r:id="rId3"/>
                </p:custDataLst>
              </p:nvPr>
            </p:nvSpPr>
            <p:spPr>
              <a:xfrm>
                <a:off x="7893455" y="4126834"/>
                <a:ext cx="2240242" cy="3683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r>
                  <a:rPr lang="zh-CN" altLang="en-US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前馈式三维大模型</a:t>
                </a:r>
                <a:endParaRPr lang="zh-CN" altLang="en-US" b="1" dirty="0">
                  <a:solidFill>
                    <a:srgbClr val="25557A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3" name="文本框 32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0037208" y="4220231"/>
                <a:ext cx="2665723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FEED-FORWARD</a:t>
                </a:r>
                <a:r>
                  <a:rPr lang="en-US" altLang="zh-CN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 | </a:t>
                </a:r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1B PARAMS</a:t>
                </a:r>
                <a:endPara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4" name="文本框 33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7893455" y="4377024"/>
                <a:ext cx="7354570" cy="953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>
                  <a:lnSpc>
                    <a:spcPct val="200000"/>
                  </a:lnSpc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VGGT 是 Meta AI 与牛津大学的三维视觉大模型、CVPR 2025 最佳论文；单次前向即可从一至数百张图像预测相机内外参、深度图、点图与三维轨迹，约 10 亿参数。</a:t>
                </a:r>
                <a:endPara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35" name="组合 34"/>
          <p:cNvGrpSpPr/>
          <p:nvPr>
            <p:custDataLst>
              <p:tags r:id="rId6"/>
            </p:custDataLst>
          </p:nvPr>
        </p:nvGrpSpPr>
        <p:grpSpPr>
          <a:xfrm rot="0">
            <a:off x="3521075" y="3430905"/>
            <a:ext cx="7355205" cy="1217930"/>
            <a:chOff x="3134969" y="2228849"/>
            <a:chExt cx="7354946" cy="1218108"/>
          </a:xfrm>
        </p:grpSpPr>
        <p:sp>
          <p:nvSpPr>
            <p:cNvPr id="36" name="椭圆 35"/>
            <p:cNvSpPr/>
            <p:nvPr>
              <p:custDataLst>
                <p:tags r:id="rId7"/>
              </p:custDataLst>
            </p:nvPr>
          </p:nvSpPr>
          <p:spPr>
            <a:xfrm>
              <a:off x="3134969" y="2228849"/>
              <a:ext cx="435661" cy="435661"/>
            </a:xfrm>
            <a:prstGeom prst="ellips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2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765265" y="2243632"/>
              <a:ext cx="6724650" cy="1203325"/>
              <a:chOff x="7893455" y="4126834"/>
              <a:chExt cx="6724650" cy="1203325"/>
            </a:xfrm>
          </p:grpSpPr>
          <p:sp>
            <p:nvSpPr>
              <p:cNvPr id="38" name="矩形 37"/>
              <p:cNvSpPr/>
              <p:nvPr>
                <p:custDataLst>
                  <p:tags r:id="rId8"/>
                </p:custDataLst>
              </p:nvPr>
            </p:nvSpPr>
            <p:spPr>
              <a:xfrm>
                <a:off x="7893455" y="4126834"/>
                <a:ext cx="2240242" cy="3683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r>
                  <a:rPr lang="zh-CN" altLang="en-US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核心功能链</a:t>
                </a:r>
                <a:endParaRPr lang="zh-CN" altLang="en-US" dirty="0">
                  <a:solidFill>
                    <a:schemeClr val="accent5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9" name="文本框 38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9465708" y="4220231"/>
                <a:ext cx="2665723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COORDS CHAIN</a:t>
                </a:r>
                <a:r>
                  <a:rPr lang="en-US" altLang="zh-CN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 | </a:t>
                </a:r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CAM · WORLD · PIXEL</a:t>
                </a:r>
                <a:endPara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0" name="文本框 39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7893455" y="4377024"/>
                <a:ext cx="6724650" cy="953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>
                  <a:lnSpc>
                    <a:spcPct val="200000"/>
                  </a:lnSpc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geometry.py 324 行 8 个函数（NumPy/PyTorch 混合），做深度图/相机/世界/像素坐标互转：unproject → depth_to_world → depth_to_cam（L15/47/87）。</a:t>
                </a:r>
                <a:endPara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41" name="组合 40"/>
          <p:cNvGrpSpPr/>
          <p:nvPr>
            <p:custDataLst>
              <p:tags r:id="rId11"/>
            </p:custDataLst>
          </p:nvPr>
        </p:nvGrpSpPr>
        <p:grpSpPr>
          <a:xfrm rot="0">
            <a:off x="2890520" y="4800600"/>
            <a:ext cx="7985125" cy="1217930"/>
            <a:chOff x="3134969" y="2228849"/>
            <a:chExt cx="7984866" cy="1218108"/>
          </a:xfrm>
        </p:grpSpPr>
        <p:sp>
          <p:nvSpPr>
            <p:cNvPr id="28" name="椭圆 27"/>
            <p:cNvSpPr/>
            <p:nvPr>
              <p:custDataLst>
                <p:tags r:id="rId12"/>
              </p:custDataLst>
            </p:nvPr>
          </p:nvSpPr>
          <p:spPr>
            <a:xfrm>
              <a:off x="3134969" y="2228849"/>
              <a:ext cx="435661" cy="435661"/>
            </a:xfrm>
            <a:prstGeom prst="ellips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3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3765265" y="2243632"/>
              <a:ext cx="7354570" cy="1203325"/>
              <a:chOff x="7893455" y="4126834"/>
              <a:chExt cx="7354570" cy="1203325"/>
            </a:xfrm>
          </p:grpSpPr>
          <p:sp>
            <p:nvSpPr>
              <p:cNvPr id="44" name="矩形 43"/>
              <p:cNvSpPr/>
              <p:nvPr>
                <p:custDataLst>
                  <p:tags r:id="rId13"/>
                </p:custDataLst>
              </p:nvPr>
            </p:nvSpPr>
            <p:spPr>
              <a:xfrm>
                <a:off x="7893455" y="4126834"/>
                <a:ext cx="2240242" cy="3683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r>
                  <a:rPr lang="zh-CN" altLang="en-US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绝对位姿不可比</a:t>
                </a:r>
                <a:endParaRPr lang="zh-CN" altLang="en-US" dirty="0">
                  <a:solidFill>
                    <a:schemeClr val="accent5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5" name="文本框 44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9745108" y="4220231"/>
                <a:ext cx="2665723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GAUGE FREEDOM</a:t>
                </a:r>
                <a:r>
                  <a:rPr lang="en-US" altLang="zh-CN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 | </a:t>
                </a:r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RELATIVE ONLY</a:t>
                </a:r>
                <a:endPara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7" name="文本框 46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7893455" y="4377024"/>
                <a:ext cx="7354570" cy="953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>
                  <a:lnSpc>
                    <a:spcPct val="200000"/>
                  </a:lnSpc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第一帧外参被固定为单位阵，以首帧相机作场景参考系。跨运行比较绝对位姿没有意义，断言只能取相对量或闭式解析解。</a:t>
                </a:r>
                <a:endPara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pic>
        <p:nvPicPr>
          <p:cNvPr id="12" name="图片 11" descr="图书馆"/>
          <p:cNvPicPr>
            <a:picLocks noChangeAspect="1"/>
          </p:cNvPicPr>
          <p:nvPr/>
        </p:nvPicPr>
        <p:blipFill>
          <a:blip r:embed="rId16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  <p:grpSp>
        <p:nvGrpSpPr>
          <p:cNvPr id="16" name="组合 15"/>
          <p:cNvGrpSpPr/>
          <p:nvPr userDrawn="1"/>
        </p:nvGrpSpPr>
        <p:grpSpPr>
          <a:xfrm>
            <a:off x="10289667" y="-801077"/>
            <a:ext cx="1902333" cy="2044520"/>
            <a:chOff x="8135783" y="-1669981"/>
            <a:chExt cx="4056217" cy="4359393"/>
          </a:xfrm>
        </p:grpSpPr>
        <p:sp>
          <p:nvSpPr>
            <p:cNvPr id="17" name="任意多边形: 形状 10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直角三角形 19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1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51155" y="325120"/>
            <a:ext cx="10029190" cy="1015365"/>
            <a:chOff x="1572" y="494"/>
            <a:chExt cx="15794" cy="1599"/>
          </a:xfrm>
        </p:grpSpPr>
        <p:grpSp>
          <p:nvGrpSpPr>
            <p:cNvPr id="8" name="组合 7"/>
            <p:cNvGrpSpPr/>
            <p:nvPr/>
          </p:nvGrpSpPr>
          <p:grpSpPr>
            <a:xfrm>
              <a:off x="1572" y="494"/>
              <a:ext cx="2047" cy="1599"/>
              <a:chOff x="2761095" y="2248418"/>
              <a:chExt cx="1948563" cy="1522661"/>
            </a:xfrm>
          </p:grpSpPr>
          <p:sp>
            <p:nvSpPr>
              <p:cNvPr id="9" name="矩形: 圆角 24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2910670" y="2248418"/>
                <a:ext cx="1798988" cy="1522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6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6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3078" y="751"/>
              <a:ext cx="14288" cy="919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zh-CN" altLang="en-US" sz="3200" b="1" spc="300" dirty="0">
                  <a:latin typeface="微软雅黑" panose="020B0503020204020204" charset="-122"/>
                  <a:ea typeface="微软雅黑" panose="020B0503020204020204" charset="-122"/>
                </a:rPr>
                <a:t>缺陷发现：文档承诺与实现不一致，值得测试</a:t>
              </a:r>
              <a:endParaRPr lang="zh-CN" altLang="en-US" sz="32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107" y="1365"/>
              <a:ext cx="5645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3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DOC CONTRACT VS IMPLEMENTATION</a:t>
              </a:r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51" name="图片 50" descr="图书馆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10289667" y="-801077"/>
            <a:ext cx="1902333" cy="2044520"/>
            <a:chOff x="8135783" y="-1669981"/>
            <a:chExt cx="4056217" cy="4359393"/>
          </a:xfrm>
        </p:grpSpPr>
        <p:sp>
          <p:nvSpPr>
            <p:cNvPr id="16" name="任意多边形: 形状 10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直角三角形 16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660400" y="1234440"/>
            <a:ext cx="10858500" cy="4899660"/>
            <a:chOff x="1040" y="1944"/>
            <a:chExt cx="17100" cy="7716"/>
          </a:xfrm>
        </p:grpSpPr>
        <p:sp>
          <p:nvSpPr>
            <p:cNvPr id="2" name="矩形 1"/>
            <p:cNvSpPr/>
            <p:nvPr/>
          </p:nvSpPr>
          <p:spPr>
            <a:xfrm>
              <a:off x="1040" y="2274"/>
              <a:ext cx="17100" cy="333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1346" y="2586"/>
              <a:ext cx="11773" cy="2733"/>
              <a:chOff x="1188085" y="4304453"/>
              <a:chExt cx="4283710" cy="1735330"/>
            </a:xfrm>
          </p:grpSpPr>
          <p:sp>
            <p:nvSpPr>
              <p:cNvPr id="19" name="文本框 18"/>
              <p:cNvSpPr txBox="1"/>
              <p:nvPr/>
            </p:nvSpPr>
            <p:spPr>
              <a:xfrm>
                <a:off x="1188085" y="4304453"/>
                <a:ext cx="273084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400" b="1" dirty="0">
                    <a:solidFill>
                      <a:srgbClr val="25557A"/>
                    </a:solidFill>
                  </a:rPr>
                  <a:t>函数契约（第 22 行）</a:t>
                </a:r>
                <a:endParaRPr lang="zh-CN" altLang="en-US" sz="2400" b="1" dirty="0">
                  <a:solidFill>
                    <a:srgbClr val="25557A"/>
                  </a:solidFill>
                </a:endParaRPr>
              </a:p>
            </p:txBody>
          </p:sp>
          <p:cxnSp>
            <p:nvCxnSpPr>
              <p:cNvPr id="20" name="直接连接符 19"/>
              <p:cNvCxnSpPr/>
              <p:nvPr/>
            </p:nvCxnSpPr>
            <p:spPr>
              <a:xfrm>
                <a:off x="1248911" y="4856923"/>
                <a:ext cx="4097913" cy="0"/>
              </a:xfrm>
              <a:prstGeom prst="line">
                <a:avLst/>
              </a:prstGeom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文本框 20"/>
              <p:cNvSpPr txBox="1"/>
              <p:nvPr/>
            </p:nvSpPr>
            <p:spPr>
              <a:xfrm>
                <a:off x="1188085" y="4896457"/>
                <a:ext cx="4283710" cy="1143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 algn="just">
                  <a:lnSpc>
                    <a:spcPct val="130000"/>
                  </a:lnSpc>
                </a:pPr>
                <a:r>
                  <a:rPr lang="zh-CN" altLang="en-US" dirty="0"/>
                  <a:t>docstring 明文声明：depth_map 的形状可为 (S, H, W, 1) 或 (S, H, W)。</a:t>
                </a:r>
                <a:endParaRPr lang="zh-CN" altLang="en-US" dirty="0"/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1040" y="5994"/>
              <a:ext cx="17100" cy="3666"/>
              <a:chOff x="660400" y="1603756"/>
              <a:chExt cx="10858500" cy="2328164"/>
            </a:xfrm>
          </p:grpSpPr>
          <p:sp>
            <p:nvSpPr>
              <p:cNvPr id="23" name="矩形 22"/>
              <p:cNvSpPr/>
              <p:nvPr/>
            </p:nvSpPr>
            <p:spPr>
              <a:xfrm>
                <a:off x="660400" y="1813560"/>
                <a:ext cx="10858500" cy="211836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32" name="图片 31" descr="C:\Users\14638\Desktop\IMG_2588(20220923-102348).JPGIMG_2588(20220923-102348)"/>
              <p:cNvPicPr/>
              <p:nvPr/>
            </p:nvPicPr>
            <p:blipFill rotWithShape="1">
              <a:blip r:embed="rId2"/>
              <a:srcRect/>
              <a:stretch>
                <a:fillRect/>
              </a:stretch>
            </p:blipFill>
            <p:spPr>
              <a:xfrm>
                <a:off x="989185" y="1603756"/>
                <a:ext cx="2327910" cy="2328164"/>
              </a:xfrm>
              <a:prstGeom prst="rect">
                <a:avLst/>
              </a:prstGeom>
            </p:spPr>
          </p:pic>
        </p:grpSp>
        <p:grpSp>
          <p:nvGrpSpPr>
            <p:cNvPr id="35" name="组合 34"/>
            <p:cNvGrpSpPr/>
            <p:nvPr/>
          </p:nvGrpSpPr>
          <p:grpSpPr>
            <a:xfrm>
              <a:off x="5870" y="6635"/>
              <a:ext cx="11773" cy="2744"/>
              <a:chOff x="1188085" y="4304453"/>
              <a:chExt cx="4283710" cy="1742315"/>
            </a:xfrm>
          </p:grpSpPr>
          <p:sp>
            <p:nvSpPr>
              <p:cNvPr id="37" name="文本框 36"/>
              <p:cNvSpPr txBox="1"/>
              <p:nvPr/>
            </p:nvSpPr>
            <p:spPr>
              <a:xfrm>
                <a:off x="1188085" y="4304453"/>
                <a:ext cx="2730844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400" b="1" dirty="0">
                    <a:solidFill>
                      <a:srgbClr val="25557A"/>
                    </a:solidFill>
                  </a:rPr>
                  <a:t>实际实现（第 39 行）</a:t>
                </a:r>
                <a:endParaRPr lang="zh-CN" altLang="en-US" sz="2400" b="1" dirty="0">
                  <a:solidFill>
                    <a:schemeClr val="accent1"/>
                  </a:solidFill>
                </a:endParaRPr>
              </a:p>
            </p:txBody>
          </p:sp>
          <p:cxnSp>
            <p:nvCxnSpPr>
              <p:cNvPr id="38" name="直接连接符 37"/>
              <p:cNvCxnSpPr/>
              <p:nvPr/>
            </p:nvCxnSpPr>
            <p:spPr>
              <a:xfrm>
                <a:off x="1232903" y="4863908"/>
                <a:ext cx="4097913" cy="0"/>
              </a:xfrm>
              <a:prstGeom prst="line">
                <a:avLst/>
              </a:prstGeom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文本框 38"/>
              <p:cNvSpPr txBox="1"/>
              <p:nvPr/>
            </p:nvSpPr>
            <p:spPr>
              <a:xfrm>
                <a:off x="1188085" y="4903442"/>
                <a:ext cx="4283710" cy="1143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 algn="just">
                  <a:lnSpc>
                    <a:spcPct val="130000"/>
                  </a:lnSpc>
                </a:pPr>
                <a:r>
                  <a:rPr lang="zh-CN" altLang="en-US" dirty="0"/>
                  <a:t>但实现第 39 行对每一帧无条件执行 squeeze(-1)，实质只兼容四维输入。</a:t>
                </a:r>
                <a:endParaRPr lang="zh-CN" altLang="en-US" dirty="0"/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13940" y="1944"/>
              <a:ext cx="3665" cy="3666"/>
              <a:chOff x="13940" y="1944"/>
              <a:chExt cx="3665" cy="3666"/>
            </a:xfrm>
          </p:grpSpPr>
          <p:pic>
            <p:nvPicPr>
              <p:cNvPr id="40" name="图片 39" descr="C:\Users\14638\Desktop\IMG_2587(20220923-102336).JPGIMG_2587(20220923-102336)"/>
              <p:cNvPicPr/>
              <p:nvPr/>
            </p:nvPicPr>
            <p:blipFill rotWithShape="1">
              <a:blip r:embed="rId3"/>
              <a:srcRect/>
              <a:stretch>
                <a:fillRect/>
              </a:stretch>
            </p:blipFill>
            <p:spPr>
              <a:xfrm>
                <a:off x="13940" y="1944"/>
                <a:ext cx="3665" cy="3666"/>
              </a:xfrm>
              <a:prstGeom prst="rect">
                <a:avLst/>
              </a:prstGeom>
            </p:spPr>
          </p:pic>
          <p:pic>
            <p:nvPicPr>
              <p:cNvPr id="18" name="图片 17" descr="小招logo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922" y="4366"/>
                <a:ext cx="1701" cy="952"/>
              </a:xfrm>
              <a:prstGeom prst="rect">
                <a:avLst/>
              </a:prstGeom>
            </p:spPr>
          </p:pic>
        </p:grpSp>
        <p:pic>
          <p:nvPicPr>
            <p:cNvPr id="24" name="图片 23" descr="小招logo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41" y="8427"/>
              <a:ext cx="1701" cy="952"/>
            </a:xfrm>
            <a:prstGeom prst="rect">
              <a:avLst/>
            </a:prstGeom>
          </p:spPr>
        </p:pic>
      </p:grpSp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任意多边形: 形状 52"/>
          <p:cNvSpPr/>
          <p:nvPr/>
        </p:nvSpPr>
        <p:spPr>
          <a:xfrm flipH="1">
            <a:off x="4335145" y="0"/>
            <a:ext cx="7854950" cy="6858000"/>
          </a:xfrm>
          <a:custGeom>
            <a:avLst/>
            <a:gdLst>
              <a:gd name="connsiteX0" fmla="*/ 12191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12191999 w 12192000"/>
              <a:gd name="connsiteY3" fmla="*/ 6858000 h 6858000"/>
              <a:gd name="connsiteX4" fmla="*/ 0 w 12192000"/>
              <a:gd name="connsiteY4" fmla="*/ 0 h 6858000"/>
              <a:gd name="connsiteX5" fmla="*/ 11295445 w 12192000"/>
              <a:gd name="connsiteY5" fmla="*/ 0 h 6858000"/>
              <a:gd name="connsiteX6" fmla="*/ 4437446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2191999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close/>
                <a:moveTo>
                  <a:pt x="0" y="0"/>
                </a:moveTo>
                <a:lnTo>
                  <a:pt x="11295445" y="0"/>
                </a:lnTo>
                <a:lnTo>
                  <a:pt x="4437446" y="6858000"/>
                </a:lnTo>
                <a:lnTo>
                  <a:pt x="0" y="6858000"/>
                </a:lnTo>
                <a:close/>
              </a:path>
            </a:pathLst>
          </a:custGeom>
          <a:gradFill flip="none">
            <a:gsLst>
              <a:gs pos="0">
                <a:schemeClr val="accent1">
                  <a:lumMod val="20000"/>
                  <a:lumOff val="80000"/>
                </a:schemeClr>
              </a:gs>
              <a:gs pos="26000">
                <a:srgbClr val="D9EB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 descr="1.5"/>
          <p:cNvPicPr/>
          <p:nvPr>
            <p:custDataLst>
              <p:tags r:id="rId1"/>
            </p:custDataLst>
          </p:nvPr>
        </p:nvPicPr>
        <p:blipFill>
          <a:blip r:embed="rId2"/>
          <a:srcRect l="22403" t="1475" r="22481" b="58056"/>
          <a:stretch>
            <a:fillRect/>
          </a:stretch>
        </p:blipFill>
        <p:spPr>
          <a:xfrm flipH="1">
            <a:off x="7152005" y="2223135"/>
            <a:ext cx="5039995" cy="4634865"/>
          </a:xfrm>
          <a:prstGeom prst="rect">
            <a:avLst/>
          </a:prstGeom>
        </p:spPr>
      </p:pic>
      <p:pic>
        <p:nvPicPr>
          <p:cNvPr id="5" name="图片 4" descr="校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3365" y="186055"/>
            <a:ext cx="1422400" cy="1080135"/>
          </a:xfrm>
          <a:prstGeom prst="rect">
            <a:avLst/>
          </a:prstGeom>
        </p:spPr>
      </p:pic>
      <p:sp>
        <p:nvSpPr>
          <p:cNvPr id="21" name="任意多边形: 形状 52"/>
          <p:cNvSpPr/>
          <p:nvPr/>
        </p:nvSpPr>
        <p:spPr>
          <a:xfrm flipV="1">
            <a:off x="4925060" y="0"/>
            <a:ext cx="4074160" cy="6858000"/>
          </a:xfrm>
          <a:custGeom>
            <a:avLst/>
            <a:gdLst>
              <a:gd name="connsiteX0" fmla="*/ 12191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12191999 w 12192000"/>
              <a:gd name="connsiteY3" fmla="*/ 6858000 h 6858000"/>
              <a:gd name="connsiteX4" fmla="*/ 0 w 12192000"/>
              <a:gd name="connsiteY4" fmla="*/ 0 h 6858000"/>
              <a:gd name="connsiteX5" fmla="*/ 11295445 w 12192000"/>
              <a:gd name="connsiteY5" fmla="*/ 0 h 6858000"/>
              <a:gd name="connsiteX6" fmla="*/ 4437446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2191999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close/>
                <a:moveTo>
                  <a:pt x="0" y="0"/>
                </a:moveTo>
                <a:lnTo>
                  <a:pt x="11295445" y="0"/>
                </a:lnTo>
                <a:lnTo>
                  <a:pt x="443744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63" name="组合 62"/>
          <p:cNvGrpSpPr/>
          <p:nvPr/>
        </p:nvGrpSpPr>
        <p:grpSpPr>
          <a:xfrm rot="10800000">
            <a:off x="-28575" y="3744463"/>
            <a:ext cx="4737100" cy="5091168"/>
            <a:chOff x="8135783" y="-1669981"/>
            <a:chExt cx="4056217" cy="4359393"/>
          </a:xfrm>
        </p:grpSpPr>
        <p:sp>
          <p:nvSpPr>
            <p:cNvPr id="65" name="任意多边形: 形状 64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4" name="直角三角形 63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9" name="图片 18" descr="小招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3745" y="6055995"/>
            <a:ext cx="1080000" cy="604432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1981200" y="1901190"/>
            <a:ext cx="6291580" cy="2896235"/>
            <a:chOff x="1932" y="2994"/>
            <a:chExt cx="9908" cy="4561"/>
          </a:xfrm>
        </p:grpSpPr>
        <p:grpSp>
          <p:nvGrpSpPr>
            <p:cNvPr id="7" name="组合 6"/>
            <p:cNvGrpSpPr/>
            <p:nvPr/>
          </p:nvGrpSpPr>
          <p:grpSpPr>
            <a:xfrm>
              <a:off x="1932" y="2994"/>
              <a:ext cx="3242" cy="2179"/>
              <a:chOff x="2761095" y="2292169"/>
              <a:chExt cx="2058736" cy="1383665"/>
            </a:xfrm>
          </p:grpSpPr>
          <p:sp>
            <p:nvSpPr>
              <p:cNvPr id="8" name="矩形: 圆角 1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9" name="矩形: 圆角 6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3020843" y="2292169"/>
                <a:ext cx="1798988" cy="1383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84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8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4066" y="2994"/>
              <a:ext cx="2262" cy="2082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en-US" altLang="zh-CN" sz="8000" b="1" dirty="0">
                  <a:latin typeface="微软雅黑" panose="020B0503020204020204" charset="-122"/>
                  <a:ea typeface="微软雅黑" panose="020B0503020204020204" charset="-122"/>
                </a:rPr>
                <a:t>02</a:t>
              </a:r>
              <a:endParaRPr lang="en-US" altLang="zh-CN" sz="8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2118" y="5546"/>
              <a:ext cx="7188" cy="1743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zh-CN" altLang="en-US" sz="6600" b="1" spc="300" dirty="0">
                  <a:latin typeface="微软雅黑" panose="020B0503020204020204" charset="-122"/>
                  <a:ea typeface="微软雅黑" panose="020B0503020204020204" charset="-122"/>
                </a:rPr>
                <a:t>主要测试策略</a:t>
              </a:r>
              <a:endParaRPr lang="zh-CN" altLang="en-US" sz="66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212" y="6975"/>
              <a:ext cx="9628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endParaRPr lang="en-US" altLang="zh-CN" sz="900" spc="6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6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MAIN TEST STRATEGY</a:t>
              </a:r>
              <a:endParaRPr lang="en-US" altLang="zh-CN" sz="900" spc="6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10289667" y="-801077"/>
            <a:ext cx="1902333" cy="2044520"/>
            <a:chOff x="8135783" y="-1669981"/>
            <a:chExt cx="4056217" cy="4359393"/>
          </a:xfrm>
        </p:grpSpPr>
        <p:sp>
          <p:nvSpPr>
            <p:cNvPr id="7" name="任意多边形: 形状 10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直角三角形 4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51155" y="325120"/>
            <a:ext cx="4559300" cy="1015365"/>
            <a:chOff x="1572" y="494"/>
            <a:chExt cx="7180" cy="1599"/>
          </a:xfrm>
        </p:grpSpPr>
        <p:grpSp>
          <p:nvGrpSpPr>
            <p:cNvPr id="8" name="组合 7"/>
            <p:cNvGrpSpPr/>
            <p:nvPr/>
          </p:nvGrpSpPr>
          <p:grpSpPr>
            <a:xfrm>
              <a:off x="1572" y="494"/>
              <a:ext cx="2047" cy="1599"/>
              <a:chOff x="2761095" y="2248418"/>
              <a:chExt cx="1948563" cy="1522661"/>
            </a:xfrm>
          </p:grpSpPr>
          <p:sp>
            <p:nvSpPr>
              <p:cNvPr id="9" name="矩形: 圆角 24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2910670" y="2248418"/>
                <a:ext cx="1798988" cy="1522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6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6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3078" y="751"/>
              <a:ext cx="5537" cy="919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zh-CN" altLang="en-US" sz="3200" b="1" spc="300" dirty="0">
                  <a:latin typeface="微软雅黑" panose="020B0503020204020204" charset="-122"/>
                  <a:ea typeface="微软雅黑" panose="020B0503020204020204" charset="-122"/>
                </a:rPr>
                <a:t>等价类 + 边界值</a:t>
              </a:r>
              <a:endParaRPr lang="zh-CN" altLang="en-US" sz="32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107" y="1365"/>
              <a:ext cx="5645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3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TWO CORE METHODS</a:t>
              </a:r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1092200" y="1900980"/>
            <a:ext cx="2299929" cy="3559277"/>
          </a:xfrm>
          <a:prstGeom prst="rect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93522" y="2200283"/>
            <a:ext cx="1097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等价类划分</a:t>
            </a:r>
            <a:endParaRPr lang="zh-CN" altLang="en-US"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63853" y="2961251"/>
            <a:ext cx="1956619" cy="2267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50000"/>
              </a:lnSpc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例 001：单像素深度反投影，应精确回到原像素；例 004：内参尺寸非法应抛错。合法/非法各成一类，共 19 条。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466630" y="2811599"/>
            <a:ext cx="1551069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32416B">
                    <a:alpha val="0"/>
                  </a:srgbClr>
                </a:gs>
                <a:gs pos="50000">
                  <a:schemeClr val="bg1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3661424" y="1900980"/>
            <a:ext cx="2299929" cy="3559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262745" y="2200283"/>
            <a:ext cx="1097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边界值分析</a:t>
            </a:r>
            <a:endParaRPr lang="zh-CN" altLang="en-US" sz="24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833077" y="2961251"/>
            <a:ext cx="1956619" cy="2267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50000"/>
              </a:lnSpc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例 003：全零深度图即深度下界；例 014：深度恰等于 eps 无效、大于才有效；例 025：z=0。共 5 条。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4035854" y="2811599"/>
            <a:ext cx="1551069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32416B">
                    <a:alpha val="0"/>
                  </a:srgbClr>
                </a:gs>
                <a:gs pos="50000">
                  <a:srgbClr val="32416B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6230648" y="1900980"/>
            <a:ext cx="2299929" cy="3559277"/>
          </a:xfrm>
          <a:prstGeom prst="rect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831970" y="2200283"/>
            <a:ext cx="1097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组合覆盖</a:t>
            </a:r>
            <a:endParaRPr lang="zh-CN" altLang="en-US"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6402301" y="2961251"/>
            <a:ext cx="1956619" cy="2267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50000"/>
              </a:lnSpc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例 022：同一世界点经两帧外参投影得不同坐标；例 028：平移 (1,2,0)×非单位内参叠加。共 4 条。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9" name="直接连接符 48"/>
          <p:cNvCxnSpPr/>
          <p:nvPr/>
        </p:nvCxnSpPr>
        <p:spPr>
          <a:xfrm>
            <a:off x="6605078" y="2811599"/>
            <a:ext cx="1551069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32416B">
                    <a:alpha val="0"/>
                  </a:srgbClr>
                </a:gs>
                <a:gs pos="50000">
                  <a:schemeClr val="bg1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8799871" y="1900980"/>
            <a:ext cx="2299929" cy="3559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9401193" y="2200283"/>
            <a:ext cx="1097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错误推测</a:t>
            </a:r>
            <a:endParaRPr lang="zh-CN" altLang="en-US" sz="24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8971524" y="2961251"/>
            <a:ext cx="1956619" cy="2267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50000"/>
              </a:lnSpc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例 019：帧数多于外参应抛错而非部分结果；例 005：非零 skew。判定表另固化 2 条。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9174301" y="2811599"/>
            <a:ext cx="1551069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32416B">
                    <a:alpha val="0"/>
                  </a:srgbClr>
                </a:gs>
                <a:gs pos="50000">
                  <a:srgbClr val="32416B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 descr="图书馆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51155" y="325120"/>
            <a:ext cx="4559300" cy="1015365"/>
            <a:chOff x="1572" y="494"/>
            <a:chExt cx="7180" cy="1599"/>
          </a:xfrm>
        </p:grpSpPr>
        <p:grpSp>
          <p:nvGrpSpPr>
            <p:cNvPr id="8" name="组合 7"/>
            <p:cNvGrpSpPr/>
            <p:nvPr/>
          </p:nvGrpSpPr>
          <p:grpSpPr>
            <a:xfrm>
              <a:off x="1572" y="494"/>
              <a:ext cx="2047" cy="1599"/>
              <a:chOff x="2761095" y="2248418"/>
              <a:chExt cx="1948563" cy="1522661"/>
            </a:xfrm>
          </p:grpSpPr>
          <p:sp>
            <p:nvSpPr>
              <p:cNvPr id="9" name="矩形: 圆角 24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2910670" y="2248418"/>
                <a:ext cx="1798988" cy="1522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6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6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3078" y="751"/>
              <a:ext cx="3788" cy="919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zh-CN" altLang="en-US" sz="3200" b="1" spc="300" dirty="0">
                  <a:latin typeface="微软雅黑" panose="020B0503020204020204" charset="-122"/>
                  <a:ea typeface="微软雅黑" panose="020B0503020204020204" charset="-122"/>
                </a:rPr>
                <a:t>每条用例都标了方法，可以逐条对账</a:t>
              </a:r>
              <a:endParaRPr lang="zh-CN" altLang="en-US" sz="32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107" y="1365"/>
              <a:ext cx="5645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3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CASE TO METHOD MAPPING</a:t>
              </a:r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9" name="矩形: 圆角 18"/>
          <p:cNvSpPr/>
          <p:nvPr/>
        </p:nvSpPr>
        <p:spPr>
          <a:xfrm>
            <a:off x="977900" y="1648460"/>
            <a:ext cx="10236200" cy="45834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13" name="任意多边形: 形状 21"/>
          <p:cNvSpPr/>
          <p:nvPr/>
        </p:nvSpPr>
        <p:spPr>
          <a:xfrm>
            <a:off x="977900" y="2575560"/>
            <a:ext cx="1675765" cy="2781300"/>
          </a:xfrm>
          <a:custGeom>
            <a:avLst/>
            <a:gdLst>
              <a:gd name="connsiteX0" fmla="*/ 284837 w 1675487"/>
              <a:gd name="connsiteY0" fmla="*/ 0 h 2781300"/>
              <a:gd name="connsiteX1" fmla="*/ 1675487 w 1675487"/>
              <a:gd name="connsiteY1" fmla="*/ 1390650 h 2781300"/>
              <a:gd name="connsiteX2" fmla="*/ 284837 w 1675487"/>
              <a:gd name="connsiteY2" fmla="*/ 2781300 h 2781300"/>
              <a:gd name="connsiteX3" fmla="*/ 4573 w 1675487"/>
              <a:gd name="connsiteY3" fmla="*/ 2753047 h 2781300"/>
              <a:gd name="connsiteX4" fmla="*/ 0 w 1675487"/>
              <a:gd name="connsiteY4" fmla="*/ 2751872 h 2781300"/>
              <a:gd name="connsiteX5" fmla="*/ 0 w 1675487"/>
              <a:gd name="connsiteY5" fmla="*/ 29429 h 2781300"/>
              <a:gd name="connsiteX6" fmla="*/ 4573 w 1675487"/>
              <a:gd name="connsiteY6" fmla="*/ 28253 h 2781300"/>
              <a:gd name="connsiteX7" fmla="*/ 284837 w 1675487"/>
              <a:gd name="connsiteY7" fmla="*/ 0 h 278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75487" h="2781300">
                <a:moveTo>
                  <a:pt x="284837" y="0"/>
                </a:moveTo>
                <a:cubicBezTo>
                  <a:pt x="1052872" y="0"/>
                  <a:pt x="1675487" y="622615"/>
                  <a:pt x="1675487" y="1390650"/>
                </a:cubicBezTo>
                <a:cubicBezTo>
                  <a:pt x="1675487" y="2158685"/>
                  <a:pt x="1052872" y="2781300"/>
                  <a:pt x="284837" y="2781300"/>
                </a:cubicBezTo>
                <a:cubicBezTo>
                  <a:pt x="188833" y="2781300"/>
                  <a:pt x="95101" y="2771572"/>
                  <a:pt x="4573" y="2753047"/>
                </a:cubicBezTo>
                <a:lnTo>
                  <a:pt x="0" y="2751872"/>
                </a:lnTo>
                <a:lnTo>
                  <a:pt x="0" y="29429"/>
                </a:lnTo>
                <a:lnTo>
                  <a:pt x="4573" y="28253"/>
                </a:lnTo>
                <a:cubicBezTo>
                  <a:pt x="95101" y="9729"/>
                  <a:pt x="188833" y="0"/>
                  <a:pt x="284837" y="0"/>
                </a:cubicBezTo>
                <a:close/>
              </a:path>
            </a:pathLst>
          </a:cu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169035" y="3429000"/>
            <a:ext cx="1071880" cy="1076325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zh-CN" sz="32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测试</a:t>
            </a:r>
            <a:endParaRPr lang="zh-CN" sz="3200" b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32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方法</a:t>
            </a:r>
            <a:endParaRPr lang="zh-CN" sz="3200" b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 rot="0">
            <a:off x="2890520" y="2061845"/>
            <a:ext cx="7985125" cy="1217930"/>
            <a:chOff x="3134969" y="2228849"/>
            <a:chExt cx="7984866" cy="1218108"/>
          </a:xfrm>
        </p:grpSpPr>
        <p:sp>
          <p:nvSpPr>
            <p:cNvPr id="18" name="椭圆 17"/>
            <p:cNvSpPr/>
            <p:nvPr/>
          </p:nvSpPr>
          <p:spPr>
            <a:xfrm>
              <a:off x="3134969" y="2228849"/>
              <a:ext cx="435661" cy="435661"/>
            </a:xfrm>
            <a:prstGeom prst="ellips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1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3765265" y="2243632"/>
              <a:ext cx="7354570" cy="1203325"/>
              <a:chOff x="7893455" y="4126834"/>
              <a:chExt cx="7354570" cy="1203325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7893455" y="4126834"/>
                <a:ext cx="2240242" cy="3683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r>
                  <a:rPr lang="zh-CN" altLang="en-US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等价类划分</a:t>
                </a:r>
                <a:endParaRPr lang="zh-CN" altLang="en-US" b="1" dirty="0">
                  <a:solidFill>
                    <a:srgbClr val="25557A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9465708" y="4220231"/>
                <a:ext cx="2665723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EQUIVALENCE · 19 CASES</a:t>
                </a:r>
                <a:r>
                  <a:rPr lang="en-US" altLang="zh-CN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 | </a:t>
                </a:r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M1-GEO-001~030</a:t>
                </a:r>
                <a:endPara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7893455" y="4377024"/>
                <a:ext cx="7354570" cy="953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>
                  <a:lnSpc>
                    <a:spcPct val="200000"/>
                  </a:lnSpc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切割依据是输入维度、坐标系、输入类型与合法性四组维度。001/004/006/007/008/009/011/012/013/016/017/018 等 19 条。</a:t>
                </a:r>
                <a:endPara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35" name="组合 34"/>
          <p:cNvGrpSpPr/>
          <p:nvPr/>
        </p:nvGrpSpPr>
        <p:grpSpPr>
          <a:xfrm rot="0">
            <a:off x="3521075" y="3430905"/>
            <a:ext cx="7355205" cy="1217930"/>
            <a:chOff x="3134969" y="2228849"/>
            <a:chExt cx="7354946" cy="1218108"/>
          </a:xfrm>
        </p:grpSpPr>
        <p:sp>
          <p:nvSpPr>
            <p:cNvPr id="36" name="椭圆 35"/>
            <p:cNvSpPr/>
            <p:nvPr/>
          </p:nvSpPr>
          <p:spPr>
            <a:xfrm>
              <a:off x="3134969" y="2228849"/>
              <a:ext cx="435661" cy="435661"/>
            </a:xfrm>
            <a:prstGeom prst="ellips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2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765265" y="2243632"/>
              <a:ext cx="6724650" cy="1203325"/>
              <a:chOff x="7893455" y="4126834"/>
              <a:chExt cx="6724650" cy="1203325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7893455" y="4126834"/>
                <a:ext cx="2240242" cy="3683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r>
                  <a:rPr lang="zh-CN" altLang="en-US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边界值分析</a:t>
                </a:r>
                <a:endParaRPr lang="zh-CN" altLang="en-US" dirty="0">
                  <a:solidFill>
                    <a:schemeClr val="accent5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9465708" y="4220231"/>
                <a:ext cx="2665723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BOUNDARY · 5 CASES</a:t>
                </a:r>
                <a:r>
                  <a:rPr lang="en-US" altLang="zh-CN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 | </a:t>
                </a:r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M1-GEO-002~025</a:t>
                </a:r>
                <a:endPara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7893455" y="4377024"/>
                <a:ext cx="6724650" cy="953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>
                  <a:lnSpc>
                    <a:spcPct val="200000"/>
                  </a:lnSpc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取每个等价类的上下界与临界点：002 图像四角、003 深度下界 0、010 矩阵尺寸、014 eps−/eps/eps+ 三点夹逼、025 Z=0 除零。</a:t>
                </a:r>
                <a:endPara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41" name="组合 40"/>
          <p:cNvGrpSpPr/>
          <p:nvPr/>
        </p:nvGrpSpPr>
        <p:grpSpPr>
          <a:xfrm rot="0">
            <a:off x="2890520" y="4800600"/>
            <a:ext cx="7985125" cy="1217930"/>
            <a:chOff x="3134969" y="2228849"/>
            <a:chExt cx="7984866" cy="1218108"/>
          </a:xfrm>
        </p:grpSpPr>
        <p:sp>
          <p:nvSpPr>
            <p:cNvPr id="28" name="椭圆 27"/>
            <p:cNvSpPr/>
            <p:nvPr/>
          </p:nvSpPr>
          <p:spPr>
            <a:xfrm>
              <a:off x="3134969" y="2228849"/>
              <a:ext cx="435661" cy="435661"/>
            </a:xfrm>
            <a:prstGeom prst="ellips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3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3765265" y="2243632"/>
              <a:ext cx="7354570" cy="1203325"/>
              <a:chOff x="7893455" y="4126834"/>
              <a:chExt cx="7354570" cy="1203325"/>
            </a:xfrm>
          </p:grpSpPr>
          <p:sp>
            <p:nvSpPr>
              <p:cNvPr id="44" name="矩形 43"/>
              <p:cNvSpPr/>
              <p:nvPr/>
            </p:nvSpPr>
            <p:spPr>
              <a:xfrm>
                <a:off x="7893455" y="4126834"/>
                <a:ext cx="2240242" cy="3683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r>
                  <a:rPr lang="zh-CN" altLang="en-US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其余标注</a:t>
                </a:r>
                <a:endParaRPr lang="zh-CN" altLang="en-US" dirty="0">
                  <a:solidFill>
                    <a:schemeClr val="accent5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9465708" y="4220231"/>
                <a:ext cx="2665723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OTHER · 8 CASES</a:t>
                </a:r>
                <a:r>
                  <a:rPr lang="en-US" altLang="zh-CN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 | </a:t>
                </a:r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M1-GEO-005~032</a:t>
                </a:r>
                <a:endPara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7893455" y="4377024"/>
                <a:ext cx="7354570" cy="953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>
                  <a:lnSpc>
                    <a:spcPct val="200000"/>
                  </a:lnSpc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组合覆盖 4 条：015/022/028/031；错误推测 2 条：005/019；判定表 2 条：029/032。32 条全部有方法标注，与清单备注列一致。</a:t>
                </a:r>
                <a:endPara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pic>
        <p:nvPicPr>
          <p:cNvPr id="12" name="图片 11" descr="图书馆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  <p:grpSp>
        <p:nvGrpSpPr>
          <p:cNvPr id="16" name="组合 15"/>
          <p:cNvGrpSpPr/>
          <p:nvPr userDrawn="1"/>
        </p:nvGrpSpPr>
        <p:grpSpPr>
          <a:xfrm>
            <a:off x="10289667" y="-801077"/>
            <a:ext cx="1902333" cy="2044520"/>
            <a:chOff x="8135783" y="-1669981"/>
            <a:chExt cx="4056217" cy="4359393"/>
          </a:xfrm>
        </p:grpSpPr>
        <p:sp>
          <p:nvSpPr>
            <p:cNvPr id="17" name="任意多边形: 形状 10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直角三角形 19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51155" y="325120"/>
            <a:ext cx="4559300" cy="1015365"/>
            <a:chOff x="1572" y="494"/>
            <a:chExt cx="7180" cy="1599"/>
          </a:xfrm>
        </p:grpSpPr>
        <p:grpSp>
          <p:nvGrpSpPr>
            <p:cNvPr id="8" name="组合 7"/>
            <p:cNvGrpSpPr/>
            <p:nvPr/>
          </p:nvGrpSpPr>
          <p:grpSpPr>
            <a:xfrm>
              <a:off x="1572" y="494"/>
              <a:ext cx="2047" cy="1599"/>
              <a:chOff x="2761095" y="2248418"/>
              <a:chExt cx="1948563" cy="1522661"/>
            </a:xfrm>
          </p:grpSpPr>
          <p:sp>
            <p:nvSpPr>
              <p:cNvPr id="9" name="矩形: 圆角 24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2910670" y="2248418"/>
                <a:ext cx="1798988" cy="1522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6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6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3078" y="751"/>
              <a:ext cx="3788" cy="919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zh-CN" altLang="en-US" sz="3200" b="1" spc="300" dirty="0">
                  <a:latin typeface="微软雅黑" panose="020B0503020204020204" charset="-122"/>
                  <a:ea typeface="微软雅黑" panose="020B0503020204020204" charset="-122"/>
                </a:rPr>
                <a:t>用最小输入逼出两类失败</a:t>
              </a:r>
              <a:endParaRPr lang="zh-CN" altLang="en-US" sz="32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107" y="1365"/>
              <a:ext cx="5645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3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SHAPE MATRIX OF TEST SAMPLES</a:t>
              </a:r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51" name="图片 50" descr="图书馆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  <p:grpSp>
        <p:nvGrpSpPr>
          <p:cNvPr id="21" name="组合 20"/>
          <p:cNvGrpSpPr/>
          <p:nvPr userDrawn="1"/>
        </p:nvGrpSpPr>
        <p:grpSpPr>
          <a:xfrm>
            <a:off x="10289667" y="-801077"/>
            <a:ext cx="1902333" cy="2044520"/>
            <a:chOff x="8135783" y="-1669981"/>
            <a:chExt cx="4056217" cy="4359393"/>
          </a:xfrm>
        </p:grpSpPr>
        <p:sp>
          <p:nvSpPr>
            <p:cNvPr id="22" name="任意多边形: 形状 10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直角三角形 22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749935" y="1419860"/>
            <a:ext cx="10692130" cy="4617720"/>
            <a:chOff x="1181" y="2236"/>
            <a:chExt cx="16838" cy="7272"/>
          </a:xfrm>
        </p:grpSpPr>
        <p:grpSp>
          <p:nvGrpSpPr>
            <p:cNvPr id="33" name="组合 32"/>
            <p:cNvGrpSpPr/>
            <p:nvPr/>
          </p:nvGrpSpPr>
          <p:grpSpPr>
            <a:xfrm>
              <a:off x="5662" y="2733"/>
              <a:ext cx="3586" cy="4308"/>
              <a:chOff x="871675" y="1735596"/>
              <a:chExt cx="2276930" cy="2735527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34" name="矩形 33"/>
              <p:cNvSpPr/>
              <p:nvPr/>
            </p:nvSpPr>
            <p:spPr>
              <a:xfrm>
                <a:off x="871675" y="1735596"/>
                <a:ext cx="2276930" cy="2703053"/>
              </a:xfrm>
              <a:prstGeom prst="rect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algn="ctr"/>
                <a:endParaRPr lang="zh-CN" altLang="en-US" kern="0" dirty="0">
                  <a:solidFill>
                    <a:srgbClr val="779B5E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956268" y="2054948"/>
                <a:ext cx="2107745" cy="2416175"/>
              </a:xfrm>
              <a:prstGeom prst="rect">
                <a:avLst/>
              </a:prstGeom>
              <a:grpFill/>
            </p:spPr>
            <p:txBody>
              <a:bodyPr wrap="square">
                <a:spAutoFit/>
              </a:bodyPr>
              <a:p>
                <a:pPr algn="just">
                  <a:lnSpc>
                    <a:spcPct val="120000"/>
                  </a:lnSpc>
                </a:pP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失败②：W &gt; 1 时对非单位轴 squeeze，直接抛错。</a:t>
                </a:r>
                <a:endParaRPr lang="zh-CN" altLang="en-US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  <a:p>
                <a:pPr algn="just">
                  <a:lnSpc>
                    <a:spcPct val="120000"/>
                  </a:lnSpc>
                </a:pPr>
                <a:endParaRPr lang="zh-CN" altLang="en-US" kern="0" dirty="0">
                  <a:solidFill>
                    <a:srgbClr val="779B5E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9952" y="2733"/>
              <a:ext cx="3586" cy="4257"/>
              <a:chOff x="871675" y="1735596"/>
              <a:chExt cx="2276930" cy="2703053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13" name="矩形 12"/>
              <p:cNvSpPr/>
              <p:nvPr/>
            </p:nvSpPr>
            <p:spPr>
              <a:xfrm>
                <a:off x="871675" y="1735596"/>
                <a:ext cx="2276930" cy="2703053"/>
              </a:xfrm>
              <a:prstGeom prst="rect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algn="ctr"/>
                <a:endParaRPr lang="zh-CN" altLang="en-US" kern="0" dirty="0">
                  <a:solidFill>
                    <a:srgbClr val="779B5E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956268" y="2054948"/>
                <a:ext cx="2107745" cy="2084070"/>
              </a:xfrm>
              <a:prstGeom prst="rect">
                <a:avLst/>
              </a:prstGeom>
              <a:grpFill/>
            </p:spPr>
            <p:txBody>
              <a:bodyPr wrap="square">
                <a:spAutoFit/>
              </a:bodyPr>
              <a:p>
                <a:pPr algn="just" fontAlgn="auto">
                  <a:lnSpc>
                    <a:spcPct val="120000"/>
                  </a:lnSpc>
                </a:pP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通过：正常返回 (2, 1, 1, 3)。这是声明的另一种形状。</a:t>
                </a:r>
                <a:endParaRPr lang="zh-CN" altLang="en-US" kern="0" dirty="0">
                  <a:solidFill>
                    <a:srgbClr val="779B5E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14242" y="2733"/>
              <a:ext cx="3586" cy="4257"/>
              <a:chOff x="871675" y="1735596"/>
              <a:chExt cx="2276930" cy="2703053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16" name="矩形 15"/>
              <p:cNvSpPr/>
              <p:nvPr/>
            </p:nvSpPr>
            <p:spPr>
              <a:xfrm>
                <a:off x="871675" y="1735596"/>
                <a:ext cx="2276930" cy="2703053"/>
              </a:xfrm>
              <a:prstGeom prst="rect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algn="ctr"/>
                <a:endParaRPr lang="zh-CN" altLang="en-US" kern="0" dirty="0">
                  <a:solidFill>
                    <a:srgbClr val="779B5E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956268" y="2054948"/>
                <a:ext cx="2107745" cy="2084070"/>
              </a:xfrm>
              <a:prstGeom prst="rect">
                <a:avLst/>
              </a:prstGeom>
              <a:grpFill/>
            </p:spPr>
            <p:txBody>
              <a:bodyPr wrap="square">
                <a:spAutoFit/>
              </a:bodyPr>
              <a:p>
                <a:pPr algn="just" fontAlgn="auto">
                  <a:lnSpc>
                    <a:spcPct val="120000"/>
                  </a:lnSpc>
                </a:pP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通过：正常返回 (2, 1, 2, 3)。与左格同源，缺陷只在三维分支。</a:t>
                </a:r>
                <a:endParaRPr lang="zh-CN" altLang="en-US" kern="0" dirty="0">
                  <a:solidFill>
                    <a:srgbClr val="779B5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1373" y="2733"/>
              <a:ext cx="3586" cy="4317"/>
              <a:chOff x="871675" y="1735596"/>
              <a:chExt cx="2276930" cy="2741242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25" name="矩形 24"/>
              <p:cNvSpPr/>
              <p:nvPr/>
            </p:nvSpPr>
            <p:spPr>
              <a:xfrm>
                <a:off x="871675" y="1735596"/>
                <a:ext cx="2276930" cy="2703053"/>
              </a:xfrm>
              <a:prstGeom prst="rect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algn="ctr"/>
                <a:endParaRPr lang="zh-CN" altLang="en-US" kern="0" dirty="0">
                  <a:solidFill>
                    <a:srgbClr val="779B5E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956268" y="2060663"/>
                <a:ext cx="2107745" cy="2416175"/>
              </a:xfrm>
              <a:prstGeom prst="rect">
                <a:avLst/>
              </a:prstGeom>
              <a:grpFill/>
            </p:spPr>
            <p:txBody>
              <a:bodyPr wrap="square">
                <a:spAutoFit/>
              </a:bodyPr>
              <a:p>
                <a:pPr algn="just">
                  <a:lnSpc>
                    <a:spcPct val="120000"/>
                  </a:lnSpc>
                </a:pP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失败①：W = 1 时宽度维被删，H, W 解包失败。</a:t>
                </a:r>
                <a:endParaRPr lang="zh-CN" altLang="en-US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  <a:p>
                <a:pPr algn="just">
                  <a:lnSpc>
                    <a:spcPct val="120000"/>
                  </a:lnSpc>
                </a:pPr>
                <a:endParaRPr lang="zh-CN" altLang="en-US" b="1" kern="0" dirty="0">
                  <a:solidFill>
                    <a:srgbClr val="2E703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p:grpSp>
        <p:pic>
          <p:nvPicPr>
            <p:cNvPr id="18" name="图片 17" descr="C:\Users\14638\Desktop\IMG_2592(20220923-103912).JPGIMG_2592(20220923-103912)"/>
            <p:cNvPicPr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9760" y="6673"/>
              <a:ext cx="3969" cy="283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24" name="图片 23" descr="C:\Users\14638\Desktop\IMG_2593.JPGIMG_2593"/>
            <p:cNvPicPr/>
            <p:nvPr>
              <p:custDataLst>
                <p:tags r:id="rId3"/>
              </p:custDataLst>
            </p:nvPr>
          </p:nvPicPr>
          <p:blipFill>
            <a:blip r:embed="rId4"/>
            <a:srcRect/>
            <a:stretch>
              <a:fillRect/>
            </a:stretch>
          </p:blipFill>
          <p:spPr>
            <a:xfrm>
              <a:off x="1182" y="6673"/>
              <a:ext cx="3969" cy="283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28" name="图片 27" descr="C:\Users\14638\Desktop\IMG_2590(20220923-103637).JPGIMG_2590(20220923-103637)"/>
            <p:cNvPicPr/>
            <p:nvPr/>
          </p:nvPicPr>
          <p:blipFill>
            <a:blip r:embed="rId5"/>
            <a:srcRect/>
            <a:stretch>
              <a:fillRect/>
            </a:stretch>
          </p:blipFill>
          <p:spPr>
            <a:xfrm>
              <a:off x="5471" y="6673"/>
              <a:ext cx="3969" cy="283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30" name="图片 29" descr="C:\Users\14638\Desktop\IMG_2589(20220923-103609).JPGIMG_2589(20220923-103609)"/>
            <p:cNvPicPr/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4050" y="6673"/>
              <a:ext cx="3969" cy="283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31" name="矩形: 圆角 17"/>
            <p:cNvSpPr/>
            <p:nvPr/>
          </p:nvSpPr>
          <p:spPr>
            <a:xfrm>
              <a:off x="1181" y="2236"/>
              <a:ext cx="3969" cy="786"/>
            </a:xfrm>
            <a:prstGeom prst="roundRect">
              <a:avLst>
                <a:gd name="adj" fmla="val 50000"/>
              </a:avLst>
            </a:prstGeom>
            <a:solidFill>
              <a:srgbClr val="25557A"/>
            </a:solidFill>
            <a:ln w="19050" cap="flat" cmpd="sng" algn="ctr">
              <a:solidFill>
                <a:schemeClr val="bg1"/>
              </a:solidFill>
              <a:prstDash val="solid"/>
              <a:miter lim="800000"/>
            </a:ln>
            <a:effectLst>
              <a:outerShdw blurRad="152400" dist="152400" dir="5400000" sx="81000" sy="81000" algn="t" rotWithShape="0">
                <a:schemeClr val="tx2">
                  <a:lumMod val="50000"/>
                  <a:lumOff val="50000"/>
                  <a:alpha val="30000"/>
                </a:schemeClr>
              </a:outerShdw>
            </a:effectLst>
          </p:spPr>
          <p:txBody>
            <a:bodyPr rtlCol="0" anchor="ctr"/>
            <a:p>
              <a:pPr algn="ctr"/>
              <a:r>
                <a:rPr lang="zh-CN" altLang="en-US" sz="2000" b="1" kern="0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</a:rPr>
                <a:t>(2,1,1)</a:t>
              </a:r>
              <a:endParaRPr lang="zh-CN" altLang="en-US" sz="2000" b="1" kern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2" name="矩形: 圆角 18"/>
            <p:cNvSpPr/>
            <p:nvPr/>
          </p:nvSpPr>
          <p:spPr>
            <a:xfrm>
              <a:off x="5471" y="2236"/>
              <a:ext cx="3969" cy="786"/>
            </a:xfrm>
            <a:prstGeom prst="roundRect">
              <a:avLst>
                <a:gd name="adj" fmla="val 50000"/>
              </a:avLst>
            </a:prstGeom>
            <a:solidFill>
              <a:srgbClr val="25557A"/>
            </a:solidFill>
            <a:ln w="19050" cap="flat" cmpd="sng" algn="ctr">
              <a:solidFill>
                <a:schemeClr val="bg1"/>
              </a:solidFill>
              <a:prstDash val="solid"/>
              <a:miter lim="800000"/>
            </a:ln>
            <a:effectLst>
              <a:outerShdw blurRad="152400" dist="152400" dir="5400000" sx="81000" sy="81000" algn="t" rotWithShape="0">
                <a:schemeClr val="tx2">
                  <a:lumMod val="50000"/>
                  <a:lumOff val="50000"/>
                  <a:alpha val="30000"/>
                </a:schemeClr>
              </a:outerShdw>
            </a:effectLst>
          </p:spPr>
          <p:txBody>
            <a:bodyPr rtlCol="0" anchor="ctr"/>
            <a:p>
              <a:pPr algn="ctr"/>
              <a:r>
                <a:rPr lang="zh-CN" altLang="en-US" sz="2000" b="1" kern="0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(2,1,2)</a:t>
              </a:r>
              <a:endParaRPr lang="zh-CN" altLang="en-US" sz="2000" b="1" kern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3" name="矩形: 圆角 19"/>
            <p:cNvSpPr/>
            <p:nvPr/>
          </p:nvSpPr>
          <p:spPr>
            <a:xfrm>
              <a:off x="9760" y="2236"/>
              <a:ext cx="3969" cy="786"/>
            </a:xfrm>
            <a:prstGeom prst="roundRect">
              <a:avLst>
                <a:gd name="adj" fmla="val 50000"/>
              </a:avLst>
            </a:prstGeom>
            <a:solidFill>
              <a:srgbClr val="25557A"/>
            </a:solidFill>
            <a:ln w="19050" cap="flat" cmpd="sng" algn="ctr">
              <a:solidFill>
                <a:schemeClr val="bg1"/>
              </a:solidFill>
              <a:prstDash val="solid"/>
              <a:miter lim="800000"/>
            </a:ln>
            <a:effectLst>
              <a:outerShdw blurRad="152400" dist="152400" dir="5400000" sx="81000" sy="81000" algn="t" rotWithShape="0">
                <a:schemeClr val="tx2">
                  <a:lumMod val="50000"/>
                  <a:lumOff val="50000"/>
                  <a:alpha val="30000"/>
                </a:schemeClr>
              </a:outerShdw>
            </a:effectLst>
          </p:spPr>
          <p:txBody>
            <a:bodyPr rtlCol="0" anchor="ctr"/>
            <a:p>
              <a:pPr algn="ctr"/>
              <a:r>
                <a:rPr lang="zh-CN" altLang="en-US" sz="2000" b="1" kern="0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</a:rPr>
                <a:t>(2,1,1,1)</a:t>
              </a:r>
              <a:endParaRPr lang="zh-CN" altLang="en-US" sz="2000" b="1" kern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4" name="矩形: 圆角 20"/>
            <p:cNvSpPr/>
            <p:nvPr/>
          </p:nvSpPr>
          <p:spPr>
            <a:xfrm>
              <a:off x="14050" y="2236"/>
              <a:ext cx="3969" cy="786"/>
            </a:xfrm>
            <a:prstGeom prst="roundRect">
              <a:avLst>
                <a:gd name="adj" fmla="val 50000"/>
              </a:avLst>
            </a:prstGeom>
            <a:solidFill>
              <a:srgbClr val="25557A"/>
            </a:solidFill>
            <a:ln w="19050" cap="flat" cmpd="sng" algn="ctr">
              <a:solidFill>
                <a:schemeClr val="bg1"/>
              </a:solidFill>
              <a:prstDash val="solid"/>
              <a:miter lim="800000"/>
            </a:ln>
            <a:effectLst>
              <a:outerShdw blurRad="152400" dist="152400" dir="5400000" sx="81000" sy="81000" algn="t" rotWithShape="0">
                <a:schemeClr val="tx2">
                  <a:lumMod val="50000"/>
                  <a:lumOff val="50000"/>
                  <a:alpha val="30000"/>
                </a:schemeClr>
              </a:outerShdw>
            </a:effectLst>
          </p:spPr>
          <p:txBody>
            <a:bodyPr rtlCol="0" anchor="ctr"/>
            <a:p>
              <a:pPr algn="ctr"/>
              <a:r>
                <a:rPr lang="zh-CN" altLang="en-US" sz="2000" b="1" kern="0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</a:rPr>
                <a:t>(2,1,2,1)</a:t>
              </a:r>
              <a:endParaRPr lang="zh-CN" altLang="en-US" sz="2000" b="1" kern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32" name="图片 31" descr="小招logo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316" y="8415"/>
              <a:ext cx="1701" cy="952"/>
            </a:xfrm>
            <a:prstGeom prst="rect">
              <a:avLst/>
            </a:prstGeom>
          </p:spPr>
        </p:pic>
        <p:pic>
          <p:nvPicPr>
            <p:cNvPr id="35" name="图片 34" descr="小招logo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605" y="8415"/>
              <a:ext cx="1701" cy="952"/>
            </a:xfrm>
            <a:prstGeom prst="rect">
              <a:avLst/>
            </a:prstGeom>
          </p:spPr>
        </p:pic>
        <p:pic>
          <p:nvPicPr>
            <p:cNvPr id="37" name="图片 36" descr="小招logo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894" y="8415"/>
              <a:ext cx="1701" cy="952"/>
            </a:xfrm>
            <a:prstGeom prst="rect">
              <a:avLst/>
            </a:prstGeom>
          </p:spPr>
        </p:pic>
        <p:pic>
          <p:nvPicPr>
            <p:cNvPr id="38" name="图片 37" descr="小招logo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405" y="8415"/>
              <a:ext cx="1701" cy="952"/>
            </a:xfrm>
            <a:prstGeom prst="rect">
              <a:avLst/>
            </a:prstGeom>
          </p:spPr>
        </p:pic>
      </p:grpSp>
    </p:spTree>
    <p:custDataLst>
      <p:tags r:id="rId8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任意多边形: 形状 52"/>
          <p:cNvSpPr/>
          <p:nvPr/>
        </p:nvSpPr>
        <p:spPr>
          <a:xfrm flipH="1">
            <a:off x="4335145" y="0"/>
            <a:ext cx="7854950" cy="6858000"/>
          </a:xfrm>
          <a:custGeom>
            <a:avLst/>
            <a:gdLst>
              <a:gd name="connsiteX0" fmla="*/ 12191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12191999 w 12192000"/>
              <a:gd name="connsiteY3" fmla="*/ 6858000 h 6858000"/>
              <a:gd name="connsiteX4" fmla="*/ 0 w 12192000"/>
              <a:gd name="connsiteY4" fmla="*/ 0 h 6858000"/>
              <a:gd name="connsiteX5" fmla="*/ 11295445 w 12192000"/>
              <a:gd name="connsiteY5" fmla="*/ 0 h 6858000"/>
              <a:gd name="connsiteX6" fmla="*/ 4437446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2191999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close/>
                <a:moveTo>
                  <a:pt x="0" y="0"/>
                </a:moveTo>
                <a:lnTo>
                  <a:pt x="11295445" y="0"/>
                </a:lnTo>
                <a:lnTo>
                  <a:pt x="4437446" y="6858000"/>
                </a:lnTo>
                <a:lnTo>
                  <a:pt x="0" y="6858000"/>
                </a:lnTo>
                <a:close/>
              </a:path>
            </a:pathLst>
          </a:custGeom>
          <a:gradFill flip="none">
            <a:gsLst>
              <a:gs pos="0">
                <a:schemeClr val="accent1">
                  <a:lumMod val="20000"/>
                  <a:lumOff val="80000"/>
                </a:schemeClr>
              </a:gs>
              <a:gs pos="26000">
                <a:srgbClr val="D9EB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 descr="1.5"/>
          <p:cNvPicPr/>
          <p:nvPr>
            <p:custDataLst>
              <p:tags r:id="rId1"/>
            </p:custDataLst>
          </p:nvPr>
        </p:nvPicPr>
        <p:blipFill>
          <a:blip r:embed="rId2"/>
          <a:srcRect l="22403" t="1475" r="22481" b="58056"/>
          <a:stretch>
            <a:fillRect/>
          </a:stretch>
        </p:blipFill>
        <p:spPr>
          <a:xfrm flipH="1">
            <a:off x="7152005" y="2223135"/>
            <a:ext cx="5039995" cy="4634865"/>
          </a:xfrm>
          <a:prstGeom prst="rect">
            <a:avLst/>
          </a:prstGeom>
        </p:spPr>
      </p:pic>
      <p:pic>
        <p:nvPicPr>
          <p:cNvPr id="5" name="图片 4" descr="校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3365" y="186055"/>
            <a:ext cx="1422400" cy="1080135"/>
          </a:xfrm>
          <a:prstGeom prst="rect">
            <a:avLst/>
          </a:prstGeom>
        </p:spPr>
      </p:pic>
      <p:sp>
        <p:nvSpPr>
          <p:cNvPr id="21" name="任意多边形: 形状 52"/>
          <p:cNvSpPr/>
          <p:nvPr/>
        </p:nvSpPr>
        <p:spPr>
          <a:xfrm flipV="1">
            <a:off x="4925060" y="0"/>
            <a:ext cx="4074160" cy="6858000"/>
          </a:xfrm>
          <a:custGeom>
            <a:avLst/>
            <a:gdLst>
              <a:gd name="connsiteX0" fmla="*/ 12191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12191999 w 12192000"/>
              <a:gd name="connsiteY3" fmla="*/ 6858000 h 6858000"/>
              <a:gd name="connsiteX4" fmla="*/ 0 w 12192000"/>
              <a:gd name="connsiteY4" fmla="*/ 0 h 6858000"/>
              <a:gd name="connsiteX5" fmla="*/ 11295445 w 12192000"/>
              <a:gd name="connsiteY5" fmla="*/ 0 h 6858000"/>
              <a:gd name="connsiteX6" fmla="*/ 4437446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2191999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close/>
                <a:moveTo>
                  <a:pt x="0" y="0"/>
                </a:moveTo>
                <a:lnTo>
                  <a:pt x="11295445" y="0"/>
                </a:lnTo>
                <a:lnTo>
                  <a:pt x="443744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63" name="组合 62"/>
          <p:cNvGrpSpPr/>
          <p:nvPr/>
        </p:nvGrpSpPr>
        <p:grpSpPr>
          <a:xfrm rot="10800000">
            <a:off x="-28575" y="3744463"/>
            <a:ext cx="4737100" cy="5091168"/>
            <a:chOff x="8135783" y="-1669981"/>
            <a:chExt cx="4056217" cy="4359393"/>
          </a:xfrm>
        </p:grpSpPr>
        <p:sp>
          <p:nvSpPr>
            <p:cNvPr id="65" name="任意多边形: 形状 64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4" name="直角三角形 63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9" name="图片 18" descr="小招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3745" y="6055995"/>
            <a:ext cx="1080000" cy="604432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1981200" y="1901190"/>
            <a:ext cx="6291580" cy="2896235"/>
            <a:chOff x="1932" y="2994"/>
            <a:chExt cx="9908" cy="4561"/>
          </a:xfrm>
        </p:grpSpPr>
        <p:grpSp>
          <p:nvGrpSpPr>
            <p:cNvPr id="7" name="组合 6"/>
            <p:cNvGrpSpPr/>
            <p:nvPr/>
          </p:nvGrpSpPr>
          <p:grpSpPr>
            <a:xfrm>
              <a:off x="1932" y="2994"/>
              <a:ext cx="3242" cy="2179"/>
              <a:chOff x="2761095" y="2292169"/>
              <a:chExt cx="2058736" cy="1383665"/>
            </a:xfrm>
          </p:grpSpPr>
          <p:sp>
            <p:nvSpPr>
              <p:cNvPr id="8" name="矩形: 圆角 1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9" name="矩形: 圆角 6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3020843" y="2292169"/>
                <a:ext cx="1798988" cy="1383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84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8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4066" y="2994"/>
              <a:ext cx="2262" cy="2082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en-US" altLang="zh-CN" sz="8000" b="1" dirty="0">
                  <a:latin typeface="微软雅黑" panose="020B0503020204020204" charset="-122"/>
                  <a:ea typeface="微软雅黑" panose="020B0503020204020204" charset="-122"/>
                </a:rPr>
                <a:t>03</a:t>
              </a:r>
              <a:endParaRPr lang="en-US" altLang="zh-CN" sz="8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2118" y="5546"/>
              <a:ext cx="7188" cy="1743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zh-CN" altLang="en-US" sz="6600" b="1" spc="300" dirty="0">
                  <a:latin typeface="微软雅黑" panose="020B0503020204020204" charset="-122"/>
                  <a:ea typeface="微软雅黑" panose="020B0503020204020204" charset="-122"/>
                </a:rPr>
                <a:t>自动化实施</a:t>
              </a:r>
              <a:endParaRPr lang="zh-CN" altLang="en-US" sz="66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212" y="6975"/>
              <a:ext cx="9628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endParaRPr lang="en-US" altLang="zh-CN" sz="900" spc="6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6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MAIN TEST STRATEGY</a:t>
              </a:r>
              <a:endParaRPr lang="en-US" altLang="zh-CN" sz="900" spc="6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51155" y="325120"/>
            <a:ext cx="4559300" cy="1015365"/>
            <a:chOff x="1572" y="494"/>
            <a:chExt cx="7180" cy="1599"/>
          </a:xfrm>
        </p:grpSpPr>
        <p:grpSp>
          <p:nvGrpSpPr>
            <p:cNvPr id="8" name="组合 7"/>
            <p:cNvGrpSpPr/>
            <p:nvPr/>
          </p:nvGrpSpPr>
          <p:grpSpPr>
            <a:xfrm>
              <a:off x="1572" y="494"/>
              <a:ext cx="2047" cy="1599"/>
              <a:chOff x="2761095" y="2248418"/>
              <a:chExt cx="1948563" cy="1522661"/>
            </a:xfrm>
          </p:grpSpPr>
          <p:sp>
            <p:nvSpPr>
              <p:cNvPr id="9" name="矩形: 圆角 24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2910670" y="2248418"/>
                <a:ext cx="1798988" cy="1522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6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6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3078" y="751"/>
              <a:ext cx="5188" cy="919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zh-CN" altLang="en-US" sz="3200" b="1" spc="300" dirty="0">
                  <a:latin typeface="微软雅黑" panose="020B0503020204020204" charset="-122"/>
                  <a:ea typeface="微软雅黑" panose="020B0503020204020204" charset="-122"/>
                </a:rPr>
                <a:t>自动化测试工程</a:t>
              </a:r>
              <a:endParaRPr lang="zh-CN" altLang="en-US" sz="32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107" y="1365"/>
              <a:ext cx="5645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3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TEST AUTOMATION</a:t>
              </a:r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9" name="矩形: 圆角 18"/>
          <p:cNvSpPr/>
          <p:nvPr/>
        </p:nvSpPr>
        <p:spPr>
          <a:xfrm>
            <a:off x="977900" y="1648460"/>
            <a:ext cx="10236200" cy="45834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13" name="任意多边形: 形状 21"/>
          <p:cNvSpPr/>
          <p:nvPr/>
        </p:nvSpPr>
        <p:spPr>
          <a:xfrm>
            <a:off x="977900" y="2575560"/>
            <a:ext cx="1675765" cy="2781300"/>
          </a:xfrm>
          <a:custGeom>
            <a:avLst/>
            <a:gdLst>
              <a:gd name="connsiteX0" fmla="*/ 284837 w 1675487"/>
              <a:gd name="connsiteY0" fmla="*/ 0 h 2781300"/>
              <a:gd name="connsiteX1" fmla="*/ 1675487 w 1675487"/>
              <a:gd name="connsiteY1" fmla="*/ 1390650 h 2781300"/>
              <a:gd name="connsiteX2" fmla="*/ 284837 w 1675487"/>
              <a:gd name="connsiteY2" fmla="*/ 2781300 h 2781300"/>
              <a:gd name="connsiteX3" fmla="*/ 4573 w 1675487"/>
              <a:gd name="connsiteY3" fmla="*/ 2753047 h 2781300"/>
              <a:gd name="connsiteX4" fmla="*/ 0 w 1675487"/>
              <a:gd name="connsiteY4" fmla="*/ 2751872 h 2781300"/>
              <a:gd name="connsiteX5" fmla="*/ 0 w 1675487"/>
              <a:gd name="connsiteY5" fmla="*/ 29429 h 2781300"/>
              <a:gd name="connsiteX6" fmla="*/ 4573 w 1675487"/>
              <a:gd name="connsiteY6" fmla="*/ 28253 h 2781300"/>
              <a:gd name="connsiteX7" fmla="*/ 284837 w 1675487"/>
              <a:gd name="connsiteY7" fmla="*/ 0 h 278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75487" h="2781300">
                <a:moveTo>
                  <a:pt x="284837" y="0"/>
                </a:moveTo>
                <a:cubicBezTo>
                  <a:pt x="1052872" y="0"/>
                  <a:pt x="1675487" y="622615"/>
                  <a:pt x="1675487" y="1390650"/>
                </a:cubicBezTo>
                <a:cubicBezTo>
                  <a:pt x="1675487" y="2158685"/>
                  <a:pt x="1052872" y="2781300"/>
                  <a:pt x="284837" y="2781300"/>
                </a:cubicBezTo>
                <a:cubicBezTo>
                  <a:pt x="188833" y="2781300"/>
                  <a:pt x="95101" y="2771572"/>
                  <a:pt x="4573" y="2753047"/>
                </a:cubicBezTo>
                <a:lnTo>
                  <a:pt x="0" y="2751872"/>
                </a:lnTo>
                <a:lnTo>
                  <a:pt x="0" y="29429"/>
                </a:lnTo>
                <a:lnTo>
                  <a:pt x="4573" y="28253"/>
                </a:lnTo>
                <a:cubicBezTo>
                  <a:pt x="95101" y="9729"/>
                  <a:pt x="188833" y="0"/>
                  <a:pt x="284837" y="0"/>
                </a:cubicBezTo>
                <a:close/>
              </a:path>
            </a:pathLst>
          </a:cu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169035" y="3429000"/>
            <a:ext cx="1071880" cy="1076325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zh-CN" sz="32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自动</a:t>
            </a:r>
            <a:endParaRPr lang="zh-CN" sz="3200" b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32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化</a:t>
            </a:r>
            <a:endParaRPr lang="zh-CN" sz="3200" b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 rot="0">
            <a:off x="2890520" y="2061845"/>
            <a:ext cx="7985125" cy="1218069"/>
            <a:chOff x="3134969" y="2228849"/>
            <a:chExt cx="7984866" cy="1218247"/>
          </a:xfrm>
        </p:grpSpPr>
        <p:sp>
          <p:nvSpPr>
            <p:cNvPr id="18" name="椭圆 17"/>
            <p:cNvSpPr/>
            <p:nvPr/>
          </p:nvSpPr>
          <p:spPr>
            <a:xfrm>
              <a:off x="3134969" y="2228849"/>
              <a:ext cx="435661" cy="435661"/>
            </a:xfrm>
            <a:prstGeom prst="ellips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1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3765265" y="2243632"/>
              <a:ext cx="7354570" cy="1203464"/>
              <a:chOff x="7893455" y="4126834"/>
              <a:chExt cx="7354570" cy="1203464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7893455" y="4126834"/>
                <a:ext cx="2240242" cy="3683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r>
                  <a:rPr lang="zh-CN" altLang="en-US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一键运行的测试工程</a:t>
                </a:r>
                <a:endParaRPr lang="zh-CN" altLang="en-US" b="1" dirty="0">
                  <a:solidFill>
                    <a:srgbClr val="25557A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10133706" y="4220231"/>
                <a:ext cx="2665723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8 FILES</a:t>
                </a:r>
                <a:r>
                  <a:rPr lang="en-US" altLang="zh-CN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 | </a:t>
                </a:r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33 EXECUTIONS</a:t>
                </a:r>
                <a:endPara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7893455" y="4377024"/>
                <a:ext cx="7354570" cy="9532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>
                  <a:lnSpc>
                    <a:spcPct val="200000"/>
                  </a:lnSpc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tests/module1_coordinate/ 下 8 个用例文件对应 8 个函数；run_tests.ps1 一键运行 33 条用例（32 清单 + 1 对照），PYTHONPATH 注入被测模块，不改</a:t>
                </a:r>
                <a:r>
                  <a:rPr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VGGT</a:t>
                </a: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代码。</a:t>
                </a:r>
                <a:endPara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35" name="组合 34"/>
          <p:cNvGrpSpPr/>
          <p:nvPr/>
        </p:nvGrpSpPr>
        <p:grpSpPr>
          <a:xfrm rot="0">
            <a:off x="3521075" y="3430905"/>
            <a:ext cx="7355205" cy="1218069"/>
            <a:chOff x="3134969" y="2228849"/>
            <a:chExt cx="7354946" cy="1218247"/>
          </a:xfrm>
        </p:grpSpPr>
        <p:sp>
          <p:nvSpPr>
            <p:cNvPr id="36" name="椭圆 35"/>
            <p:cNvSpPr/>
            <p:nvPr/>
          </p:nvSpPr>
          <p:spPr>
            <a:xfrm>
              <a:off x="3134969" y="2228849"/>
              <a:ext cx="435661" cy="435661"/>
            </a:xfrm>
            <a:prstGeom prst="ellips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2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765265" y="2243632"/>
              <a:ext cx="6724650" cy="1203464"/>
              <a:chOff x="7893455" y="4126834"/>
              <a:chExt cx="6724650" cy="1203464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7893455" y="4126834"/>
                <a:ext cx="2240242" cy="3683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r>
                  <a:rPr lang="zh-CN" altLang="en-US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一次运行双产出</a:t>
                </a:r>
                <a:endParaRPr lang="zh-CN" altLang="en-US" dirty="0">
                  <a:solidFill>
                    <a:schemeClr val="accent5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9676521" y="4220231"/>
                <a:ext cx="2665723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JUNIT XML</a:t>
                </a:r>
                <a:r>
                  <a:rPr lang="en-US" altLang="zh-CN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 | </a:t>
                </a:r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UTF-8 LOG</a:t>
                </a:r>
                <a:endPara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7893455" y="4377024"/>
                <a:ext cx="6724650" cy="9532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>
                  <a:lnSpc>
                    <a:spcPct val="200000"/>
                  </a:lnSpc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junit_report.py 单次运行同时产出 JUnit XML 与 UTF-8 运行日志；单次执行约 0.</a:t>
                </a:r>
                <a:r>
                  <a:rPr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2</a:t>
                </a: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秒；退出码 0/1/2/3 明确区分全过、有失败、无工程、不可导入四种状态。</a:t>
                </a:r>
                <a:endPara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41" name="组合 40"/>
          <p:cNvGrpSpPr/>
          <p:nvPr/>
        </p:nvGrpSpPr>
        <p:grpSpPr>
          <a:xfrm rot="0">
            <a:off x="2890520" y="4800600"/>
            <a:ext cx="7985125" cy="1218069"/>
            <a:chOff x="3134969" y="2228849"/>
            <a:chExt cx="7984866" cy="1218247"/>
          </a:xfrm>
        </p:grpSpPr>
        <p:sp>
          <p:nvSpPr>
            <p:cNvPr id="28" name="椭圆 27"/>
            <p:cNvSpPr/>
            <p:nvPr/>
          </p:nvSpPr>
          <p:spPr>
            <a:xfrm>
              <a:off x="3134969" y="2228849"/>
              <a:ext cx="435661" cy="435661"/>
            </a:xfrm>
            <a:prstGeom prst="ellips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3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3765265" y="2243632"/>
              <a:ext cx="7354570" cy="1203464"/>
              <a:chOff x="7893455" y="4126834"/>
              <a:chExt cx="7354570" cy="1203464"/>
            </a:xfrm>
          </p:grpSpPr>
          <p:sp>
            <p:nvSpPr>
              <p:cNvPr id="44" name="矩形 43"/>
              <p:cNvSpPr/>
              <p:nvPr/>
            </p:nvSpPr>
            <p:spPr>
              <a:xfrm>
                <a:off x="7893455" y="4126834"/>
                <a:ext cx="2240242" cy="3683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r>
                  <a:rPr lang="zh-CN" altLang="en-US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结果逐位一致</a:t>
                </a:r>
                <a:endParaRPr lang="zh-CN" altLang="en-US" dirty="0">
                  <a:solidFill>
                    <a:schemeClr val="accent5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9465708" y="4220231"/>
                <a:ext cx="2665723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CPU ONLY</a:t>
                </a:r>
                <a:r>
                  <a:rPr lang="en-US" altLang="zh-CN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 | </a:t>
                </a:r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DETERMINISTIC</a:t>
                </a:r>
                <a:endPara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7893455" y="4377024"/>
                <a:ext cx="7354570" cy="9532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>
                  <a:lnSpc>
                    <a:spcPct val="200000"/>
                  </a:lnSpc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测试不依赖模型权重与 GPU；跨运行结果逐位一致，一条命令即可复现全部 33 次执行与 2 个错误的现场。</a:t>
                </a:r>
                <a:endPara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pic>
        <p:nvPicPr>
          <p:cNvPr id="12" name="图片 11" descr="图书馆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  <p:grpSp>
        <p:nvGrpSpPr>
          <p:cNvPr id="16" name="组合 15"/>
          <p:cNvGrpSpPr/>
          <p:nvPr userDrawn="1"/>
        </p:nvGrpSpPr>
        <p:grpSpPr>
          <a:xfrm>
            <a:off x="10289667" y="-801077"/>
            <a:ext cx="1902333" cy="2044520"/>
            <a:chOff x="8135783" y="-1669981"/>
            <a:chExt cx="4056217" cy="4359393"/>
          </a:xfrm>
        </p:grpSpPr>
        <p:sp>
          <p:nvSpPr>
            <p:cNvPr id="17" name="任意多边形: 形状 10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直角三角形 19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10289667" y="-801077"/>
            <a:ext cx="1902333" cy="2044520"/>
            <a:chOff x="8135783" y="-1669981"/>
            <a:chExt cx="4056217" cy="4359393"/>
          </a:xfrm>
        </p:grpSpPr>
        <p:sp>
          <p:nvSpPr>
            <p:cNvPr id="7" name="任意多边形: 形状 10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直角三角形 4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51155" y="325120"/>
            <a:ext cx="7503160" cy="1015365"/>
            <a:chOff x="1572" y="494"/>
            <a:chExt cx="11816" cy="1599"/>
          </a:xfrm>
        </p:grpSpPr>
        <p:grpSp>
          <p:nvGrpSpPr>
            <p:cNvPr id="8" name="组合 7"/>
            <p:cNvGrpSpPr/>
            <p:nvPr/>
          </p:nvGrpSpPr>
          <p:grpSpPr>
            <a:xfrm>
              <a:off x="1572" y="494"/>
              <a:ext cx="2047" cy="1599"/>
              <a:chOff x="2761095" y="2248418"/>
              <a:chExt cx="1948563" cy="1522661"/>
            </a:xfrm>
          </p:grpSpPr>
          <p:sp>
            <p:nvSpPr>
              <p:cNvPr id="9" name="矩形: 圆角 24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2910670" y="2248418"/>
                <a:ext cx="1798988" cy="1522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6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6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3078" y="751"/>
              <a:ext cx="10310" cy="919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zh-CN" altLang="en-US" sz="3200" b="1" spc="300" dirty="0">
                  <a:latin typeface="微软雅黑" panose="020B0503020204020204" charset="-122"/>
                  <a:ea typeface="微软雅黑" panose="020B0503020204020204" charset="-122"/>
                </a:rPr>
                <a:t>执行结果：33 条执行，31 通过</a:t>
              </a:r>
              <a:endParaRPr lang="zh-CN" altLang="en-US" sz="32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107" y="1365"/>
              <a:ext cx="5645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3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ONE REAL RUN · 93.9% PASS</a:t>
              </a:r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1092200" y="1900980"/>
            <a:ext cx="2299929" cy="3559277"/>
          </a:xfrm>
          <a:prstGeom prst="rect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93522" y="2200283"/>
            <a:ext cx="1097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33</a:t>
            </a:r>
            <a:endParaRPr lang="zh-CN" altLang="en-US"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63853" y="2961251"/>
            <a:ext cx="1956619" cy="2267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50000"/>
              </a:lnSpc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条自动化用例执行，覆盖全部 8 个函数。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466630" y="2811599"/>
            <a:ext cx="1551069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32416B">
                    <a:alpha val="0"/>
                  </a:srgbClr>
                </a:gs>
                <a:gs pos="50000">
                  <a:schemeClr val="bg1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3661424" y="1900980"/>
            <a:ext cx="2299929" cy="3559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262745" y="2200283"/>
            <a:ext cx="1097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31</a:t>
            </a:r>
            <a:endParaRPr lang="zh-CN" altLang="en-US" sz="24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833077" y="2961251"/>
            <a:ext cx="1956619" cy="2267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5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条通过，含 1 条专门设计的绕障对照用例。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4035854" y="2811599"/>
            <a:ext cx="1551069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32416B">
                    <a:alpha val="0"/>
                  </a:srgbClr>
                </a:gs>
                <a:gs pos="50000">
                  <a:srgbClr val="32416B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6230648" y="1900980"/>
            <a:ext cx="2299929" cy="3559277"/>
          </a:xfrm>
          <a:prstGeom prst="rect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831970" y="2200283"/>
            <a:ext cx="1097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altLang="en-US"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6402301" y="2961251"/>
            <a:ext cx="1956619" cy="2267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50000"/>
              </a:lnSpc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条失败：M1-GEO-016 与 018，traceback 逐层一致。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9" name="直接连接符 48"/>
          <p:cNvCxnSpPr/>
          <p:nvPr/>
        </p:nvCxnSpPr>
        <p:spPr>
          <a:xfrm>
            <a:off x="6605078" y="2811599"/>
            <a:ext cx="1551069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32416B">
                    <a:alpha val="0"/>
                  </a:srgbClr>
                </a:gs>
                <a:gs pos="50000">
                  <a:schemeClr val="bg1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8799871" y="1900980"/>
            <a:ext cx="2299929" cy="3559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9401193" y="2200283"/>
            <a:ext cx="1097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93.9%</a:t>
            </a:r>
            <a:endParaRPr lang="zh-CN" altLang="en-US" sz="24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8971524" y="2961251"/>
            <a:ext cx="1956619" cy="2267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5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用例通过率 = 31 / 33，退出码 1，与约定一致。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9174301" y="2811599"/>
            <a:ext cx="1551069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32416B">
                    <a:alpha val="0"/>
                  </a:srgbClr>
                </a:gs>
                <a:gs pos="50000">
                  <a:srgbClr val="32416B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 descr="图书馆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任意多边形: 形状 52"/>
          <p:cNvSpPr/>
          <p:nvPr/>
        </p:nvSpPr>
        <p:spPr>
          <a:xfrm flipH="1">
            <a:off x="4335145" y="0"/>
            <a:ext cx="7854950" cy="6858000"/>
          </a:xfrm>
          <a:custGeom>
            <a:avLst/>
            <a:gdLst>
              <a:gd name="connsiteX0" fmla="*/ 12191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12191999 w 12192000"/>
              <a:gd name="connsiteY3" fmla="*/ 6858000 h 6858000"/>
              <a:gd name="connsiteX4" fmla="*/ 0 w 12192000"/>
              <a:gd name="connsiteY4" fmla="*/ 0 h 6858000"/>
              <a:gd name="connsiteX5" fmla="*/ 11295445 w 12192000"/>
              <a:gd name="connsiteY5" fmla="*/ 0 h 6858000"/>
              <a:gd name="connsiteX6" fmla="*/ 4437446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2191999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close/>
                <a:moveTo>
                  <a:pt x="0" y="0"/>
                </a:moveTo>
                <a:lnTo>
                  <a:pt x="11295445" y="0"/>
                </a:lnTo>
                <a:lnTo>
                  <a:pt x="4437446" y="6858000"/>
                </a:lnTo>
                <a:lnTo>
                  <a:pt x="0" y="6858000"/>
                </a:lnTo>
                <a:close/>
              </a:path>
            </a:pathLst>
          </a:custGeom>
          <a:gradFill flip="none">
            <a:gsLst>
              <a:gs pos="0">
                <a:schemeClr val="accent1">
                  <a:lumMod val="20000"/>
                  <a:lumOff val="80000"/>
                </a:schemeClr>
              </a:gs>
              <a:gs pos="26000">
                <a:srgbClr val="D9EB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 descr="1.5"/>
          <p:cNvPicPr/>
          <p:nvPr>
            <p:custDataLst>
              <p:tags r:id="rId1"/>
            </p:custDataLst>
          </p:nvPr>
        </p:nvPicPr>
        <p:blipFill>
          <a:blip r:embed="rId2"/>
          <a:srcRect l="22403" t="1475" r="22481" b="58056"/>
          <a:stretch>
            <a:fillRect/>
          </a:stretch>
        </p:blipFill>
        <p:spPr>
          <a:xfrm flipH="1">
            <a:off x="7152005" y="2223135"/>
            <a:ext cx="5039995" cy="4634865"/>
          </a:xfrm>
          <a:prstGeom prst="rect">
            <a:avLst/>
          </a:prstGeom>
        </p:spPr>
      </p:pic>
      <p:pic>
        <p:nvPicPr>
          <p:cNvPr id="5" name="图片 4" descr="校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3365" y="186055"/>
            <a:ext cx="1422400" cy="1080135"/>
          </a:xfrm>
          <a:prstGeom prst="rect">
            <a:avLst/>
          </a:prstGeom>
        </p:spPr>
      </p:pic>
      <p:sp>
        <p:nvSpPr>
          <p:cNvPr id="21" name="任意多边形: 形状 52"/>
          <p:cNvSpPr/>
          <p:nvPr/>
        </p:nvSpPr>
        <p:spPr>
          <a:xfrm flipV="1">
            <a:off x="4925060" y="0"/>
            <a:ext cx="4074160" cy="6858000"/>
          </a:xfrm>
          <a:custGeom>
            <a:avLst/>
            <a:gdLst>
              <a:gd name="connsiteX0" fmla="*/ 12191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12191999 w 12192000"/>
              <a:gd name="connsiteY3" fmla="*/ 6858000 h 6858000"/>
              <a:gd name="connsiteX4" fmla="*/ 0 w 12192000"/>
              <a:gd name="connsiteY4" fmla="*/ 0 h 6858000"/>
              <a:gd name="connsiteX5" fmla="*/ 11295445 w 12192000"/>
              <a:gd name="connsiteY5" fmla="*/ 0 h 6858000"/>
              <a:gd name="connsiteX6" fmla="*/ 4437446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2191999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close/>
                <a:moveTo>
                  <a:pt x="0" y="0"/>
                </a:moveTo>
                <a:lnTo>
                  <a:pt x="11295445" y="0"/>
                </a:lnTo>
                <a:lnTo>
                  <a:pt x="443744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63" name="组合 62"/>
          <p:cNvGrpSpPr/>
          <p:nvPr/>
        </p:nvGrpSpPr>
        <p:grpSpPr>
          <a:xfrm rot="10800000">
            <a:off x="-28575" y="3744463"/>
            <a:ext cx="4737100" cy="5091168"/>
            <a:chOff x="8135783" y="-1669981"/>
            <a:chExt cx="4056217" cy="4359393"/>
          </a:xfrm>
        </p:grpSpPr>
        <p:sp>
          <p:nvSpPr>
            <p:cNvPr id="65" name="任意多边形: 形状 64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4" name="直角三角形 63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9" name="图片 18" descr="小招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3745" y="6055995"/>
            <a:ext cx="1080000" cy="604432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1981200" y="1901190"/>
            <a:ext cx="6291580" cy="2896235"/>
            <a:chOff x="1932" y="2994"/>
            <a:chExt cx="9908" cy="4561"/>
          </a:xfrm>
        </p:grpSpPr>
        <p:grpSp>
          <p:nvGrpSpPr>
            <p:cNvPr id="7" name="组合 6"/>
            <p:cNvGrpSpPr/>
            <p:nvPr/>
          </p:nvGrpSpPr>
          <p:grpSpPr>
            <a:xfrm>
              <a:off x="1932" y="2994"/>
              <a:ext cx="3242" cy="2179"/>
              <a:chOff x="2761095" y="2292169"/>
              <a:chExt cx="2058736" cy="1383665"/>
            </a:xfrm>
          </p:grpSpPr>
          <p:sp>
            <p:nvSpPr>
              <p:cNvPr id="8" name="矩形: 圆角 1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9" name="矩形: 圆角 6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3020843" y="2292169"/>
                <a:ext cx="1798988" cy="1383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84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8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4066" y="2994"/>
              <a:ext cx="2262" cy="2082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en-US" altLang="zh-CN" sz="8000" b="1" dirty="0">
                  <a:latin typeface="微软雅黑" panose="020B0503020204020204" charset="-122"/>
                  <a:ea typeface="微软雅黑" panose="020B0503020204020204" charset="-122"/>
                </a:rPr>
                <a:t>04</a:t>
              </a:r>
              <a:endParaRPr lang="en-US" altLang="zh-CN" sz="8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2118" y="5546"/>
              <a:ext cx="7188" cy="1743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zh-CN" altLang="en-US" sz="6600" b="1" spc="300" dirty="0">
                  <a:latin typeface="微软雅黑" panose="020B0503020204020204" charset="-122"/>
                  <a:ea typeface="微软雅黑" panose="020B0503020204020204" charset="-122"/>
                </a:rPr>
                <a:t>结果与结论</a:t>
              </a:r>
              <a:endParaRPr lang="zh-CN" altLang="en-US" sz="66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212" y="6975"/>
              <a:ext cx="9628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endParaRPr lang="en-US" altLang="zh-CN" sz="900" spc="6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6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MAIN TEST STRATEGY</a:t>
              </a:r>
              <a:endParaRPr lang="en-US" altLang="zh-CN" sz="900" spc="6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5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51155" y="325120"/>
            <a:ext cx="6917690" cy="1015365"/>
            <a:chOff x="1572" y="494"/>
            <a:chExt cx="10894" cy="1599"/>
          </a:xfrm>
        </p:grpSpPr>
        <p:grpSp>
          <p:nvGrpSpPr>
            <p:cNvPr id="8" name="组合 7"/>
            <p:cNvGrpSpPr/>
            <p:nvPr/>
          </p:nvGrpSpPr>
          <p:grpSpPr>
            <a:xfrm>
              <a:off x="1572" y="494"/>
              <a:ext cx="2047" cy="1599"/>
              <a:chOff x="2761095" y="2248418"/>
              <a:chExt cx="1948563" cy="1522661"/>
            </a:xfrm>
          </p:grpSpPr>
          <p:sp>
            <p:nvSpPr>
              <p:cNvPr id="9" name="矩形: 圆角 24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2910670" y="2248418"/>
                <a:ext cx="1798988" cy="1522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6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6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3078" y="751"/>
              <a:ext cx="9388" cy="919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zh-CN" altLang="en-US" sz="3200" b="1" spc="300" dirty="0">
                  <a:latin typeface="微软雅黑" panose="020B0503020204020204" charset="-122"/>
                  <a:ea typeface="微软雅黑" panose="020B0503020204020204" charset="-122"/>
                </a:rPr>
                <a:t>现象与影响：被删掉的宽度维</a:t>
              </a:r>
              <a:endParaRPr lang="zh-CN" altLang="en-US" sz="32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107" y="1365"/>
              <a:ext cx="5645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3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DEFECT LOCATION</a:t>
              </a:r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51" name="图片 50" descr="图书馆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10289667" y="-801077"/>
            <a:ext cx="1902333" cy="2044520"/>
            <a:chOff x="8135783" y="-1669981"/>
            <a:chExt cx="4056217" cy="4359393"/>
          </a:xfrm>
        </p:grpSpPr>
        <p:sp>
          <p:nvSpPr>
            <p:cNvPr id="16" name="任意多边形: 形状 10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直角三角形 16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660400" y="1234440"/>
            <a:ext cx="10858500" cy="5146772"/>
            <a:chOff x="1040" y="1944"/>
            <a:chExt cx="17100" cy="8105"/>
          </a:xfrm>
        </p:grpSpPr>
        <p:sp>
          <p:nvSpPr>
            <p:cNvPr id="2" name="矩形 1"/>
            <p:cNvSpPr/>
            <p:nvPr/>
          </p:nvSpPr>
          <p:spPr>
            <a:xfrm>
              <a:off x="1040" y="2274"/>
              <a:ext cx="17100" cy="333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1346" y="2586"/>
              <a:ext cx="11773" cy="2196"/>
              <a:chOff x="1188085" y="4304453"/>
              <a:chExt cx="4283710" cy="1394635"/>
            </a:xfrm>
          </p:grpSpPr>
          <p:sp>
            <p:nvSpPr>
              <p:cNvPr id="19" name="文本框 18"/>
              <p:cNvSpPr txBox="1"/>
              <p:nvPr/>
            </p:nvSpPr>
            <p:spPr>
              <a:xfrm>
                <a:off x="1188085" y="4304453"/>
                <a:ext cx="3938408" cy="4603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400" b="1" dirty="0">
                    <a:solidFill>
                      <a:srgbClr val="25557A"/>
                    </a:solidFill>
                    <a:sym typeface="+mn-ea"/>
                  </a:rPr>
                  <a:t>显性失败：程序崩溃（W = 1 时）</a:t>
                </a:r>
                <a:endParaRPr lang="zh-CN" altLang="en-US" sz="2400" b="1" dirty="0">
                  <a:solidFill>
                    <a:srgbClr val="25557A"/>
                  </a:solidFill>
                </a:endParaRPr>
              </a:p>
            </p:txBody>
          </p:sp>
          <p:cxnSp>
            <p:nvCxnSpPr>
              <p:cNvPr id="20" name="直接连接符 19"/>
              <p:cNvCxnSpPr/>
              <p:nvPr/>
            </p:nvCxnSpPr>
            <p:spPr>
              <a:xfrm>
                <a:off x="1248911" y="4856923"/>
                <a:ext cx="4097913" cy="0"/>
              </a:xfrm>
              <a:prstGeom prst="line">
                <a:avLst/>
              </a:prstGeom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文本框 20"/>
              <p:cNvSpPr txBox="1"/>
              <p:nvPr/>
            </p:nvSpPr>
            <p:spPr>
              <a:xfrm>
                <a:off x="1188085" y="4896457"/>
                <a:ext cx="4283710" cy="8026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 algn="just">
                  <a:lnSpc>
                    <a:spcPct val="130000"/>
                  </a:lnSpc>
                </a:pPr>
                <a:r>
                  <a:rPr lang="zh-CN" altLang="en-US" sz="1400" dirty="0"/>
                  <a:t>直接报错</a:t>
                </a:r>
                <a:r>
                  <a:rPr lang="en-US" altLang="zh-CN" sz="1400" dirty="0"/>
                  <a:t>ValueError</a:t>
                </a:r>
                <a:endParaRPr lang="en-US" altLang="zh-CN" sz="1400" dirty="0"/>
              </a:p>
              <a:p>
                <a:pPr algn="just">
                  <a:lnSpc>
                    <a:spcPct val="130000"/>
                  </a:lnSpc>
                </a:pPr>
                <a:r>
                  <a:rPr lang="zh-CN" altLang="en-US" sz="1400" dirty="0"/>
                  <a:t>输入 (</a:t>
                </a:r>
                <a:r>
                  <a:rPr lang="en-US" altLang="zh-CN" sz="1400" dirty="0"/>
                  <a:t>S, H, 1) </a:t>
                </a:r>
                <a:r>
                  <a:rPr lang="zh-CN" altLang="en-US" sz="1400" dirty="0"/>
                  <a:t>这种“宽度为 1”的三维深度图，</a:t>
                </a:r>
                <a:r>
                  <a:rPr lang="en-US" altLang="zh-CN" sz="1400" dirty="0"/>
                  <a:t>squeeze(-1) </a:t>
                </a:r>
                <a:r>
                  <a:rPr lang="zh-CN" altLang="en-US" sz="1400" dirty="0"/>
                  <a:t>把宽度维误删，(</a:t>
                </a:r>
                <a:r>
                  <a:rPr lang="en-US" altLang="zh-CN" sz="1400" dirty="0"/>
                  <a:t>S, H, 1) </a:t>
                </a:r>
                <a:r>
                  <a:rPr lang="zh-CN" altLang="en-US" sz="1400" dirty="0"/>
                  <a:t>变成 (</a:t>
                </a:r>
                <a:r>
                  <a:rPr lang="en-US" altLang="zh-CN" sz="1400" dirty="0"/>
                  <a:t>S, H)—</a:t>
                </a:r>
                <a:r>
                  <a:rPr lang="zh-CN" altLang="en-US" sz="1400" dirty="0"/>
                  <a:t>下游 </a:t>
                </a:r>
                <a:r>
                  <a:rPr lang="en-US" altLang="zh-CN" sz="1400" dirty="0"/>
                  <a:t>H, W = depth_map.shape </a:t>
                </a:r>
                <a:r>
                  <a:rPr lang="zh-CN" altLang="en-US" sz="1400" dirty="0"/>
                  <a:t>只解出一个值</a:t>
                </a:r>
                <a:endParaRPr lang="zh-CN" altLang="en-US" sz="1400" dirty="0"/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1040" y="5994"/>
              <a:ext cx="17100" cy="3666"/>
              <a:chOff x="660400" y="1603756"/>
              <a:chExt cx="10858500" cy="2328164"/>
            </a:xfrm>
          </p:grpSpPr>
          <p:sp>
            <p:nvSpPr>
              <p:cNvPr id="23" name="矩形 22"/>
              <p:cNvSpPr/>
              <p:nvPr/>
            </p:nvSpPr>
            <p:spPr>
              <a:xfrm>
                <a:off x="660400" y="1813560"/>
                <a:ext cx="10858500" cy="211836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32" name="图片 31" descr="C:\Users\14638\Desktop\IMG_2588(20220923-102348).JPGIMG_2588(20220923-102348)"/>
              <p:cNvPicPr/>
              <p:nvPr/>
            </p:nvPicPr>
            <p:blipFill rotWithShape="1">
              <a:blip r:embed="rId2"/>
              <a:srcRect/>
              <a:stretch>
                <a:fillRect/>
              </a:stretch>
            </p:blipFill>
            <p:spPr>
              <a:xfrm>
                <a:off x="989185" y="1603756"/>
                <a:ext cx="2327910" cy="2328164"/>
              </a:xfrm>
              <a:prstGeom prst="rect">
                <a:avLst/>
              </a:prstGeom>
            </p:spPr>
          </p:pic>
        </p:grpSp>
        <p:grpSp>
          <p:nvGrpSpPr>
            <p:cNvPr id="35" name="组合 34"/>
            <p:cNvGrpSpPr/>
            <p:nvPr/>
          </p:nvGrpSpPr>
          <p:grpSpPr>
            <a:xfrm>
              <a:off x="5870" y="6635"/>
              <a:ext cx="11773" cy="3414"/>
              <a:chOff x="1188085" y="4304453"/>
              <a:chExt cx="4283710" cy="2168301"/>
            </a:xfrm>
          </p:grpSpPr>
          <p:sp>
            <p:nvSpPr>
              <p:cNvPr id="37" name="文本框 36"/>
              <p:cNvSpPr txBox="1"/>
              <p:nvPr/>
            </p:nvSpPr>
            <p:spPr>
              <a:xfrm>
                <a:off x="1188085" y="4304453"/>
                <a:ext cx="3408630" cy="460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400" b="1" dirty="0">
                    <a:solidFill>
                      <a:srgbClr val="25557A"/>
                    </a:solidFill>
                  </a:rPr>
                  <a:t>隐性失败：结果全错但不报错（</a:t>
                </a:r>
                <a:r>
                  <a:rPr lang="en-US" altLang="zh-CN" sz="2400" b="1" dirty="0">
                    <a:solidFill>
                      <a:srgbClr val="25557A"/>
                    </a:solidFill>
                  </a:rPr>
                  <a:t>W &gt; 1 </a:t>
                </a:r>
                <a:r>
                  <a:rPr lang="zh-CN" altLang="en-US" sz="2400" b="1" dirty="0">
                    <a:solidFill>
                      <a:srgbClr val="25557A"/>
                    </a:solidFill>
                  </a:rPr>
                  <a:t>时）</a:t>
                </a:r>
                <a:endParaRPr lang="zh-CN" altLang="en-US" sz="2400" b="1" dirty="0">
                  <a:solidFill>
                    <a:srgbClr val="25557A"/>
                  </a:solidFill>
                </a:endParaRPr>
              </a:p>
            </p:txBody>
          </p:sp>
          <p:cxnSp>
            <p:nvCxnSpPr>
              <p:cNvPr id="38" name="直接连接符 37"/>
              <p:cNvCxnSpPr/>
              <p:nvPr/>
            </p:nvCxnSpPr>
            <p:spPr>
              <a:xfrm>
                <a:off x="1232903" y="4863908"/>
                <a:ext cx="4097913" cy="0"/>
              </a:xfrm>
              <a:prstGeom prst="line">
                <a:avLst/>
              </a:prstGeom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文本框 38"/>
              <p:cNvSpPr txBox="1"/>
              <p:nvPr/>
            </p:nvSpPr>
            <p:spPr>
              <a:xfrm>
                <a:off x="1188085" y="4903442"/>
                <a:ext cx="4283710" cy="15693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 algn="just">
                  <a:lnSpc>
                    <a:spcPct val="130000"/>
                  </a:lnSpc>
                </a:pPr>
                <a:r>
                  <a:rPr lang="zh-CN" altLang="en-US" sz="1400" dirty="0"/>
                  <a:t>输入 (</a:t>
                </a:r>
                <a:r>
                  <a:rPr lang="en-US" altLang="zh-CN" sz="1400" dirty="0"/>
                  <a:t>S, H, W)（W&gt;1）</a:t>
                </a:r>
                <a:r>
                  <a:rPr lang="zh-CN" altLang="en-US" sz="1400" dirty="0"/>
                  <a:t>的三维图时，</a:t>
                </a:r>
                <a:r>
                  <a:rPr lang="en-US" altLang="zh-CN" sz="1400" dirty="0"/>
                  <a:t>squeeze(-1) </a:t>
                </a:r>
                <a:r>
                  <a:rPr lang="zh-CN" altLang="en-US" sz="1400" dirty="0"/>
                  <a:t>发现末维不是 1，什么都不做，把带“多余末维”的张量原样传给下游：</a:t>
                </a:r>
                <a:endParaRPr lang="zh-CN" altLang="en-US" sz="1400" dirty="0"/>
              </a:p>
              <a:p>
                <a:pPr algn="just">
                  <a:lnSpc>
                    <a:spcPct val="130000"/>
                  </a:lnSpc>
                </a:pPr>
                <a:r>
                  <a:rPr lang="zh-CN" altLang="en-US" sz="1400" dirty="0"/>
                  <a:t>下游按 (</a:t>
                </a:r>
                <a:r>
                  <a:rPr lang="en-US" altLang="zh-CN" sz="1400" dirty="0"/>
                  <a:t>H, W) </a:t>
                </a:r>
                <a:r>
                  <a:rPr lang="zh-CN" altLang="en-US" sz="1400" dirty="0"/>
                  <a:t>矩阵处理一个 (</a:t>
                </a:r>
                <a:r>
                  <a:rPr lang="en-US" altLang="zh-CN" sz="1400" dirty="0"/>
                  <a:t>H, W) </a:t>
                </a:r>
                <a:r>
                  <a:rPr lang="zh-CN" altLang="en-US" sz="1400" dirty="0"/>
                  <a:t>实际被解释错位的张量——反投影出的世界点云整体错误：点的坐标、数量或形状不对，但函数正常返回、无任何异常。</a:t>
                </a:r>
                <a:endParaRPr lang="zh-CN" altLang="en-US" dirty="0"/>
              </a:p>
              <a:p>
                <a:pPr algn="just">
                  <a:lnSpc>
                    <a:spcPct val="130000"/>
                  </a:lnSpc>
                </a:pPr>
                <a:endParaRPr lang="zh-CN" altLang="en-US" dirty="0"/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13940" y="1944"/>
              <a:ext cx="3665" cy="3666"/>
              <a:chOff x="13940" y="1944"/>
              <a:chExt cx="3665" cy="3666"/>
            </a:xfrm>
          </p:grpSpPr>
          <p:pic>
            <p:nvPicPr>
              <p:cNvPr id="40" name="图片 39" descr="C:\Users\14638\Desktop\IMG_2587(20220923-102336).JPGIMG_2587(20220923-102336)"/>
              <p:cNvPicPr/>
              <p:nvPr/>
            </p:nvPicPr>
            <p:blipFill rotWithShape="1">
              <a:blip r:embed="rId3"/>
              <a:srcRect/>
              <a:stretch>
                <a:fillRect/>
              </a:stretch>
            </p:blipFill>
            <p:spPr>
              <a:xfrm>
                <a:off x="13940" y="1944"/>
                <a:ext cx="3665" cy="3666"/>
              </a:xfrm>
              <a:prstGeom prst="rect">
                <a:avLst/>
              </a:prstGeom>
            </p:spPr>
          </p:pic>
          <p:pic>
            <p:nvPicPr>
              <p:cNvPr id="18" name="图片 17" descr="小招logo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922" y="4366"/>
                <a:ext cx="1701" cy="952"/>
              </a:xfrm>
              <a:prstGeom prst="rect">
                <a:avLst/>
              </a:prstGeom>
            </p:spPr>
          </p:pic>
        </p:grpSp>
        <p:pic>
          <p:nvPicPr>
            <p:cNvPr id="24" name="图片 23" descr="小招logo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41" y="8427"/>
              <a:ext cx="1701" cy="952"/>
            </a:xfrm>
            <a:prstGeom prst="rect">
              <a:avLst/>
            </a:prstGeom>
          </p:spPr>
        </p:pic>
      </p:grpSp>
    </p:spTree>
    <p:custDataLst>
      <p:tags r:id="rId5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51155" y="325120"/>
            <a:ext cx="4559300" cy="1015365"/>
            <a:chOff x="1572" y="494"/>
            <a:chExt cx="7180" cy="1599"/>
          </a:xfrm>
        </p:grpSpPr>
        <p:grpSp>
          <p:nvGrpSpPr>
            <p:cNvPr id="8" name="组合 7"/>
            <p:cNvGrpSpPr/>
            <p:nvPr/>
          </p:nvGrpSpPr>
          <p:grpSpPr>
            <a:xfrm>
              <a:off x="1572" y="494"/>
              <a:ext cx="2047" cy="1599"/>
              <a:chOff x="2761095" y="2248418"/>
              <a:chExt cx="1948563" cy="1522661"/>
            </a:xfrm>
          </p:grpSpPr>
          <p:sp>
            <p:nvSpPr>
              <p:cNvPr id="9" name="矩形: 圆角 24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2910670" y="2248418"/>
                <a:ext cx="1798988" cy="1522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6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6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3078" y="751"/>
              <a:ext cx="3088" cy="919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zh-CN" altLang="en-US" sz="3200" b="1" spc="300" dirty="0">
                  <a:latin typeface="微软雅黑" panose="020B0503020204020204" charset="-122"/>
                  <a:ea typeface="微软雅黑" panose="020B0503020204020204" charset="-122"/>
                </a:rPr>
                <a:t>忽视原因</a:t>
              </a:r>
              <a:endParaRPr lang="zh-CN" altLang="en-US" sz="32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107" y="1365"/>
              <a:ext cx="5645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3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FIX SUGGESTION &amp; REGRESSION</a:t>
              </a:r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9" name="矩形: 圆角 18"/>
          <p:cNvSpPr/>
          <p:nvPr/>
        </p:nvSpPr>
        <p:spPr>
          <a:xfrm>
            <a:off x="977900" y="1648460"/>
            <a:ext cx="10236200" cy="45834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13" name="任意多边形: 形状 21"/>
          <p:cNvSpPr/>
          <p:nvPr/>
        </p:nvSpPr>
        <p:spPr>
          <a:xfrm>
            <a:off x="977900" y="2575560"/>
            <a:ext cx="1675765" cy="2781300"/>
          </a:xfrm>
          <a:custGeom>
            <a:avLst/>
            <a:gdLst>
              <a:gd name="connsiteX0" fmla="*/ 284837 w 1675487"/>
              <a:gd name="connsiteY0" fmla="*/ 0 h 2781300"/>
              <a:gd name="connsiteX1" fmla="*/ 1675487 w 1675487"/>
              <a:gd name="connsiteY1" fmla="*/ 1390650 h 2781300"/>
              <a:gd name="connsiteX2" fmla="*/ 284837 w 1675487"/>
              <a:gd name="connsiteY2" fmla="*/ 2781300 h 2781300"/>
              <a:gd name="connsiteX3" fmla="*/ 4573 w 1675487"/>
              <a:gd name="connsiteY3" fmla="*/ 2753047 h 2781300"/>
              <a:gd name="connsiteX4" fmla="*/ 0 w 1675487"/>
              <a:gd name="connsiteY4" fmla="*/ 2751872 h 2781300"/>
              <a:gd name="connsiteX5" fmla="*/ 0 w 1675487"/>
              <a:gd name="connsiteY5" fmla="*/ 29429 h 2781300"/>
              <a:gd name="connsiteX6" fmla="*/ 4573 w 1675487"/>
              <a:gd name="connsiteY6" fmla="*/ 28253 h 2781300"/>
              <a:gd name="connsiteX7" fmla="*/ 284837 w 1675487"/>
              <a:gd name="connsiteY7" fmla="*/ 0 h 278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75487" h="2781300">
                <a:moveTo>
                  <a:pt x="284837" y="0"/>
                </a:moveTo>
                <a:cubicBezTo>
                  <a:pt x="1052872" y="0"/>
                  <a:pt x="1675487" y="622615"/>
                  <a:pt x="1675487" y="1390650"/>
                </a:cubicBezTo>
                <a:cubicBezTo>
                  <a:pt x="1675487" y="2158685"/>
                  <a:pt x="1052872" y="2781300"/>
                  <a:pt x="284837" y="2781300"/>
                </a:cubicBezTo>
                <a:cubicBezTo>
                  <a:pt x="188833" y="2781300"/>
                  <a:pt x="95101" y="2771572"/>
                  <a:pt x="4573" y="2753047"/>
                </a:cubicBezTo>
                <a:lnTo>
                  <a:pt x="0" y="2751872"/>
                </a:lnTo>
                <a:lnTo>
                  <a:pt x="0" y="29429"/>
                </a:lnTo>
                <a:lnTo>
                  <a:pt x="4573" y="28253"/>
                </a:lnTo>
                <a:cubicBezTo>
                  <a:pt x="95101" y="9729"/>
                  <a:pt x="188833" y="0"/>
                  <a:pt x="284837" y="0"/>
                </a:cubicBezTo>
                <a:close/>
              </a:path>
            </a:pathLst>
          </a:cu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169035" y="3429000"/>
            <a:ext cx="1071880" cy="1076325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zh-CN" sz="32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忽视</a:t>
            </a:r>
            <a:endParaRPr lang="zh-CN" sz="3200" b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32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原因</a:t>
            </a:r>
            <a:endParaRPr lang="zh-CN" sz="3200" b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5" name="组合 14"/>
          <p:cNvGrpSpPr/>
          <p:nvPr>
            <p:custDataLst>
              <p:tags r:id="rId1"/>
            </p:custDataLst>
          </p:nvPr>
        </p:nvGrpSpPr>
        <p:grpSpPr>
          <a:xfrm rot="0">
            <a:off x="2890520" y="2061845"/>
            <a:ext cx="8256667" cy="1218106"/>
            <a:chOff x="3134969" y="2228849"/>
            <a:chExt cx="8256399" cy="1218284"/>
          </a:xfrm>
        </p:grpSpPr>
        <p:sp>
          <p:nvSpPr>
            <p:cNvPr id="18" name="椭圆 17"/>
            <p:cNvSpPr/>
            <p:nvPr>
              <p:custDataLst>
                <p:tags r:id="rId2"/>
              </p:custDataLst>
            </p:nvPr>
          </p:nvSpPr>
          <p:spPr>
            <a:xfrm>
              <a:off x="3134969" y="2228849"/>
              <a:ext cx="435661" cy="435661"/>
            </a:xfrm>
            <a:prstGeom prst="ellips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1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3765265" y="2243632"/>
              <a:ext cx="7626103" cy="1203501"/>
              <a:chOff x="7893455" y="4126834"/>
              <a:chExt cx="7626103" cy="1203501"/>
            </a:xfrm>
          </p:grpSpPr>
          <p:sp>
            <p:nvSpPr>
              <p:cNvPr id="32" name="矩形 31"/>
              <p:cNvSpPr/>
              <p:nvPr>
                <p:custDataLst>
                  <p:tags r:id="rId3"/>
                </p:custDataLst>
              </p:nvPr>
            </p:nvSpPr>
            <p:spPr>
              <a:xfrm>
                <a:off x="7893455" y="4126834"/>
                <a:ext cx="2240242" cy="3683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r>
                  <a:rPr lang="zh-CN" altLang="en-US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对结果影响不大</a:t>
                </a:r>
                <a:endParaRPr lang="zh-CN" altLang="en-US" b="1" dirty="0">
                  <a:solidFill>
                    <a:srgbClr val="25557A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3" name="文本框 32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9675258" y="4220231"/>
                <a:ext cx="2665723" cy="2140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endParaRPr lang="zh-CN" sz="8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4" name="文本框 33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7893455" y="4377061"/>
                <a:ext cx="7626103" cy="9532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>
                  <a:lnSpc>
                    <a:spcPct val="200000"/>
                  </a:lnSpc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绝大多数用户都输入图像或者视频，这种情况下软件完全正常，因为数据本身就被解读为四维；</a:t>
                </a:r>
                <a:endPara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但该算法在文档用提到可以用三维输入，此时错删维度才会出现问题。</a:t>
                </a:r>
                <a:endPara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35" name="组合 34"/>
          <p:cNvGrpSpPr/>
          <p:nvPr>
            <p:custDataLst>
              <p:tags r:id="rId6"/>
            </p:custDataLst>
          </p:nvPr>
        </p:nvGrpSpPr>
        <p:grpSpPr>
          <a:xfrm rot="0">
            <a:off x="3521075" y="3430905"/>
            <a:ext cx="7355205" cy="1218069"/>
            <a:chOff x="3134969" y="2228849"/>
            <a:chExt cx="7354946" cy="1218247"/>
          </a:xfrm>
        </p:grpSpPr>
        <p:sp>
          <p:nvSpPr>
            <p:cNvPr id="36" name="椭圆 35"/>
            <p:cNvSpPr/>
            <p:nvPr>
              <p:custDataLst>
                <p:tags r:id="rId7"/>
              </p:custDataLst>
            </p:nvPr>
          </p:nvSpPr>
          <p:spPr>
            <a:xfrm>
              <a:off x="3134969" y="2228849"/>
              <a:ext cx="435661" cy="435661"/>
            </a:xfrm>
            <a:prstGeom prst="ellips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2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765265" y="2243632"/>
              <a:ext cx="6724650" cy="1203464"/>
              <a:chOff x="7893455" y="4126834"/>
              <a:chExt cx="6724650" cy="1203464"/>
            </a:xfrm>
          </p:grpSpPr>
          <p:sp>
            <p:nvSpPr>
              <p:cNvPr id="38" name="矩形 37"/>
              <p:cNvSpPr/>
              <p:nvPr>
                <p:custDataLst>
                  <p:tags r:id="rId8"/>
                </p:custDataLst>
              </p:nvPr>
            </p:nvSpPr>
            <p:spPr>
              <a:xfrm>
                <a:off x="7893455" y="4126834"/>
                <a:ext cx="4592158" cy="3683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r>
                  <a:rPr lang="zh-CN" altLang="en-US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软件特性</a:t>
                </a:r>
                <a:endParaRPr lang="zh-CN" altLang="en-US" dirty="0">
                  <a:solidFill>
                    <a:schemeClr val="accent5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9" name="文本框 38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9465708" y="4220231"/>
                <a:ext cx="2665723" cy="2140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endParaRPr lang="zh-CN" sz="8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0" name="文本框 39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7893455" y="4377024"/>
                <a:ext cx="6724650" cy="9532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>
                  <a:lnSpc>
                    <a:spcPct val="200000"/>
                  </a:lnSpc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软件本身属于前沿实验性质，有问题是正常的；</a:t>
                </a:r>
                <a:endPara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软件开源本身就有让社区用户帮助测试</a:t>
                </a:r>
                <a:r>
                  <a:rPr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BUG</a:t>
                </a: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的意图。</a:t>
                </a:r>
                <a:endPara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41" name="组合 40"/>
          <p:cNvGrpSpPr/>
          <p:nvPr>
            <p:custDataLst>
              <p:tags r:id="rId11"/>
            </p:custDataLst>
          </p:nvPr>
        </p:nvGrpSpPr>
        <p:grpSpPr>
          <a:xfrm rot="0">
            <a:off x="2890520" y="4800600"/>
            <a:ext cx="7985125" cy="1218069"/>
            <a:chOff x="3134969" y="2228849"/>
            <a:chExt cx="7984866" cy="1218247"/>
          </a:xfrm>
        </p:grpSpPr>
        <p:sp>
          <p:nvSpPr>
            <p:cNvPr id="28" name="椭圆 27"/>
            <p:cNvSpPr/>
            <p:nvPr>
              <p:custDataLst>
                <p:tags r:id="rId12"/>
              </p:custDataLst>
            </p:nvPr>
          </p:nvSpPr>
          <p:spPr>
            <a:xfrm>
              <a:off x="3134969" y="2228849"/>
              <a:ext cx="435661" cy="435661"/>
            </a:xfrm>
            <a:prstGeom prst="ellips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3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3765265" y="2243632"/>
              <a:ext cx="7354570" cy="1203464"/>
              <a:chOff x="7893455" y="4126834"/>
              <a:chExt cx="7354570" cy="1203464"/>
            </a:xfrm>
          </p:grpSpPr>
          <p:sp>
            <p:nvSpPr>
              <p:cNvPr id="44" name="矩形 43"/>
              <p:cNvSpPr/>
              <p:nvPr>
                <p:custDataLst>
                  <p:tags r:id="rId13"/>
                </p:custDataLst>
              </p:nvPr>
            </p:nvSpPr>
            <p:spPr>
              <a:xfrm>
                <a:off x="7893455" y="4126834"/>
                <a:ext cx="2240242" cy="3683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r>
                  <a:rPr lang="zh-CN" altLang="en-US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软件测试不够机细致</a:t>
                </a:r>
                <a:endParaRPr lang="zh-CN" altLang="en-US" dirty="0">
                  <a:solidFill>
                    <a:schemeClr val="accent5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7" name="文本框 46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7893455" y="4377024"/>
                <a:ext cx="7354570" cy="9532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>
                  <a:lnSpc>
                    <a:spcPct val="200000"/>
                  </a:lnSpc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如果把软件内部结构当成黑箱，只从可视化界面入口处输入样例检测，则永远无法发现问题</a:t>
                </a:r>
                <a:endPara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只有将软件内部各个函数</a:t>
                </a:r>
                <a:r>
                  <a:rPr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/</a:t>
                </a: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模块单独检测才能发现问题</a:t>
                </a:r>
                <a:endPara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pic>
        <p:nvPicPr>
          <p:cNvPr id="12" name="图片 11" descr="图书馆"/>
          <p:cNvPicPr>
            <a:picLocks noChangeAspect="1"/>
          </p:cNvPicPr>
          <p:nvPr/>
        </p:nvPicPr>
        <p:blipFill>
          <a:blip r:embed="rId15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  <p:grpSp>
        <p:nvGrpSpPr>
          <p:cNvPr id="16" name="组合 15"/>
          <p:cNvGrpSpPr/>
          <p:nvPr userDrawn="1"/>
        </p:nvGrpSpPr>
        <p:grpSpPr>
          <a:xfrm>
            <a:off x="10289667" y="-801077"/>
            <a:ext cx="1902333" cy="2044520"/>
            <a:chOff x="8135783" y="-1669981"/>
            <a:chExt cx="4056217" cy="4359393"/>
          </a:xfrm>
        </p:grpSpPr>
        <p:sp>
          <p:nvSpPr>
            <p:cNvPr id="17" name="任意多边形: 形状 10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直角三角形 19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16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51155" y="325120"/>
            <a:ext cx="4559300" cy="1015365"/>
            <a:chOff x="1572" y="494"/>
            <a:chExt cx="7180" cy="1599"/>
          </a:xfrm>
        </p:grpSpPr>
        <p:grpSp>
          <p:nvGrpSpPr>
            <p:cNvPr id="8" name="组合 7"/>
            <p:cNvGrpSpPr/>
            <p:nvPr/>
          </p:nvGrpSpPr>
          <p:grpSpPr>
            <a:xfrm>
              <a:off x="1572" y="494"/>
              <a:ext cx="2047" cy="1599"/>
              <a:chOff x="2761095" y="2248418"/>
              <a:chExt cx="1948563" cy="1522661"/>
            </a:xfrm>
          </p:grpSpPr>
          <p:sp>
            <p:nvSpPr>
              <p:cNvPr id="9" name="矩形: 圆角 24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2910670" y="2248418"/>
                <a:ext cx="1798988" cy="1522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6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6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3078" y="751"/>
              <a:ext cx="3088" cy="919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zh-CN" altLang="en-US" sz="3200" b="1" spc="300" dirty="0">
                  <a:latin typeface="微软雅黑" panose="020B0503020204020204" charset="-122"/>
                  <a:ea typeface="微软雅黑" panose="020B0503020204020204" charset="-122"/>
                </a:rPr>
                <a:t>修复建议</a:t>
              </a:r>
              <a:endParaRPr lang="zh-CN" altLang="en-US" sz="32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107" y="1365"/>
              <a:ext cx="5645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3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FIX SUGGESTION &amp; REGRESSION</a:t>
              </a:r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9" name="矩形: 圆角 18"/>
          <p:cNvSpPr/>
          <p:nvPr/>
        </p:nvSpPr>
        <p:spPr>
          <a:xfrm>
            <a:off x="977900" y="1648460"/>
            <a:ext cx="10236200" cy="45834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13" name="任意多边形: 形状 21"/>
          <p:cNvSpPr/>
          <p:nvPr/>
        </p:nvSpPr>
        <p:spPr>
          <a:xfrm>
            <a:off x="977900" y="2575560"/>
            <a:ext cx="1675765" cy="2781300"/>
          </a:xfrm>
          <a:custGeom>
            <a:avLst/>
            <a:gdLst>
              <a:gd name="connsiteX0" fmla="*/ 284837 w 1675487"/>
              <a:gd name="connsiteY0" fmla="*/ 0 h 2781300"/>
              <a:gd name="connsiteX1" fmla="*/ 1675487 w 1675487"/>
              <a:gd name="connsiteY1" fmla="*/ 1390650 h 2781300"/>
              <a:gd name="connsiteX2" fmla="*/ 284837 w 1675487"/>
              <a:gd name="connsiteY2" fmla="*/ 2781300 h 2781300"/>
              <a:gd name="connsiteX3" fmla="*/ 4573 w 1675487"/>
              <a:gd name="connsiteY3" fmla="*/ 2753047 h 2781300"/>
              <a:gd name="connsiteX4" fmla="*/ 0 w 1675487"/>
              <a:gd name="connsiteY4" fmla="*/ 2751872 h 2781300"/>
              <a:gd name="connsiteX5" fmla="*/ 0 w 1675487"/>
              <a:gd name="connsiteY5" fmla="*/ 29429 h 2781300"/>
              <a:gd name="connsiteX6" fmla="*/ 4573 w 1675487"/>
              <a:gd name="connsiteY6" fmla="*/ 28253 h 2781300"/>
              <a:gd name="connsiteX7" fmla="*/ 284837 w 1675487"/>
              <a:gd name="connsiteY7" fmla="*/ 0 h 278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75487" h="2781300">
                <a:moveTo>
                  <a:pt x="284837" y="0"/>
                </a:moveTo>
                <a:cubicBezTo>
                  <a:pt x="1052872" y="0"/>
                  <a:pt x="1675487" y="622615"/>
                  <a:pt x="1675487" y="1390650"/>
                </a:cubicBezTo>
                <a:cubicBezTo>
                  <a:pt x="1675487" y="2158685"/>
                  <a:pt x="1052872" y="2781300"/>
                  <a:pt x="284837" y="2781300"/>
                </a:cubicBezTo>
                <a:cubicBezTo>
                  <a:pt x="188833" y="2781300"/>
                  <a:pt x="95101" y="2771572"/>
                  <a:pt x="4573" y="2753047"/>
                </a:cubicBezTo>
                <a:lnTo>
                  <a:pt x="0" y="2751872"/>
                </a:lnTo>
                <a:lnTo>
                  <a:pt x="0" y="29429"/>
                </a:lnTo>
                <a:lnTo>
                  <a:pt x="4573" y="28253"/>
                </a:lnTo>
                <a:cubicBezTo>
                  <a:pt x="95101" y="9729"/>
                  <a:pt x="188833" y="0"/>
                  <a:pt x="284837" y="0"/>
                </a:cubicBezTo>
                <a:close/>
              </a:path>
            </a:pathLst>
          </a:cu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169035" y="3429000"/>
            <a:ext cx="1071880" cy="1076325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zh-CN" sz="32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修复</a:t>
            </a:r>
            <a:endParaRPr lang="zh-CN" sz="3200" b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32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方案</a:t>
            </a:r>
            <a:endParaRPr lang="zh-CN" sz="3200" b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5" name="组合 14"/>
          <p:cNvGrpSpPr/>
          <p:nvPr>
            <p:custDataLst>
              <p:tags r:id="rId1"/>
            </p:custDataLst>
          </p:nvPr>
        </p:nvGrpSpPr>
        <p:grpSpPr>
          <a:xfrm rot="0">
            <a:off x="2890520" y="2061845"/>
            <a:ext cx="7985125" cy="1217930"/>
            <a:chOff x="3134969" y="2228849"/>
            <a:chExt cx="7984866" cy="1218108"/>
          </a:xfrm>
        </p:grpSpPr>
        <p:sp>
          <p:nvSpPr>
            <p:cNvPr id="18" name="椭圆 17"/>
            <p:cNvSpPr/>
            <p:nvPr>
              <p:custDataLst>
                <p:tags r:id="rId2"/>
              </p:custDataLst>
            </p:nvPr>
          </p:nvSpPr>
          <p:spPr>
            <a:xfrm>
              <a:off x="3134969" y="2228849"/>
              <a:ext cx="435661" cy="435661"/>
            </a:xfrm>
            <a:prstGeom prst="ellips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1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3765265" y="2243632"/>
              <a:ext cx="7354570" cy="1203325"/>
              <a:chOff x="7893455" y="4126834"/>
              <a:chExt cx="7354570" cy="1203325"/>
            </a:xfrm>
          </p:grpSpPr>
          <p:sp>
            <p:nvSpPr>
              <p:cNvPr id="32" name="矩形 31"/>
              <p:cNvSpPr/>
              <p:nvPr>
                <p:custDataLst>
                  <p:tags r:id="rId3"/>
                </p:custDataLst>
              </p:nvPr>
            </p:nvSpPr>
            <p:spPr>
              <a:xfrm>
                <a:off x="7893455" y="4126834"/>
                <a:ext cx="2240242" cy="3683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r>
                  <a:rPr lang="zh-CN" altLang="en-US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条件式 squeeze</a:t>
                </a:r>
                <a:endParaRPr lang="zh-CN" altLang="en-US" b="1" dirty="0">
                  <a:solidFill>
                    <a:srgbClr val="25557A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3" name="文本框 32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9675258" y="4220231"/>
                <a:ext cx="2665723" cy="2140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r>
                  <a:rPr lang="zh-CN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删掉长度为一的维度</a:t>
                </a:r>
                <a:endParaRPr lang="zh-CN" sz="8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4" name="文本框 33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7893455" y="4377024"/>
                <a:ext cx="7354570" cy="953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>
                  <a:lnSpc>
                    <a:spcPct val="200000"/>
                  </a:lnSpc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第 39 行前判断 ndim==4 且末维为 1 再取 [..., 0]；用 ndim 判断而非看末维是否为 1，避免误伤 W=1 的合法三维输入。</a:t>
                </a:r>
                <a:endPara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35" name="组合 34"/>
          <p:cNvGrpSpPr/>
          <p:nvPr>
            <p:custDataLst>
              <p:tags r:id="rId6"/>
            </p:custDataLst>
          </p:nvPr>
        </p:nvGrpSpPr>
        <p:grpSpPr>
          <a:xfrm rot="0">
            <a:off x="3521075" y="3430905"/>
            <a:ext cx="7355205" cy="1217930"/>
            <a:chOff x="3134969" y="2228849"/>
            <a:chExt cx="7354946" cy="1218108"/>
          </a:xfrm>
        </p:grpSpPr>
        <p:sp>
          <p:nvSpPr>
            <p:cNvPr id="36" name="椭圆 35"/>
            <p:cNvSpPr/>
            <p:nvPr>
              <p:custDataLst>
                <p:tags r:id="rId7"/>
              </p:custDataLst>
            </p:nvPr>
          </p:nvSpPr>
          <p:spPr>
            <a:xfrm>
              <a:off x="3134969" y="2228849"/>
              <a:ext cx="435661" cy="435661"/>
            </a:xfrm>
            <a:prstGeom prst="ellips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2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765265" y="2243632"/>
              <a:ext cx="6724650" cy="1203325"/>
              <a:chOff x="7893455" y="4126834"/>
              <a:chExt cx="6724650" cy="1203325"/>
            </a:xfrm>
          </p:grpSpPr>
          <p:sp>
            <p:nvSpPr>
              <p:cNvPr id="38" name="矩形 37"/>
              <p:cNvSpPr/>
              <p:nvPr>
                <p:custDataLst>
                  <p:tags r:id="rId8"/>
                </p:custDataLst>
              </p:nvPr>
            </p:nvSpPr>
            <p:spPr>
              <a:xfrm>
                <a:off x="7893455" y="4126834"/>
                <a:ext cx="2240242" cy="3683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r>
                  <a:rPr lang="zh-CN" altLang="en-US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入口防御</a:t>
                </a:r>
                <a:endParaRPr lang="zh-CN" altLang="en-US" dirty="0">
                  <a:solidFill>
                    <a:schemeClr val="accent5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9" name="文本框 38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9465708" y="4220231"/>
                <a:ext cx="2665723" cy="2140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endParaRPr lang="zh-CN" sz="8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0" name="文本框 39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7893455" y="4377024"/>
                <a:ext cx="6724650" cy="953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>
                  <a:lnSpc>
                    <a:spcPct val="200000"/>
                  </a:lnSpc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入口校验 ndim∈{3,4}，非法形状抛出带形状信息的明确错误；若不改代码则须把 docstring 收窄为仅 (S, H, W, 1)，文档与实现二者必居其一。</a:t>
                </a:r>
                <a:endPara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41" name="组合 40"/>
          <p:cNvGrpSpPr/>
          <p:nvPr>
            <p:custDataLst>
              <p:tags r:id="rId11"/>
            </p:custDataLst>
          </p:nvPr>
        </p:nvGrpSpPr>
        <p:grpSpPr>
          <a:xfrm rot="0">
            <a:off x="2890520" y="4800600"/>
            <a:ext cx="7985125" cy="786904"/>
            <a:chOff x="3134969" y="2228849"/>
            <a:chExt cx="7984866" cy="787019"/>
          </a:xfrm>
        </p:grpSpPr>
        <p:sp>
          <p:nvSpPr>
            <p:cNvPr id="28" name="椭圆 27"/>
            <p:cNvSpPr/>
            <p:nvPr>
              <p:custDataLst>
                <p:tags r:id="rId12"/>
              </p:custDataLst>
            </p:nvPr>
          </p:nvSpPr>
          <p:spPr>
            <a:xfrm>
              <a:off x="3134969" y="2228849"/>
              <a:ext cx="435661" cy="435661"/>
            </a:xfrm>
            <a:prstGeom prst="ellips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3</a:t>
              </a:r>
              <a:endParaRPr lang="en-US" altLang="zh-CN" sz="16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3765265" y="2243632"/>
              <a:ext cx="7354570" cy="772236"/>
              <a:chOff x="7893455" y="4126834"/>
              <a:chExt cx="7354570" cy="772236"/>
            </a:xfrm>
          </p:grpSpPr>
          <p:sp>
            <p:nvSpPr>
              <p:cNvPr id="44" name="矩形 43"/>
              <p:cNvSpPr/>
              <p:nvPr>
                <p:custDataLst>
                  <p:tags r:id="rId13"/>
                </p:custDataLst>
              </p:nvPr>
            </p:nvSpPr>
            <p:spPr>
              <a:xfrm>
                <a:off x="7893455" y="4126834"/>
                <a:ext cx="2240242" cy="3683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r>
                  <a:rPr lang="zh-CN" altLang="en-US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回归验证</a:t>
                </a:r>
                <a:endParaRPr lang="zh-CN" altLang="en-US" dirty="0">
                  <a:solidFill>
                    <a:schemeClr val="accent5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5" name="文本框 44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9465708" y="4220231"/>
                <a:ext cx="2665723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REGRESSION</a:t>
                </a:r>
                <a:r>
                  <a:rPr lang="en-US" altLang="zh-CN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 | </a:t>
                </a:r>
                <a:r>
                  <a:rPr lang="zh-CN" altLang="en-US" sz="8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33 ALL GREEN</a:t>
                </a:r>
                <a:endPara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7" name="文本框 46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7893455" y="4377024"/>
                <a:ext cx="7354570" cy="5220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>
                  <a:lnSpc>
                    <a:spcPct val="200000"/>
                  </a:lnSpc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修复后重跑一键测试：33 条应全部通过（016/018 转绿、017 不回归）</a:t>
                </a:r>
                <a:endPara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pic>
        <p:nvPicPr>
          <p:cNvPr id="12" name="图片 11" descr="图书馆"/>
          <p:cNvPicPr>
            <a:picLocks noChangeAspect="1"/>
          </p:cNvPicPr>
          <p:nvPr/>
        </p:nvPicPr>
        <p:blipFill>
          <a:blip r:embed="rId16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  <p:grpSp>
        <p:nvGrpSpPr>
          <p:cNvPr id="16" name="组合 15"/>
          <p:cNvGrpSpPr/>
          <p:nvPr userDrawn="1"/>
        </p:nvGrpSpPr>
        <p:grpSpPr>
          <a:xfrm>
            <a:off x="10289667" y="-801077"/>
            <a:ext cx="1902333" cy="2044520"/>
            <a:chOff x="8135783" y="-1669981"/>
            <a:chExt cx="4056217" cy="4359393"/>
          </a:xfrm>
        </p:grpSpPr>
        <p:sp>
          <p:nvSpPr>
            <p:cNvPr id="17" name="任意多边形: 形状 10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直角三角形 19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17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10289667" y="-801077"/>
            <a:ext cx="1902333" cy="2044520"/>
            <a:chOff x="8135783" y="-1669981"/>
            <a:chExt cx="4056217" cy="4359393"/>
          </a:xfrm>
        </p:grpSpPr>
        <p:sp>
          <p:nvSpPr>
            <p:cNvPr id="7" name="任意多边形: 形状 10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直角三角形 4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51155" y="325120"/>
            <a:ext cx="4559300" cy="1015365"/>
            <a:chOff x="1572" y="494"/>
            <a:chExt cx="7180" cy="1599"/>
          </a:xfrm>
        </p:grpSpPr>
        <p:grpSp>
          <p:nvGrpSpPr>
            <p:cNvPr id="8" name="组合 7"/>
            <p:cNvGrpSpPr/>
            <p:nvPr/>
          </p:nvGrpSpPr>
          <p:grpSpPr>
            <a:xfrm>
              <a:off x="1572" y="494"/>
              <a:ext cx="2047" cy="1599"/>
              <a:chOff x="2761095" y="2248418"/>
              <a:chExt cx="1948563" cy="1522661"/>
            </a:xfrm>
          </p:grpSpPr>
          <p:sp>
            <p:nvSpPr>
              <p:cNvPr id="9" name="矩形: 圆角 24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2910670" y="2248418"/>
                <a:ext cx="1798988" cy="1522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6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  <a:endParaRPr lang="en-US" altLang="zh-CN" sz="6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3078" y="751"/>
              <a:ext cx="3788" cy="919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zh-CN" altLang="en-US" sz="3200" b="1" spc="300" dirty="0">
                  <a:latin typeface="微软雅黑" panose="020B0503020204020204" charset="-122"/>
                  <a:ea typeface="微软雅黑" panose="020B0503020204020204" charset="-122"/>
                </a:rPr>
                <a:t>四条结论，每条都有数据支撑</a:t>
              </a:r>
              <a:endParaRPr lang="zh-CN" altLang="en-US" sz="32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107" y="1365"/>
              <a:ext cx="5645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3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CONCLUSIONS</a:t>
              </a:r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1092200" y="1900980"/>
            <a:ext cx="2299929" cy="3559277"/>
          </a:xfrm>
          <a:prstGeom prst="rect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693522" y="2200283"/>
            <a:ext cx="1097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质量结论</a:t>
            </a:r>
            <a:endParaRPr lang="zh-CN" altLang="en-US"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3"/>
            </p:custDataLst>
          </p:nvPr>
        </p:nvSpPr>
        <p:spPr>
          <a:xfrm>
            <a:off x="1263853" y="2961251"/>
            <a:ext cx="1956619" cy="2267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50000"/>
              </a:lnSpc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31/33 通过，唯一失败同源于一个缺陷；被测模块质量整体可信。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4"/>
            </p:custDataLst>
          </p:nvPr>
        </p:nvCxnSpPr>
        <p:spPr>
          <a:xfrm>
            <a:off x="1466630" y="2811599"/>
            <a:ext cx="1551069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32416B">
                    <a:alpha val="0"/>
                  </a:srgbClr>
                </a:gs>
                <a:gs pos="50000">
                  <a:schemeClr val="bg1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>
            <p:custDataLst>
              <p:tags r:id="rId5"/>
            </p:custDataLst>
          </p:nvPr>
        </p:nvSpPr>
        <p:spPr>
          <a:xfrm>
            <a:off x="3661424" y="1900980"/>
            <a:ext cx="2299929" cy="3559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6"/>
            </p:custDataLst>
          </p:nvPr>
        </p:nvSpPr>
        <p:spPr>
          <a:xfrm>
            <a:off x="4262745" y="2200283"/>
            <a:ext cx="1097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缺陷处置</a:t>
            </a:r>
            <a:endParaRPr lang="zh-CN" altLang="en-US" sz="24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7"/>
            </p:custDataLst>
          </p:nvPr>
        </p:nvSpPr>
        <p:spPr>
          <a:xfrm>
            <a:off x="3833077" y="2961251"/>
            <a:ext cx="1956619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5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缺陷已登记并给出修复建议并进行实验性修复。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8"/>
            </p:custDataLst>
          </p:nvPr>
        </p:nvCxnSpPr>
        <p:spPr>
          <a:xfrm>
            <a:off x="4035854" y="2811599"/>
            <a:ext cx="1551069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32416B">
                    <a:alpha val="0"/>
                  </a:srgbClr>
                </a:gs>
                <a:gs pos="50000">
                  <a:srgbClr val="32416B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>
            <p:custDataLst>
              <p:tags r:id="rId9"/>
            </p:custDataLst>
          </p:nvPr>
        </p:nvSpPr>
        <p:spPr>
          <a:xfrm>
            <a:off x="6230648" y="1900980"/>
            <a:ext cx="2299929" cy="3559277"/>
          </a:xfrm>
          <a:prstGeom prst="rect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0"/>
            </p:custDataLst>
          </p:nvPr>
        </p:nvSpPr>
        <p:spPr>
          <a:xfrm>
            <a:off x="6831970" y="2200283"/>
            <a:ext cx="1097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方法结论</a:t>
            </a:r>
            <a:endParaRPr lang="zh-CN" altLang="en-US"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11"/>
            </p:custDataLst>
          </p:nvPr>
        </p:nvSpPr>
        <p:spPr>
          <a:xfrm>
            <a:off x="6402301" y="2961251"/>
            <a:ext cx="1956619" cy="2267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50000"/>
              </a:lnSpc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等价类 + 边界值满足 ≥2 种要求，五类标注 32 条全部对得上账。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9" name="直接连接符 48"/>
          <p:cNvCxnSpPr/>
          <p:nvPr>
            <p:custDataLst>
              <p:tags r:id="rId12"/>
            </p:custDataLst>
          </p:nvPr>
        </p:nvCxnSpPr>
        <p:spPr>
          <a:xfrm>
            <a:off x="6605078" y="2811599"/>
            <a:ext cx="1551069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32416B">
                    <a:alpha val="0"/>
                  </a:srgbClr>
                </a:gs>
                <a:gs pos="50000">
                  <a:schemeClr val="bg1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>
            <p:custDataLst>
              <p:tags r:id="rId13"/>
            </p:custDataLst>
          </p:nvPr>
        </p:nvSpPr>
        <p:spPr>
          <a:xfrm>
            <a:off x="8799871" y="1900980"/>
            <a:ext cx="2299929" cy="3559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14"/>
            </p:custDataLst>
          </p:nvPr>
        </p:nvSpPr>
        <p:spPr>
          <a:xfrm>
            <a:off x="9401193" y="2200283"/>
            <a:ext cx="1097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工程结论</a:t>
            </a:r>
            <a:endParaRPr lang="zh-CN" altLang="en-US" sz="24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15"/>
            </p:custDataLst>
          </p:nvPr>
        </p:nvSpPr>
        <p:spPr>
          <a:xfrm>
            <a:off x="8971524" y="2961251"/>
            <a:ext cx="1956619" cy="2267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5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一条命令复现、逐位一致，可长期作为该模块的回归基线。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4" name="直接连接符 53"/>
          <p:cNvCxnSpPr/>
          <p:nvPr>
            <p:custDataLst>
              <p:tags r:id="rId16"/>
            </p:custDataLst>
          </p:nvPr>
        </p:nvCxnSpPr>
        <p:spPr>
          <a:xfrm>
            <a:off x="9174301" y="2811599"/>
            <a:ext cx="1551069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32416B">
                    <a:alpha val="0"/>
                  </a:srgbClr>
                </a:gs>
                <a:gs pos="50000">
                  <a:srgbClr val="32416B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 descr="图书馆"/>
          <p:cNvPicPr>
            <a:picLocks noChangeAspect="1"/>
          </p:cNvPicPr>
          <p:nvPr/>
        </p:nvPicPr>
        <p:blipFill>
          <a:blip r:embed="rId17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1037"/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9106535" y="5777865"/>
            <a:ext cx="3085714" cy="108000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2151380" y="2035175"/>
            <a:ext cx="7889240" cy="2787650"/>
            <a:chOff x="4143" y="4637"/>
            <a:chExt cx="12424" cy="4390"/>
          </a:xfrm>
        </p:grpSpPr>
        <p:sp>
          <p:nvSpPr>
            <p:cNvPr id="27" name="文本框 1"/>
            <p:cNvSpPr txBox="1"/>
            <p:nvPr/>
          </p:nvSpPr>
          <p:spPr>
            <a:xfrm>
              <a:off x="4143" y="4637"/>
              <a:ext cx="12424" cy="1598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p>
              <a:pPr algn="ctr" rtl="0" eaLnBrk="1" fontAlgn="auto" latinLnBrk="0" hangingPunct="1"/>
              <a:r>
                <a:rPr lang="zh-CN" sz="6000" b="1" kern="100">
                  <a:solidFill>
                    <a:srgbClr val="25557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谢谢观看</a:t>
              </a:r>
              <a:endParaRPr lang="zh-CN" sz="6000" b="1" kern="100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endParaRPr>
            </a:p>
          </p:txBody>
        </p:sp>
        <p:sp>
          <p:nvSpPr>
            <p:cNvPr id="28" name="文本框 1"/>
            <p:cNvSpPr txBox="1"/>
            <p:nvPr/>
          </p:nvSpPr>
          <p:spPr>
            <a:xfrm>
              <a:off x="7636" y="8530"/>
              <a:ext cx="5913" cy="497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algn="l" rtl="0" eaLnBrk="1" fontAlgn="auto" latinLnBrk="0" hangingPunct="1">
                <a:lnSpc>
                  <a:spcPts val="1800"/>
                </a:lnSpc>
              </a:pPr>
              <a:r>
                <a:rPr lang="zh-CN" altLang="en-US" sz="1600" kern="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汇报人丨黄国宸 曹钧杰</a:t>
              </a:r>
              <a:r>
                <a:rPr lang="en-US" altLang="zh-CN" sz="1600" kern="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  </a:t>
              </a:r>
              <a:r>
                <a:rPr lang="zh-CN" altLang="en-US" sz="1600" kern="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时间丨</a:t>
              </a:r>
              <a:r>
                <a:rPr lang="en-US" altLang="zh-CN" sz="1600" kern="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2026</a:t>
              </a:r>
              <a:r>
                <a:rPr lang="zh-CN" altLang="en-US" sz="1600" kern="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.</a:t>
              </a:r>
              <a:r>
                <a:rPr lang="en-US" altLang="zh-CN" sz="1600" kern="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9</a:t>
              </a:r>
              <a:endParaRPr lang="zh-CN" altLang="en-US" sz="1600" kern="1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endParaRPr>
            </a:p>
          </p:txBody>
        </p:sp>
        <p:sp>
          <p:nvSpPr>
            <p:cNvPr id="29" name="文本框 32"/>
            <p:cNvSpPr txBox="1"/>
            <p:nvPr/>
          </p:nvSpPr>
          <p:spPr>
            <a:xfrm>
              <a:off x="5781" y="6564"/>
              <a:ext cx="9129" cy="564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algn="ctr" rtl="0" eaLnBrk="1" fontAlgn="auto" latinLnBrk="0" hangingPunct="1">
                <a:lnSpc>
                  <a:spcPts val="2000"/>
                </a:lnSpc>
              </a:pPr>
              <a:endParaRPr lang="en-US" altLang="zh-CN" sz="2000" b="1" kern="1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7454900" y="-1959610"/>
            <a:ext cx="4737100" cy="5091430"/>
            <a:chOff x="11740" y="-3086"/>
            <a:chExt cx="7460" cy="8018"/>
          </a:xfrm>
        </p:grpSpPr>
        <p:grpSp>
          <p:nvGrpSpPr>
            <p:cNvPr id="3" name="组合 2"/>
            <p:cNvGrpSpPr/>
            <p:nvPr/>
          </p:nvGrpSpPr>
          <p:grpSpPr>
            <a:xfrm>
              <a:off x="11740" y="-3086"/>
              <a:ext cx="7460" cy="8018"/>
              <a:chOff x="8135783" y="-1669981"/>
              <a:chExt cx="4056217" cy="4359393"/>
            </a:xfrm>
          </p:grpSpPr>
          <p:sp>
            <p:nvSpPr>
              <p:cNvPr id="7" name="任意多边形: 形状 12"/>
              <p:cNvSpPr/>
              <p:nvPr/>
            </p:nvSpPr>
            <p:spPr>
              <a:xfrm rot="18900000">
                <a:off x="8135783" y="-1669981"/>
                <a:ext cx="3339963" cy="3339962"/>
              </a:xfrm>
              <a:custGeom>
                <a:avLst/>
                <a:gdLst>
                  <a:gd name="connsiteX0" fmla="*/ 0 w 3339963"/>
                  <a:gd name="connsiteY0" fmla="*/ 0 h 3339962"/>
                  <a:gd name="connsiteX1" fmla="*/ 3339963 w 3339963"/>
                  <a:gd name="connsiteY1" fmla="*/ 3339962 h 3339962"/>
                  <a:gd name="connsiteX2" fmla="*/ 1099563 w 3339963"/>
                  <a:gd name="connsiteY2" fmla="*/ 3339962 h 333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39963" h="3339962">
                    <a:moveTo>
                      <a:pt x="0" y="0"/>
                    </a:moveTo>
                    <a:lnTo>
                      <a:pt x="3339963" y="3339962"/>
                    </a:lnTo>
                    <a:lnTo>
                      <a:pt x="1099563" y="3339962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" name="直角三角形 7"/>
              <p:cNvSpPr/>
              <p:nvPr/>
            </p:nvSpPr>
            <p:spPr>
              <a:xfrm rot="10800000">
                <a:off x="9502588" y="0"/>
                <a:ext cx="2689412" cy="2689412"/>
              </a:xfrm>
              <a:prstGeom prst="rtTriangle">
                <a:avLst/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pic>
          <p:nvPicPr>
            <p:cNvPr id="12" name="图片 11" descr="校徽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399" y="293"/>
              <a:ext cx="2240" cy="1701"/>
            </a:xfrm>
            <a:prstGeom prst="rect">
              <a:avLst/>
            </a:prstGeom>
          </p:spPr>
        </p:pic>
      </p:grpSp>
      <p:grpSp>
        <p:nvGrpSpPr>
          <p:cNvPr id="13" name="组合 12"/>
          <p:cNvGrpSpPr/>
          <p:nvPr/>
        </p:nvGrpSpPr>
        <p:grpSpPr>
          <a:xfrm rot="10800000">
            <a:off x="-28575" y="3766688"/>
            <a:ext cx="4737100" cy="5091168"/>
            <a:chOff x="8135783" y="-1669981"/>
            <a:chExt cx="4056217" cy="4359393"/>
          </a:xfrm>
        </p:grpSpPr>
        <p:sp>
          <p:nvSpPr>
            <p:cNvPr id="14" name="任意多边形: 形状 64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直角三角形 15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DIAGRAM_VIRTUALLY_FRAME" val="{&quot;height&quot;:340.45,&quot;left&quot;:430.85,&quot;top&quot;:99.8,&quot;width&quot;:312.35}"/>
</p:tagLst>
</file>

<file path=ppt/tags/tag65.xml><?xml version="1.0" encoding="utf-8"?>
<p:tagLst xmlns:p="http://schemas.openxmlformats.org/presentationml/2006/main">
  <p:tag name="KSO_WM_DIAGRAM_VIRTUALLY_FRAME" val="{&quot;height&quot;:340.45,&quot;left&quot;:430.85,&quot;top&quot;:99.8,&quot;width&quot;:312.35}"/>
</p:tagLst>
</file>

<file path=ppt/tags/tag66.xml><?xml version="1.0" encoding="utf-8"?>
<p:tagLst xmlns:p="http://schemas.openxmlformats.org/presentationml/2006/main">
  <p:tag name="KSO_WM_DIAGRAM_VIRTUALLY_FRAME" val="{&quot;height&quot;:340.45,&quot;left&quot;:430.85,&quot;top&quot;:99.8,&quot;width&quot;:312.35}"/>
</p:tagLst>
</file>

<file path=ppt/tags/tag67.xml><?xml version="1.0" encoding="utf-8"?>
<p:tagLst xmlns:p="http://schemas.openxmlformats.org/presentationml/2006/main">
  <p:tag name="KSO_WM_DIAGRAM_VIRTUALLY_FRAME" val="{&quot;height&quot;:340.45,&quot;left&quot;:430.85,&quot;top&quot;:99.8,&quot;width&quot;:312.35}"/>
</p:tagLst>
</file>

<file path=ppt/tags/tag68.xml><?xml version="1.0" encoding="utf-8"?>
<p:tagLst xmlns:p="http://schemas.openxmlformats.org/presentationml/2006/main">
  <p:tag name="KSO_WM_DIAGRAM_VIRTUALLY_FRAME" val="{&quot;height&quot;:340.45,&quot;left&quot;:430.85,&quot;top&quot;:99.8,&quot;width&quot;:312.35}"/>
</p:tagLst>
</file>

<file path=ppt/tags/tag69.xml><?xml version="1.0" encoding="utf-8"?>
<p:tagLst xmlns:p="http://schemas.openxmlformats.org/presentationml/2006/main">
  <p:tag name="KSO_WM_DIAGRAM_VIRTUALLY_FRAME" val="{&quot;height&quot;:340.45,&quot;left&quot;:430.85,&quot;top&quot;:99.8,&quot;width&quot;:312.35}"/>
</p:tagLst>
</file>

<file path=ppt/tags/tag70.xml><?xml version="1.0" encoding="utf-8"?>
<p:tagLst xmlns:p="http://schemas.openxmlformats.org/presentationml/2006/main">
  <p:tag name="KSO_WM_DIAGRAM_VIRTUALLY_FRAME" val="{&quot;height&quot;:340.45,&quot;left&quot;:430.85,&quot;top&quot;:99.8,&quot;width&quot;:312.35}"/>
</p:tagLst>
</file>

<file path=ppt/tags/tag71.xml><?xml version="1.0" encoding="utf-8"?>
<p:tagLst xmlns:p="http://schemas.openxmlformats.org/presentationml/2006/main">
  <p:tag name="KSO_WM_DIAGRAM_VIRTUALLY_FRAME" val="{&quot;height&quot;:340.45,&quot;left&quot;:430.85,&quot;top&quot;:99.8,&quot;width&quot;:312.35}"/>
</p:tagLst>
</file>

<file path=ppt/tags/tag72.xml><?xml version="1.0" encoding="utf-8"?>
<p:tagLst xmlns:p="http://schemas.openxmlformats.org/presentationml/2006/main">
  <p:tag name="KSO_WM_DIAGRAM_VIRTUALLY_FRAME" val="{&quot;height&quot;:340.45,&quot;left&quot;:430.85,&quot;top&quot;:99.8,&quot;width&quot;:312.35}"/>
</p:tagLst>
</file>

<file path=ppt/tags/tag73.xml><?xml version="1.0" encoding="utf-8"?>
<p:tagLst xmlns:p="http://schemas.openxmlformats.org/presentationml/2006/main">
  <p:tag name="KSO_WM_DIAGRAM_VIRTUALLY_FRAME" val="{&quot;height&quot;:340.45,&quot;left&quot;:430.85,&quot;top&quot;:99.8,&quot;width&quot;:312.35}"/>
</p:tagLst>
</file>

<file path=ppt/tags/tag74.xml><?xml version="1.0" encoding="utf-8"?>
<p:tagLst xmlns:p="http://schemas.openxmlformats.org/presentationml/2006/main">
  <p:tag name="KSO_WM_DIAGRAM_VIRTUALLY_FRAME" val="{&quot;height&quot;:340.45,&quot;left&quot;:430.85,&quot;top&quot;:99.8,&quot;width&quot;:312.35}"/>
</p:tagLst>
</file>

<file path=ppt/tags/tag75.xml><?xml version="1.0" encoding="utf-8"?>
<p:tagLst xmlns:p="http://schemas.openxmlformats.org/presentationml/2006/main">
  <p:tag name="KSO_WM_DIAGRAM_VIRTUALLY_FRAME" val="{&quot;height&quot;:340.45,&quot;left&quot;:430.85,&quot;top&quot;:99.8,&quot;width&quot;:312.35}"/>
</p:tagLst>
</file>

<file path=ppt/tags/tag76.xml><?xml version="1.0" encoding="utf-8"?>
<p:tagLst xmlns:p="http://schemas.openxmlformats.org/presentationml/2006/main">
  <p:tag name="KSO_WM_DIAGRAM_VIRTUALLY_FRAME" val="{&quot;height&quot;:340.45,&quot;left&quot;:430.85,&quot;top&quot;:99.8,&quot;width&quot;:312.35}"/>
</p:tagLst>
</file>

<file path=ppt/tags/tag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80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81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82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83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84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85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86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87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88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89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90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91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92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93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9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6.xml><?xml version="1.0" encoding="utf-8"?>
<p:tagLst xmlns:p="http://schemas.openxmlformats.org/presentationml/2006/main">
  <p:tag name="KSO_WM_UNIT_PLACING_PICTURE_USER_VIEWPORT" val="{&quot;height&quot;:10800,&quot;width&quot;:8100}"/>
</p:tagLst>
</file>

<file path=ppt/tags/tag9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0.xml><?xml version="1.0" encoding="utf-8"?>
<p:tagLst xmlns:p="http://schemas.openxmlformats.org/presentationml/2006/main">
  <p:tag name="KSO_WM_UNIT_PLACING_PICTURE_USER_VIEWPORT" val="{&quot;height&quot;:2835,&quot;width&quot;:3969}"/>
</p:tagLst>
</file>

<file path=ppt/tags/tag10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2.xml><?xml version="1.0" encoding="utf-8"?>
<p:tagLst xmlns:p="http://schemas.openxmlformats.org/presentationml/2006/main">
  <p:tag name="KSO_WM_UNIT_PLACING_PICTURE_USER_VIEWPORT" val="{&quot;height&quot;:10800,&quot;width&quot;:8100}"/>
</p:tagLst>
</file>

<file path=ppt/tags/tag10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6.xml><?xml version="1.0" encoding="utf-8"?>
<p:tagLst xmlns:p="http://schemas.openxmlformats.org/presentationml/2006/main">
  <p:tag name="KSO_WM_UNIT_PLACING_PICTURE_USER_VIEWPORT" val="{&quot;height&quot;:10800,&quot;width&quot;:8100}"/>
</p:tagLst>
</file>

<file path=ppt/tags/tag10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9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110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111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112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113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114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115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116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117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118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119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120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121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122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12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4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125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126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127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128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129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130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131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132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133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134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135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136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137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138.xml><?xml version="1.0" encoding="utf-8"?>
<p:tagLst xmlns:p="http://schemas.openxmlformats.org/presentationml/2006/main">
  <p:tag name="KSO_WM_DIAGRAM_VIRTUALLY_FRAME" val="{&quot;height&quot;:311.55,&quot;left&quot;:227.6,&quot;top&quot;:162.35,&quot;width&quot;:628.8}"/>
</p:tagLst>
</file>

<file path=ppt/tags/tag13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0.xml><?xml version="1.0" encoding="utf-8"?>
<p:tagLst xmlns:p="http://schemas.openxmlformats.org/presentationml/2006/main">
  <p:tag name="KSO_WM_DIAGRAM_VIRTUALLY_FRAME" val="{&quot;height&quot;:280.258031496063,&quot;left&quot;:86,&quot;top&quot;:149.68346456692913,&quot;width&quot;:788}"/>
</p:tagLst>
</file>

<file path=ppt/tags/tag141.xml><?xml version="1.0" encoding="utf-8"?>
<p:tagLst xmlns:p="http://schemas.openxmlformats.org/presentationml/2006/main">
  <p:tag name="KSO_WM_DIAGRAM_VIRTUALLY_FRAME" val="{&quot;height&quot;:280.258031496063,&quot;left&quot;:86,&quot;top&quot;:149.68346456692913,&quot;width&quot;:788}"/>
</p:tagLst>
</file>

<file path=ppt/tags/tag142.xml><?xml version="1.0" encoding="utf-8"?>
<p:tagLst xmlns:p="http://schemas.openxmlformats.org/presentationml/2006/main">
  <p:tag name="KSO_WM_DIAGRAM_VIRTUALLY_FRAME" val="{&quot;height&quot;:280.258031496063,&quot;left&quot;:86,&quot;top&quot;:149.68346456692913,&quot;width&quot;:788}"/>
</p:tagLst>
</file>

<file path=ppt/tags/tag143.xml><?xml version="1.0" encoding="utf-8"?>
<p:tagLst xmlns:p="http://schemas.openxmlformats.org/presentationml/2006/main">
  <p:tag name="KSO_WM_DIAGRAM_VIRTUALLY_FRAME" val="{&quot;height&quot;:280.258031496063,&quot;left&quot;:86,&quot;top&quot;:149.68346456692913,&quot;width&quot;:788}"/>
</p:tagLst>
</file>

<file path=ppt/tags/tag144.xml><?xml version="1.0" encoding="utf-8"?>
<p:tagLst xmlns:p="http://schemas.openxmlformats.org/presentationml/2006/main">
  <p:tag name="KSO_WM_DIAGRAM_VIRTUALLY_FRAME" val="{&quot;height&quot;:280.258031496063,&quot;left&quot;:86,&quot;top&quot;:149.68346456692913,&quot;width&quot;:788}"/>
</p:tagLst>
</file>

<file path=ppt/tags/tag145.xml><?xml version="1.0" encoding="utf-8"?>
<p:tagLst xmlns:p="http://schemas.openxmlformats.org/presentationml/2006/main">
  <p:tag name="KSO_WM_DIAGRAM_VIRTUALLY_FRAME" val="{&quot;height&quot;:280.258031496063,&quot;left&quot;:86,&quot;top&quot;:149.68346456692913,&quot;width&quot;:788}"/>
</p:tagLst>
</file>

<file path=ppt/tags/tag146.xml><?xml version="1.0" encoding="utf-8"?>
<p:tagLst xmlns:p="http://schemas.openxmlformats.org/presentationml/2006/main">
  <p:tag name="KSO_WM_DIAGRAM_VIRTUALLY_FRAME" val="{&quot;height&quot;:280.258031496063,&quot;left&quot;:86,&quot;top&quot;:149.68346456692913,&quot;width&quot;:788}"/>
</p:tagLst>
</file>

<file path=ppt/tags/tag147.xml><?xml version="1.0" encoding="utf-8"?>
<p:tagLst xmlns:p="http://schemas.openxmlformats.org/presentationml/2006/main">
  <p:tag name="KSO_WM_DIAGRAM_VIRTUALLY_FRAME" val="{&quot;height&quot;:280.258031496063,&quot;left&quot;:86,&quot;top&quot;:149.68346456692913,&quot;width&quot;:788}"/>
</p:tagLst>
</file>

<file path=ppt/tags/tag148.xml><?xml version="1.0" encoding="utf-8"?>
<p:tagLst xmlns:p="http://schemas.openxmlformats.org/presentationml/2006/main">
  <p:tag name="KSO_WM_DIAGRAM_VIRTUALLY_FRAME" val="{&quot;height&quot;:280.258031496063,&quot;left&quot;:86,&quot;top&quot;:149.68346456692913,&quot;width&quot;:788}"/>
</p:tagLst>
</file>

<file path=ppt/tags/tag149.xml><?xml version="1.0" encoding="utf-8"?>
<p:tagLst xmlns:p="http://schemas.openxmlformats.org/presentationml/2006/main">
  <p:tag name="KSO_WM_DIAGRAM_VIRTUALLY_FRAME" val="{&quot;height&quot;:280.258031496063,&quot;left&quot;:86,&quot;top&quot;:149.68346456692913,&quot;width&quot;:788}"/>
</p:tagLst>
</file>

<file path=ppt/tags/tag150.xml><?xml version="1.0" encoding="utf-8"?>
<p:tagLst xmlns:p="http://schemas.openxmlformats.org/presentationml/2006/main">
  <p:tag name="KSO_WM_DIAGRAM_VIRTUALLY_FRAME" val="{&quot;height&quot;:280.258031496063,&quot;left&quot;:86,&quot;top&quot;:149.68346456692913,&quot;width&quot;:788}"/>
</p:tagLst>
</file>

<file path=ppt/tags/tag151.xml><?xml version="1.0" encoding="utf-8"?>
<p:tagLst xmlns:p="http://schemas.openxmlformats.org/presentationml/2006/main">
  <p:tag name="KSO_WM_DIAGRAM_VIRTUALLY_FRAME" val="{&quot;height&quot;:280.258031496063,&quot;left&quot;:86,&quot;top&quot;:149.68346456692913,&quot;width&quot;:788}"/>
</p:tagLst>
</file>

<file path=ppt/tags/tag152.xml><?xml version="1.0" encoding="utf-8"?>
<p:tagLst xmlns:p="http://schemas.openxmlformats.org/presentationml/2006/main">
  <p:tag name="KSO_WM_DIAGRAM_VIRTUALLY_FRAME" val="{&quot;height&quot;:280.258031496063,&quot;left&quot;:86,&quot;top&quot;:149.68346456692913,&quot;width&quot;:788}"/>
</p:tagLst>
</file>

<file path=ppt/tags/tag153.xml><?xml version="1.0" encoding="utf-8"?>
<p:tagLst xmlns:p="http://schemas.openxmlformats.org/presentationml/2006/main">
  <p:tag name="KSO_WM_DIAGRAM_VIRTUALLY_FRAME" val="{&quot;height&quot;:280.258031496063,&quot;left&quot;:86,&quot;top&quot;:149.68346456692913,&quot;width&quot;:788}"/>
</p:tagLst>
</file>

<file path=ppt/tags/tag154.xml><?xml version="1.0" encoding="utf-8"?>
<p:tagLst xmlns:p="http://schemas.openxmlformats.org/presentationml/2006/main">
  <p:tag name="KSO_WM_DIAGRAM_VIRTUALLY_FRAME" val="{&quot;height&quot;:280.258031496063,&quot;left&quot;:86,&quot;top&quot;:149.68346456692913,&quot;width&quot;:788}"/>
</p:tagLst>
</file>

<file path=ppt/tags/tag155.xml><?xml version="1.0" encoding="utf-8"?>
<p:tagLst xmlns:p="http://schemas.openxmlformats.org/presentationml/2006/main">
  <p:tag name="KSO_WM_DIAGRAM_VIRTUALLY_FRAME" val="{&quot;height&quot;:280.258031496063,&quot;left&quot;:86,&quot;top&quot;:149.68346456692913,&quot;width&quot;:788}"/>
</p:tagLst>
</file>

<file path=ppt/tags/tag15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8.xml><?xml version="1.0" encoding="utf-8"?>
<p:tagLst xmlns:p="http://schemas.openxmlformats.org/presentationml/2006/main">
  <p:tag name="COMMONDATA" val="eyJoZGlkIjoiOWFjYWIyZjUwMTdmODQ5MGQwMGU3YWZkZjQxMjAxY2M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3246</Words>
  <Application>WPS 演示</Application>
  <PresentationFormat>宽屏</PresentationFormat>
  <Paragraphs>342</Paragraphs>
  <Slides>18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宋体</vt:lpstr>
      <vt:lpstr>Wingdings</vt:lpstr>
      <vt:lpstr>Wingdings</vt:lpstr>
      <vt:lpstr>微软雅黑</vt:lpstr>
      <vt:lpstr>Times New Roman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GuoChen</cp:lastModifiedBy>
  <cp:revision>173</cp:revision>
  <dcterms:created xsi:type="dcterms:W3CDTF">2019-06-19T02:08:00Z</dcterms:created>
  <dcterms:modified xsi:type="dcterms:W3CDTF">2026-09-15T05:29:40Z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0FA7266D02E942AAAA912ABFFAAB6B71</vt:lpwstr>
  </property>
</Properties>
</file>