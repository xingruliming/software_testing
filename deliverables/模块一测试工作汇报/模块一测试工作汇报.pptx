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dup2.xml" ContentType="application/vnd.openxmlformats-officedocument.presentationml.tags+xml"/>
  <Override PartName="/ppt/tags/dup1.xml" ContentType="application/vnd.openxmlformats-officedocument.presentationml.tags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  <p:sldId id="265" r:id="rId110"/>
    <p:sldId id="266" r:id="rId111"/>
  </p:sldIdLst>
  <p:sldSz cx="12192000" cy="6858000"/>
  <p:notesSz cx="6858000" cy="9144000"/>
  <p:custDataLst>
    <p:tags r:id="rId2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F5FD"/>
    <a:srgbClr val="D9EBFF"/>
    <a:srgbClr val="4FA1E8"/>
    <a:srgbClr val="575053"/>
    <a:srgbClr val="25557A"/>
    <a:srgbClr val="F5F7F9"/>
    <a:srgbClr val="FFFFFF"/>
    <a:srgbClr val="848EAC"/>
    <a:srgbClr val="A12B10"/>
    <a:srgbClr val="2483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582"/>
      </p:cViewPr>
      <p:guideLst>
        <p:guide orient="horz" pos="2215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1" Type="http://schemas.openxmlformats.org/officeDocument/2006/relationships/tags" Target="tags/tag80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7.xml"/><Relationship Id="rId106" Type="http://schemas.openxmlformats.org/officeDocument/2006/relationships/slide" Target="slides/slide6.xml"/><Relationship Id="rId107" Type="http://schemas.openxmlformats.org/officeDocument/2006/relationships/slide" Target="slides/slide5.xml"/><Relationship Id="rId108" Type="http://schemas.openxmlformats.org/officeDocument/2006/relationships/slide" Target="slides/slide8.xml"/><Relationship Id="rId109" Type="http://schemas.openxmlformats.org/officeDocument/2006/relationships/slide" Target="slides/slide16.xml"/><Relationship Id="rId110" Type="http://schemas.openxmlformats.org/officeDocument/2006/relationships/slide" Target="slides/slide17.xml"/><Relationship Id="rId111" Type="http://schemas.openxmlformats.org/officeDocument/2006/relationships/slide" Target="slides/slide15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rgbClr val="25557A"/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28575" cap="rnd">
              <a:solidFill>
                <a:schemeClr val="accent1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28575" cap="rnd">
              <a:solidFill>
                <a:schemeClr val="bg1">
                  <a:lumMod val="95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1"/>
        <c:axId val="1756385360"/>
        <c:axId val="1756387000"/>
      </c:lineChart>
      <c:catAx>
        <c:axId val="17563853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56387000"/>
        <c:crosses val="autoZero"/>
        <c:auto val="1"/>
        <c:lblAlgn val="ctr"/>
        <c:lblOffset val="100"/>
        <c:noMultiLvlLbl val="0"/>
      </c:catAx>
      <c:valAx>
        <c:axId val="17563870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563853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25557A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bg1">
                <a:lumMod val="95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756385360"/>
        <c:axId val="1756387000"/>
      </c:barChart>
      <c:catAx>
        <c:axId val="17563853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56387000"/>
        <c:crosses val="autoZero"/>
        <c:auto val="1"/>
        <c:lblAlgn val="ctr"/>
        <c:lblOffset val="100"/>
        <c:noMultiLvlLbl val="0"/>
      </c:catAx>
      <c:valAx>
        <c:axId val="175638700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563853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 sz="105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3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64.xml"/><Relationship Id="rId4" Type="http://schemas.openxmlformats.org/officeDocument/2006/relationships/image" Target="../media/image5.png"/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65.xml"/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6.xml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7.xml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69.xml"/><Relationship Id="rId4" Type="http://schemas.openxmlformats.org/officeDocument/2006/relationships/image" Target="../media/image5.png"/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tags" Target="../tags/tag68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70.xml"/><Relationship Id="rId4" Type="http://schemas.openxmlformats.org/officeDocument/2006/relationships/image" Target="../media/image5.png"/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72.xml"/><Relationship Id="rId7" Type="http://schemas.openxmlformats.org/officeDocument/2006/relationships/image" Target="../media/image5.png"/><Relationship Id="rId6" Type="http://schemas.openxmlformats.org/officeDocument/2006/relationships/image" Target="../media/image14.jpeg"/><Relationship Id="rId5" Type="http://schemas.openxmlformats.org/officeDocument/2006/relationships/image" Target="../media/image13.jpeg"/><Relationship Id="rId4" Type="http://schemas.openxmlformats.org/officeDocument/2006/relationships/image" Target="../media/image12.jpeg"/><Relationship Id="rId3" Type="http://schemas.openxmlformats.org/officeDocument/2006/relationships/tags" Target="../tags/tag71.xml"/><Relationship Id="rId2" Type="http://schemas.openxmlformats.org/officeDocument/2006/relationships/image" Target="../media/image11.jpeg"/><Relationship Id="rId1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79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dup1.xml"/><Relationship Id="rId1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dup2.xml"/><Relationship Id="rId4" Type="http://schemas.openxmlformats.org/officeDocument/2006/relationships/image" Target="../media/image5.png"/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组合 62"/>
          <p:cNvGrpSpPr/>
          <p:nvPr/>
        </p:nvGrpSpPr>
        <p:grpSpPr>
          <a:xfrm rot="10800000">
            <a:off x="-28575" y="3744463"/>
            <a:ext cx="4737100" cy="5091168"/>
            <a:chOff x="8135783" y="-1669981"/>
            <a:chExt cx="4056217" cy="4359393"/>
          </a:xfrm>
        </p:grpSpPr>
        <p:sp>
          <p:nvSpPr>
            <p:cNvPr id="65" name="任意多边形: 形状 64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4" name="直角三角形 63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9" name="图片 8" descr="1037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9106535" y="5777865"/>
            <a:ext cx="3085714" cy="1080000"/>
          </a:xfrm>
          <a:prstGeom prst="rect">
            <a:avLst/>
          </a:prstGeom>
        </p:spPr>
      </p:pic>
      <p:grpSp>
        <p:nvGrpSpPr>
          <p:cNvPr id="11" name="组合 10"/>
          <p:cNvGrpSpPr/>
          <p:nvPr/>
        </p:nvGrpSpPr>
        <p:grpSpPr>
          <a:xfrm>
            <a:off x="2151380" y="2035175"/>
            <a:ext cx="7889240" cy="2787650"/>
            <a:chOff x="4143" y="4637"/>
            <a:chExt cx="12424" cy="4390"/>
          </a:xfrm>
        </p:grpSpPr>
        <p:sp>
          <p:nvSpPr>
            <p:cNvPr id="27" name="文本框 1"/>
            <p:cNvSpPr txBox="1"/>
            <p:nvPr/>
          </p:nvSpPr>
          <p:spPr>
            <a:xfrm>
              <a:off x="4143" y="4637"/>
              <a:ext cx="12424" cy="1598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algn="ctr" rtl="0" eaLnBrk="1" fontAlgn="auto" latinLnBrk="0" hangingPunct="1"/>
              <a:r>
                <a:rPr lang="zh-CN" sz="6000" b="1" kern="10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VGGT</a:t>
              </a:r>
              <a:r>
                <a:rPr lang="en-US" altLang="zh-CN" sz="6000" b="1" kern="10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模块一</a:t>
              </a:r>
              <a:r>
                <a:rPr lang="zh-CN" altLang="en-US" sz="6000" b="1" kern="10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测试汇报</a:t>
              </a:r>
              <a:endParaRPr lang="zh-CN" altLang="en-US" sz="6000" b="1" kern="100">
                <a:solidFill>
                  <a:srgbClr val="2555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  <p:sp>
          <p:nvSpPr>
            <p:cNvPr id="28" name="文本框 1"/>
            <p:cNvSpPr txBox="1"/>
            <p:nvPr/>
          </p:nvSpPr>
          <p:spPr>
            <a:xfrm>
              <a:off x="7636" y="8530"/>
              <a:ext cx="5913" cy="497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p>
              <a:pPr algn="l" rtl="0" eaLnBrk="1" fontAlgn="auto" latinLnBrk="0" hangingPunct="1">
                <a:lnSpc>
                  <a:spcPts val="1800"/>
                </a:lnSpc>
              </a:pP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汇报人丨小组成员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   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时间丨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2026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年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9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月</a:t>
              </a:r>
              <a:endParaRPr lang="zh-CN" altLang="en-US" sz="1600" kern="1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  <p:sp>
          <p:nvSpPr>
            <p:cNvPr id="29" name="文本框 32"/>
            <p:cNvSpPr txBox="1"/>
            <p:nvPr/>
          </p:nvSpPr>
          <p:spPr>
            <a:xfrm>
              <a:off x="5781" y="6564"/>
              <a:ext cx="9129" cy="564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p>
              <a:pPr algn="ctr" rtl="0" eaLnBrk="1" fontAlgn="auto" latinLnBrk="0" hangingPunct="1">
                <a:lnSpc>
                  <a:spcPts val="2000"/>
                </a:lnSpc>
              </a:pP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33 条用例</a:t>
              </a:r>
              <a:r>
                <a:rPr lang="en-US" altLang="zh-CN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| </a:t>
              </a: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0 权重 0 GPU</a:t>
              </a:r>
              <a:r>
                <a:rPr lang="en-US" altLang="zh-CN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| </a:t>
              </a: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1 个已定位缺陷</a:t>
              </a:r>
              <a:endParaRPr lang="en-US" altLang="zh-CN" sz="2000" b="1" kern="10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7454900" y="-1959610"/>
            <a:ext cx="4737100" cy="5091430"/>
            <a:chOff x="11740" y="-3086"/>
            <a:chExt cx="7460" cy="8018"/>
          </a:xfrm>
        </p:grpSpPr>
        <p:grpSp>
          <p:nvGrpSpPr>
            <p:cNvPr id="3" name="组合 2"/>
            <p:cNvGrpSpPr/>
            <p:nvPr/>
          </p:nvGrpSpPr>
          <p:grpSpPr>
            <a:xfrm>
              <a:off x="11740" y="-3086"/>
              <a:ext cx="7460" cy="8018"/>
              <a:chOff x="8135783" y="-1669981"/>
              <a:chExt cx="4056217" cy="4359393"/>
            </a:xfrm>
          </p:grpSpPr>
          <p:sp>
            <p:nvSpPr>
              <p:cNvPr id="7" name="任意多边形: 形状 12"/>
              <p:cNvSpPr/>
              <p:nvPr/>
            </p:nvSpPr>
            <p:spPr>
              <a:xfrm rot="18900000">
                <a:off x="8135783" y="-1669981"/>
                <a:ext cx="3339963" cy="3339962"/>
              </a:xfrm>
              <a:custGeom>
                <a:avLst/>
                <a:gdLst>
                  <a:gd name="connsiteX0" fmla="*/ 0 w 3339963"/>
                  <a:gd name="connsiteY0" fmla="*/ 0 h 3339962"/>
                  <a:gd name="connsiteX1" fmla="*/ 3339963 w 3339963"/>
                  <a:gd name="connsiteY1" fmla="*/ 3339962 h 3339962"/>
                  <a:gd name="connsiteX2" fmla="*/ 1099563 w 3339963"/>
                  <a:gd name="connsiteY2" fmla="*/ 3339962 h 333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339963" h="3339962">
                    <a:moveTo>
                      <a:pt x="0" y="0"/>
                    </a:moveTo>
                    <a:lnTo>
                      <a:pt x="3339963" y="3339962"/>
                    </a:lnTo>
                    <a:lnTo>
                      <a:pt x="1099563" y="3339962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直角三角形 16"/>
              <p:cNvSpPr/>
              <p:nvPr/>
            </p:nvSpPr>
            <p:spPr>
              <a:xfrm rot="10800000">
                <a:off x="9502588" y="0"/>
                <a:ext cx="2689412" cy="2689412"/>
              </a:xfrm>
              <a:prstGeom prst="rtTriangle">
                <a:avLst/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pic>
          <p:nvPicPr>
            <p:cNvPr id="18" name="图片 17" descr="校徽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399" y="293"/>
              <a:ext cx="2240" cy="1701"/>
            </a:xfrm>
            <a:prstGeom prst="rect">
              <a:avLst/>
            </a:prstGeom>
          </p:spPr>
        </p:pic>
      </p:grp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/>
        </p:nvSpPr>
        <p:spPr>
          <a:xfrm>
            <a:off x="0" y="0"/>
            <a:ext cx="4679950" cy="3831590"/>
          </a:xfrm>
          <a:prstGeom prst="rect">
            <a:avLst/>
          </a:prstGeom>
          <a:gradFill>
            <a:gsLst>
              <a:gs pos="52000">
                <a:srgbClr val="25557A"/>
              </a:gs>
              <a:gs pos="100000">
                <a:srgbClr val="2D84BE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610870" y="535305"/>
            <a:ext cx="3458210" cy="1877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fontAlgn="auto">
              <a:lnSpc>
                <a:spcPct val="150000"/>
              </a:lnSpc>
            </a:pPr>
            <a:r>
              <a:rPr lang="zh-CN" altLang="en-US" sz="8000" b="1"/>
              <a:t>目录</a:t>
            </a:r>
            <a:endParaRPr lang="zh-CN" altLang="en-US" sz="8000"/>
          </a:p>
          <a:p>
            <a:pPr algn="ctr" fontAlgn="auto">
              <a:lnSpc>
                <a:spcPct val="150000"/>
              </a:lnSpc>
            </a:pPr>
            <a:r>
              <a:rPr lang="en-US" altLang="zh-CN" sz="3200"/>
              <a:t>CONTENTS</a:t>
            </a:r>
            <a:endParaRPr lang="en-US" altLang="zh-CN" sz="3200"/>
          </a:p>
        </p:txBody>
      </p:sp>
      <p:grpSp>
        <p:nvGrpSpPr>
          <p:cNvPr id="16" name="组合 15"/>
          <p:cNvGrpSpPr/>
          <p:nvPr/>
        </p:nvGrpSpPr>
        <p:grpSpPr>
          <a:xfrm>
            <a:off x="5471795" y="1267460"/>
            <a:ext cx="3579495" cy="4323715"/>
            <a:chOff x="8183" y="1320"/>
            <a:chExt cx="5637" cy="6809"/>
          </a:xfrm>
        </p:grpSpPr>
        <p:sp>
          <p:nvSpPr>
            <p:cNvPr id="34" name="椭圆 33"/>
            <p:cNvSpPr/>
            <p:nvPr/>
          </p:nvSpPr>
          <p:spPr>
            <a:xfrm>
              <a:off x="8183" y="1320"/>
              <a:ext cx="1244" cy="124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3200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</a:rPr>
                <a:t>1</a:t>
              </a:r>
              <a:endParaRPr lang="en-US" altLang="zh-CN" sz="3200" b="1" dirty="0">
                <a:solidFill>
                  <a:srgbClr val="25557A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10046" y="1521"/>
              <a:ext cx="3775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sz="1700" lang="zh-CN" altLang="en-US" spc="300" dirty="0">
                  <a:latin typeface="+mn-ea"/>
                </a:rPr>
                <a:t>被测算法的独特性</a:t>
              </a:r>
              <a:endParaRPr sz="1700" lang="zh-CN" altLang="en-US" spc="300" dirty="0">
                <a:latin typeface="+mn-ea"/>
              </a:endParaRPr>
            </a:p>
          </p:txBody>
        </p:sp>
        <p:cxnSp>
          <p:nvCxnSpPr>
            <p:cNvPr id="36" name="直接连接符 35"/>
            <p:cNvCxnSpPr/>
            <p:nvPr/>
          </p:nvCxnSpPr>
          <p:spPr>
            <a:xfrm>
              <a:off x="9782" y="1651"/>
              <a:ext cx="0" cy="606"/>
            </a:xfrm>
            <a:prstGeom prst="line">
              <a:avLst/>
            </a:prstGeom>
            <a:ln w="31750">
              <a:solidFill>
                <a:srgbClr val="25557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组合 7"/>
            <p:cNvGrpSpPr/>
            <p:nvPr/>
          </p:nvGrpSpPr>
          <p:grpSpPr>
            <a:xfrm>
              <a:off x="8183" y="3175"/>
              <a:ext cx="5635" cy="1244"/>
              <a:chOff x="8183" y="3571"/>
              <a:chExt cx="5635" cy="1244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8183" y="3571"/>
                <a:ext cx="1244" cy="12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3200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2</a:t>
                </a:r>
                <a:endParaRPr lang="en-US" altLang="zh-CN" sz="3200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0" name="矩形 39"/>
              <p:cNvSpPr/>
              <p:nvPr/>
            </p:nvSpPr>
            <p:spPr>
              <a:xfrm>
                <a:off x="10044" y="3785"/>
                <a:ext cx="3775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sz="1700" lang="zh-CN" altLang="en-US" spc="300" dirty="0">
                    <a:latin typeface="+mn-ea"/>
                  </a:rPr>
                  <a:t>测试方法的独特性</a:t>
                </a:r>
                <a:endParaRPr sz="1700" lang="zh-CN" altLang="en-US" spc="300" dirty="0">
                  <a:latin typeface="+mn-ea"/>
                </a:endParaRPr>
              </a:p>
            </p:txBody>
          </p:sp>
          <p:cxnSp>
            <p:nvCxnSpPr>
              <p:cNvPr id="41" name="直接连接符 40"/>
              <p:cNvCxnSpPr/>
              <p:nvPr/>
            </p:nvCxnSpPr>
            <p:spPr>
              <a:xfrm>
                <a:off x="9782" y="3902"/>
                <a:ext cx="0" cy="606"/>
              </a:xfrm>
              <a:prstGeom prst="line">
                <a:avLst/>
              </a:prstGeom>
              <a:ln w="31750">
                <a:solidFill>
                  <a:srgbClr val="25557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组合 8"/>
            <p:cNvGrpSpPr/>
            <p:nvPr/>
          </p:nvGrpSpPr>
          <p:grpSpPr>
            <a:xfrm>
              <a:off x="8183" y="5030"/>
              <a:ext cx="5635" cy="1244"/>
              <a:chOff x="8183" y="5822"/>
              <a:chExt cx="5635" cy="1244"/>
            </a:xfrm>
          </p:grpSpPr>
          <p:sp>
            <p:nvSpPr>
              <p:cNvPr id="43" name="椭圆 42"/>
              <p:cNvSpPr/>
              <p:nvPr/>
            </p:nvSpPr>
            <p:spPr>
              <a:xfrm>
                <a:off x="8183" y="5822"/>
                <a:ext cx="1244" cy="12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3200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3</a:t>
                </a:r>
                <a:endParaRPr lang="en-US" altLang="zh-CN" sz="3200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4" name="矩形 43"/>
              <p:cNvSpPr/>
              <p:nvPr/>
            </p:nvSpPr>
            <p:spPr>
              <a:xfrm>
                <a:off x="10044" y="6022"/>
                <a:ext cx="3775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sz="1700" lang="zh-CN" altLang="en-US" spc="300" dirty="0">
                    <a:latin typeface="+mn-ea"/>
                  </a:rPr>
                  <a:t>测试样例的独特性</a:t>
                </a:r>
                <a:endParaRPr sz="1700" lang="zh-CN" altLang="en-US" spc="300" dirty="0">
                  <a:latin typeface="+mn-ea"/>
                </a:endParaRPr>
              </a:p>
            </p:txBody>
          </p:sp>
          <p:cxnSp>
            <p:nvCxnSpPr>
              <p:cNvPr id="45" name="直接连接符 44"/>
              <p:cNvCxnSpPr/>
              <p:nvPr/>
            </p:nvCxnSpPr>
            <p:spPr>
              <a:xfrm>
                <a:off x="9782" y="6153"/>
                <a:ext cx="0" cy="606"/>
              </a:xfrm>
              <a:prstGeom prst="line">
                <a:avLst/>
              </a:prstGeom>
              <a:ln w="31750">
                <a:solidFill>
                  <a:srgbClr val="25557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/>
            <p:cNvGrpSpPr/>
            <p:nvPr/>
          </p:nvGrpSpPr>
          <p:grpSpPr>
            <a:xfrm>
              <a:off x="8185" y="6885"/>
              <a:ext cx="5634" cy="1244"/>
              <a:chOff x="8186" y="8236"/>
              <a:chExt cx="5634" cy="1244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8186" y="8236"/>
                <a:ext cx="1244" cy="12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3200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4</a:t>
                </a:r>
                <a:endParaRPr lang="en-US" altLang="zh-CN" sz="3200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10046" y="8447"/>
                <a:ext cx="3775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sz="1700" lang="zh-CN" altLang="en-US" spc="300" dirty="0">
                    <a:latin typeface="+mn-ea"/>
                  </a:rPr>
                  <a:t>结果与缺陷</a:t>
                </a:r>
                <a:endParaRPr sz="1700" lang="zh-CN" altLang="en-US" spc="300" dirty="0">
                  <a:latin typeface="+mn-ea"/>
                </a:endParaRPr>
              </a:p>
            </p:txBody>
          </p:sp>
          <p:cxnSp>
            <p:nvCxnSpPr>
              <p:cNvPr id="49" name="直接连接符 48"/>
              <p:cNvCxnSpPr/>
              <p:nvPr/>
            </p:nvCxnSpPr>
            <p:spPr>
              <a:xfrm>
                <a:off x="9785" y="8567"/>
                <a:ext cx="0" cy="606"/>
              </a:xfrm>
              <a:prstGeom prst="line">
                <a:avLst/>
              </a:prstGeom>
              <a:ln w="31750">
                <a:solidFill>
                  <a:srgbClr val="25557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6" name="图片 25" descr="校史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9255760" y="5777865"/>
            <a:ext cx="2905830" cy="1080000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7454900" y="-1959610"/>
            <a:ext cx="4737100" cy="5091430"/>
            <a:chOff x="11740" y="-3086"/>
            <a:chExt cx="7460" cy="8018"/>
          </a:xfrm>
        </p:grpSpPr>
        <p:grpSp>
          <p:nvGrpSpPr>
            <p:cNvPr id="3" name="组合 2"/>
            <p:cNvGrpSpPr/>
            <p:nvPr/>
          </p:nvGrpSpPr>
          <p:grpSpPr>
            <a:xfrm>
              <a:off x="11740" y="-3086"/>
              <a:ext cx="7460" cy="8018"/>
              <a:chOff x="8135783" y="-1669981"/>
              <a:chExt cx="4056217" cy="4359393"/>
            </a:xfrm>
          </p:grpSpPr>
          <p:sp>
            <p:nvSpPr>
              <p:cNvPr id="7" name="任意多边形: 形状 12"/>
              <p:cNvSpPr/>
              <p:nvPr/>
            </p:nvSpPr>
            <p:spPr>
              <a:xfrm rot="18900000">
                <a:off x="8135783" y="-1669981"/>
                <a:ext cx="3339963" cy="3339962"/>
              </a:xfrm>
              <a:custGeom>
                <a:avLst/>
                <a:gdLst>
                  <a:gd name="connsiteX0" fmla="*/ 0 w 3339963"/>
                  <a:gd name="connsiteY0" fmla="*/ 0 h 3339962"/>
                  <a:gd name="connsiteX1" fmla="*/ 3339963 w 3339963"/>
                  <a:gd name="connsiteY1" fmla="*/ 3339962 h 3339962"/>
                  <a:gd name="connsiteX2" fmla="*/ 1099563 w 3339963"/>
                  <a:gd name="connsiteY2" fmla="*/ 3339962 h 333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339963" h="3339962">
                    <a:moveTo>
                      <a:pt x="0" y="0"/>
                    </a:moveTo>
                    <a:lnTo>
                      <a:pt x="3339963" y="3339962"/>
                    </a:lnTo>
                    <a:lnTo>
                      <a:pt x="1099563" y="3339962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直角三角形 16"/>
              <p:cNvSpPr/>
              <p:nvPr/>
            </p:nvSpPr>
            <p:spPr>
              <a:xfrm rot="10800000">
                <a:off x="9502588" y="0"/>
                <a:ext cx="2689412" cy="2689412"/>
              </a:xfrm>
              <a:prstGeom prst="rtTriangle">
                <a:avLst/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pic>
          <p:nvPicPr>
            <p:cNvPr id="18" name="图片 17" descr="校徽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399" y="293"/>
              <a:ext cx="2240" cy="1701"/>
            </a:xfrm>
            <a:prstGeom prst="rect">
              <a:avLst/>
            </a:prstGeom>
          </p:spPr>
        </p:pic>
      </p:grpSp>
      <p:grpSp>
        <p:nvGrpSpPr>
          <p:cNvPr id="20" name="组合 19"/>
          <p:cNvGrpSpPr/>
          <p:nvPr/>
        </p:nvGrpSpPr>
        <p:grpSpPr>
          <a:xfrm>
            <a:off x="0" y="3738245"/>
            <a:ext cx="4679950" cy="3119755"/>
            <a:chOff x="0" y="5887"/>
            <a:chExt cx="7370" cy="4913"/>
          </a:xfrm>
        </p:grpSpPr>
        <p:pic>
          <p:nvPicPr>
            <p:cNvPr id="13" name="图片 12" descr="IMG_2578(20220922-170619)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887"/>
              <a:ext cx="7370" cy="4913"/>
            </a:xfrm>
            <a:prstGeom prst="rect">
              <a:avLst/>
            </a:prstGeom>
          </p:spPr>
        </p:pic>
        <p:pic>
          <p:nvPicPr>
            <p:cNvPr id="19" name="图片 18" descr="小招logo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4" y="9474"/>
              <a:ext cx="1701" cy="952"/>
            </a:xfrm>
            <a:prstGeom prst="rect">
              <a:avLst/>
            </a:prstGeom>
          </p:spPr>
        </p:pic>
      </p:grpSp>
    </p:spTree>
    <p:custDataLst>
      <p:tags r:id="rId5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任意多边形: 形状 52"/>
          <p:cNvSpPr/>
          <p:nvPr/>
        </p:nvSpPr>
        <p:spPr>
          <a:xfrm flipH="1">
            <a:off x="4337050" y="0"/>
            <a:ext cx="7854950" cy="6858000"/>
          </a:xfrm>
          <a:custGeom>
            <a:avLst/>
            <a:gdLst>
              <a:gd name="connsiteX0" fmla="*/ 12191999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12191999 w 12192000"/>
              <a:gd name="connsiteY3" fmla="*/ 6858000 h 6858000"/>
              <a:gd name="connsiteX4" fmla="*/ 0 w 12192000"/>
              <a:gd name="connsiteY4" fmla="*/ 0 h 6858000"/>
              <a:gd name="connsiteX5" fmla="*/ 11295445 w 12192000"/>
              <a:gd name="connsiteY5" fmla="*/ 0 h 6858000"/>
              <a:gd name="connsiteX6" fmla="*/ 4437446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12191999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2191999" y="6858000"/>
                </a:lnTo>
                <a:close/>
                <a:moveTo>
                  <a:pt x="0" y="0"/>
                </a:moveTo>
                <a:lnTo>
                  <a:pt x="11295445" y="0"/>
                </a:lnTo>
                <a:lnTo>
                  <a:pt x="4437446" y="6858000"/>
                </a:lnTo>
                <a:lnTo>
                  <a:pt x="0" y="6858000"/>
                </a:lnTo>
                <a:close/>
              </a:path>
            </a:pathLst>
          </a:custGeom>
          <a:gradFill flip="none">
            <a:gsLst>
              <a:gs pos="15000">
                <a:srgbClr val="25557A"/>
              </a:gs>
              <a:gs pos="32000">
                <a:srgbClr val="2483D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4896485" y="635"/>
            <a:ext cx="7295515" cy="6858000"/>
            <a:chOff x="7711" y="1"/>
            <a:chExt cx="11489" cy="10800"/>
          </a:xfrm>
        </p:grpSpPr>
        <p:pic>
          <p:nvPicPr>
            <p:cNvPr id="17" name="图片 16" descr="IMG_2580"/>
            <p:cNvPicPr>
              <a:picLocks noChangeAspect="1"/>
            </p:cNvPicPr>
            <p:nvPr/>
          </p:nvPicPr>
          <p:blipFill>
            <a:blip r:embed="rId1">
              <a:clrChange>
                <a:clrFrom>
                  <a:srgbClr val="006DBF">
                    <a:alpha val="100000"/>
                  </a:srgbClr>
                </a:clrFrom>
                <a:clrTo>
                  <a:srgbClr val="006DB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1840" y="2371"/>
              <a:ext cx="7360" cy="8429"/>
            </a:xfrm>
            <a:prstGeom prst="rect">
              <a:avLst/>
            </a:prstGeom>
          </p:spPr>
        </p:pic>
        <p:sp>
          <p:nvSpPr>
            <p:cNvPr id="21" name="任意多边形: 形状 52"/>
            <p:cNvSpPr/>
            <p:nvPr/>
          </p:nvSpPr>
          <p:spPr>
            <a:xfrm flipV="1">
              <a:off x="7711" y="1"/>
              <a:ext cx="6416" cy="10800"/>
            </a:xfrm>
            <a:custGeom>
              <a:avLst/>
              <a:gdLst>
                <a:gd name="connsiteX0" fmla="*/ 12191999 w 12192000"/>
                <a:gd name="connsiteY0" fmla="*/ 0 h 6858000"/>
                <a:gd name="connsiteX1" fmla="*/ 12192000 w 12192000"/>
                <a:gd name="connsiteY1" fmla="*/ 0 h 6858000"/>
                <a:gd name="connsiteX2" fmla="*/ 12192000 w 12192000"/>
                <a:gd name="connsiteY2" fmla="*/ 6858000 h 6858000"/>
                <a:gd name="connsiteX3" fmla="*/ 12191999 w 12192000"/>
                <a:gd name="connsiteY3" fmla="*/ 6858000 h 6858000"/>
                <a:gd name="connsiteX4" fmla="*/ 0 w 12192000"/>
                <a:gd name="connsiteY4" fmla="*/ 0 h 6858000"/>
                <a:gd name="connsiteX5" fmla="*/ 11295445 w 12192000"/>
                <a:gd name="connsiteY5" fmla="*/ 0 h 6858000"/>
                <a:gd name="connsiteX6" fmla="*/ 4437446 w 12192000"/>
                <a:gd name="connsiteY6" fmla="*/ 6858000 h 6858000"/>
                <a:gd name="connsiteX7" fmla="*/ 0 w 12192000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8000">
                  <a:moveTo>
                    <a:pt x="12191999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12191999" y="6858000"/>
                  </a:lnTo>
                  <a:close/>
                  <a:moveTo>
                    <a:pt x="0" y="0"/>
                  </a:moveTo>
                  <a:lnTo>
                    <a:pt x="11295445" y="0"/>
                  </a:lnTo>
                  <a:lnTo>
                    <a:pt x="4437446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25" name="图片 24" descr="校徽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399" y="293"/>
              <a:ext cx="2240" cy="1701"/>
            </a:xfrm>
            <a:prstGeom prst="rect">
              <a:avLst/>
            </a:prstGeom>
          </p:spPr>
        </p:pic>
      </p:grpSp>
      <p:grpSp>
        <p:nvGrpSpPr>
          <p:cNvPr id="28" name="组合 27"/>
          <p:cNvGrpSpPr/>
          <p:nvPr/>
        </p:nvGrpSpPr>
        <p:grpSpPr>
          <a:xfrm>
            <a:off x="1981200" y="1901190"/>
            <a:ext cx="6291580" cy="2896235"/>
            <a:chOff x="1932" y="2994"/>
            <a:chExt cx="9908" cy="4561"/>
          </a:xfrm>
        </p:grpSpPr>
        <p:grpSp>
          <p:nvGrpSpPr>
            <p:cNvPr id="30" name="组合 29"/>
            <p:cNvGrpSpPr/>
            <p:nvPr/>
          </p:nvGrpSpPr>
          <p:grpSpPr>
            <a:xfrm>
              <a:off x="1932" y="2994"/>
              <a:ext cx="3242" cy="2179"/>
              <a:chOff x="2761095" y="2292169"/>
              <a:chExt cx="2058736" cy="1383665"/>
            </a:xfrm>
          </p:grpSpPr>
          <p:sp>
            <p:nvSpPr>
              <p:cNvPr id="2" name="矩形: 圆角 1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" name="文本框 2"/>
              <p:cNvSpPr txBox="1"/>
              <p:nvPr/>
            </p:nvSpPr>
            <p:spPr>
              <a:xfrm>
                <a:off x="3020843" y="2292169"/>
                <a:ext cx="1798988" cy="1383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8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8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68" name="矩形 67"/>
            <p:cNvSpPr/>
            <p:nvPr/>
          </p:nvSpPr>
          <p:spPr>
            <a:xfrm>
              <a:off x="4066" y="2994"/>
              <a:ext cx="2262" cy="2082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en-US" altLang="zh-CN" sz="8000" b="1" dirty="0">
                  <a:latin typeface="微软雅黑" panose="020B0503020204020204" charset="-122"/>
                  <a:ea typeface="微软雅黑" panose="020B0503020204020204" charset="-122"/>
                </a:rPr>
                <a:t>01</a:t>
              </a:r>
              <a:endParaRPr lang="en-US" altLang="zh-CN" sz="8000" b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2118" y="5546"/>
              <a:ext cx="7188" cy="1743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6600" b="1" spc="300" dirty="0">
                  <a:latin typeface="微软雅黑" panose="020B0503020204020204" charset="-122"/>
                  <a:ea typeface="微软雅黑" panose="020B0503020204020204" charset="-122"/>
                </a:rPr>
                <a:t>被测算法</a:t>
              </a:r>
              <a:endParaRPr lang="zh-CN" altLang="en-US" sz="66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2212" y="6975"/>
              <a:ext cx="9628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600" dirty="0">
                <a:solidFill>
                  <a:schemeClr val="bg1">
                    <a:lumMod val="65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6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UNIQUENESS OF THE ALGORITHM</a:t>
              </a:r>
              <a:endParaRPr lang="en-US" altLang="zh-CN" sz="900" spc="600" dirty="0">
                <a:solidFill>
                  <a:schemeClr val="bg1">
                    <a:lumMod val="65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grpSp>
        <p:nvGrpSpPr>
          <p:cNvPr id="63" name="组合 62"/>
          <p:cNvGrpSpPr/>
          <p:nvPr/>
        </p:nvGrpSpPr>
        <p:grpSpPr>
          <a:xfrm rot="10800000">
            <a:off x="-28575" y="3744463"/>
            <a:ext cx="4737100" cy="5091168"/>
            <a:chOff x="8135783" y="-1669981"/>
            <a:chExt cx="4056217" cy="4359393"/>
          </a:xfrm>
        </p:grpSpPr>
        <p:sp>
          <p:nvSpPr>
            <p:cNvPr id="65" name="任意多边形: 形状 64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4" name="直角三角形 63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19" name="图片 18" descr="小招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3745" y="6055995"/>
            <a:ext cx="1080000" cy="604432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大模型内部的一块确定性孤岛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THE ALGORITHM UNDER TEST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19" name="矩形: 圆角 18"/>
          <p:cNvSpPr/>
          <p:nvPr/>
        </p:nvSpPr>
        <p:spPr>
          <a:xfrm>
            <a:off x="977900" y="1648460"/>
            <a:ext cx="10236200" cy="45834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dirty="0">
              <a:latin typeface="微软雅黑" panose="020B0503020204020204" charset="-122"/>
              <a:ea typeface="微软雅黑" panose="020B0503020204020204" charset="-122"/>
              <a:sym typeface="+mn-lt"/>
            </a:endParaRPr>
          </a:p>
        </p:txBody>
      </p:sp>
      <p:sp>
        <p:nvSpPr>
          <p:cNvPr id="13" name="任意多边形: 形状 21"/>
          <p:cNvSpPr/>
          <p:nvPr/>
        </p:nvSpPr>
        <p:spPr>
          <a:xfrm>
            <a:off x="977900" y="2575560"/>
            <a:ext cx="1675765" cy="2781300"/>
          </a:xfrm>
          <a:custGeom>
            <a:avLst/>
            <a:gdLst>
              <a:gd name="connsiteX0" fmla="*/ 284837 w 1675487"/>
              <a:gd name="connsiteY0" fmla="*/ 0 h 2781300"/>
              <a:gd name="connsiteX1" fmla="*/ 1675487 w 1675487"/>
              <a:gd name="connsiteY1" fmla="*/ 1390650 h 2781300"/>
              <a:gd name="connsiteX2" fmla="*/ 284837 w 1675487"/>
              <a:gd name="connsiteY2" fmla="*/ 2781300 h 2781300"/>
              <a:gd name="connsiteX3" fmla="*/ 4573 w 1675487"/>
              <a:gd name="connsiteY3" fmla="*/ 2753047 h 2781300"/>
              <a:gd name="connsiteX4" fmla="*/ 0 w 1675487"/>
              <a:gd name="connsiteY4" fmla="*/ 2751872 h 2781300"/>
              <a:gd name="connsiteX5" fmla="*/ 0 w 1675487"/>
              <a:gd name="connsiteY5" fmla="*/ 29429 h 2781300"/>
              <a:gd name="connsiteX6" fmla="*/ 4573 w 1675487"/>
              <a:gd name="connsiteY6" fmla="*/ 28253 h 2781300"/>
              <a:gd name="connsiteX7" fmla="*/ 284837 w 1675487"/>
              <a:gd name="connsiteY7" fmla="*/ 0 h 2781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675487" h="2781300">
                <a:moveTo>
                  <a:pt x="284837" y="0"/>
                </a:moveTo>
                <a:cubicBezTo>
                  <a:pt x="1052872" y="0"/>
                  <a:pt x="1675487" y="622615"/>
                  <a:pt x="1675487" y="1390650"/>
                </a:cubicBezTo>
                <a:cubicBezTo>
                  <a:pt x="1675487" y="2158685"/>
                  <a:pt x="1052872" y="2781300"/>
                  <a:pt x="284837" y="2781300"/>
                </a:cubicBezTo>
                <a:cubicBezTo>
                  <a:pt x="188833" y="2781300"/>
                  <a:pt x="95101" y="2771572"/>
                  <a:pt x="4573" y="2753047"/>
                </a:cubicBezTo>
                <a:lnTo>
                  <a:pt x="0" y="2751872"/>
                </a:lnTo>
                <a:lnTo>
                  <a:pt x="0" y="29429"/>
                </a:lnTo>
                <a:lnTo>
                  <a:pt x="4573" y="28253"/>
                </a:lnTo>
                <a:cubicBezTo>
                  <a:pt x="95101" y="9729"/>
                  <a:pt x="188833" y="0"/>
                  <a:pt x="284837" y="0"/>
                </a:cubicBezTo>
                <a:close/>
              </a:path>
            </a:pathLst>
          </a:cu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169035" y="3429000"/>
            <a:ext cx="1071880" cy="1076325"/>
          </a:xfrm>
          <a:prstGeom prst="rect">
            <a:avLst/>
          </a:prstGeom>
        </p:spPr>
        <p:txBody>
          <a:bodyPr wrap="none">
            <a:spAutoFit/>
          </a:bodyPr>
          <a:p>
            <a:r>
              <a:rPr lang="zh-CN" sz="32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被测</a:t>
            </a:r>
            <a:endParaRPr lang="zh-CN" sz="3200" b="1" spc="3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32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对象</a:t>
            </a:r>
            <a:endParaRPr lang="zh-CN" sz="3200" b="1" spc="3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 rot="0">
            <a:off x="2890520" y="2061845"/>
            <a:ext cx="7985125" cy="1217930"/>
            <a:chOff x="3134969" y="2228849"/>
            <a:chExt cx="7984866" cy="1218108"/>
          </a:xfrm>
        </p:grpSpPr>
        <p:sp>
          <p:nvSpPr>
            <p:cNvPr id="18" name="椭圆 17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1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3765265" y="2243632"/>
              <a:ext cx="7354570" cy="1203325"/>
              <a:chOff x="7893455" y="4126834"/>
              <a:chExt cx="7354570" cy="1203325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唯一可单测的一层</a:t>
                </a:r>
                <a:endParaRPr lang="zh-CN" altLang="en-US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PURE NUMPY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NO WEIGHTS · NO GPU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7893455" y="4377024"/>
                <a:ext cx="735457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VGGT 是约 10 亿参数的三维重建大模型，权重约 5.0 GB、必须依赖 GPU。而这 8 个函数是纯 NumPy 确定性几何代码，是全模型唯一能脱离权重与推理流程单独测试的部分。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35" name="组合 34"/>
          <p:cNvGrpSpPr/>
          <p:nvPr/>
        </p:nvGrpSpPr>
        <p:grpSpPr>
          <a:xfrm rot="0">
            <a:off x="3521075" y="3430905"/>
            <a:ext cx="7355205" cy="1217930"/>
            <a:chOff x="3134969" y="2228849"/>
            <a:chExt cx="7354946" cy="1218108"/>
          </a:xfrm>
        </p:grpSpPr>
        <p:sp>
          <p:nvSpPr>
            <p:cNvPr id="36" name="椭圆 35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2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37" name="组合 36"/>
            <p:cNvGrpSpPr/>
            <p:nvPr/>
          </p:nvGrpSpPr>
          <p:grpSpPr>
            <a:xfrm>
              <a:off x="3765265" y="2243632"/>
              <a:ext cx="6724650" cy="1203325"/>
              <a:chOff x="7893455" y="4126834"/>
              <a:chExt cx="6724650" cy="1203325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缺陷沿调用链传播</a:t>
                </a:r>
                <a:endParaRPr lang="zh-CN" altLang="en-US" dirty="0">
                  <a:solidFill>
                    <a:schemeClr val="accent5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CALL CHAIN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3 LEVELS DEEP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7893455" y="4377024"/>
                <a:ext cx="672465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unproject（第 15 行）→ depth_to_world（第 47 行）→ depth_to_cam（第 87 行），一次失败连穿三层调用栈，所以报错位置并不等于根因位置。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41" name="组合 40"/>
          <p:cNvGrpSpPr/>
          <p:nvPr/>
        </p:nvGrpSpPr>
        <p:grpSpPr>
          <a:xfrm rot="0">
            <a:off x="2890520" y="4800600"/>
            <a:ext cx="7985125" cy="1217930"/>
            <a:chOff x="3134969" y="2228849"/>
            <a:chExt cx="7984866" cy="1218108"/>
          </a:xfrm>
        </p:grpSpPr>
        <p:sp>
          <p:nvSpPr>
            <p:cNvPr id="28" name="椭圆 27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3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3765265" y="2243632"/>
              <a:ext cx="7354570" cy="1203325"/>
              <a:chOff x="7893455" y="4126834"/>
              <a:chExt cx="7354570" cy="1203325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绝对位姿不可比</a:t>
                </a:r>
                <a:endParaRPr lang="zh-CN" altLang="en-US" dirty="0">
                  <a:solidFill>
                    <a:schemeClr val="accent5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GAUGE FREEDOM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RELATIVE ONLY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7893455" y="4377024"/>
                <a:ext cx="735457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第一帧外参被固定为单位阵，以首帧相机作场景参考系。跨运行比较绝对位姿没有意义，断言只能取相对量或闭式解析解。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pic>
        <p:nvPicPr>
          <p:cNvPr id="12" name="图片 11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  <p:grpSp>
        <p:nvGrpSpPr>
          <p:cNvPr id="16" name="组合 15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17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直角三角形 19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7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直角三角形 4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测试方法的四项非常规选择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FOUR UNCONVENTIONAL CHOICES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" name="矩形 1"/>
          <p:cNvSpPr/>
          <p:nvPr/>
        </p:nvSpPr>
        <p:spPr>
          <a:xfrm>
            <a:off x="1092200" y="1900980"/>
            <a:ext cx="2299929" cy="3559277"/>
          </a:xfrm>
          <a:prstGeom prst="rect">
            <a:avLst/>
          </a:pr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693522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sz="2000" lang="zh-CN" altLang="en-US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实证探针</a:t>
            </a:r>
            <a:endParaRPr sz="2000" lang="zh-CN" altLang="en-US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63853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32 条预期逐条跑真实基线校验，纠正了 3 条与实现不符的预期。</a:t>
            </a:r>
            <a:endParaRPr lang="zh-CN" altLang="en-US" sz="16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4" name="直接连接符 13"/>
          <p:cNvCxnSpPr/>
          <p:nvPr/>
        </p:nvCxnSpPr>
        <p:spPr>
          <a:xfrm>
            <a:off x="1466630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chemeClr val="bg1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3661424" y="1900980"/>
            <a:ext cx="2299929" cy="35592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262745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sz="2000" lang="zh-CN" altLang="en-US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文档承诺</a:t>
            </a:r>
            <a:endParaRPr sz="2000" lang="zh-CN" altLang="en-US" b="1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833077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016 / 018 按 docstring 承诺断言，缺陷修复后自动转绿，用例无需改写。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4035854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rgbClr val="32416B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/>
          <p:cNvSpPr/>
          <p:nvPr/>
        </p:nvSpPr>
        <p:spPr>
          <a:xfrm>
            <a:off x="6230648" y="1900980"/>
            <a:ext cx="2299929" cy="3559277"/>
          </a:xfrm>
          <a:prstGeom prst="rect">
            <a:avLst/>
          </a:pr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831970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sz="2000" lang="zh-CN" altLang="en-US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绕障对照</a:t>
            </a:r>
            <a:endParaRPr sz="2000" lang="zh-CN" altLang="en-US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402301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019 改用四维输入绕开缺陷，独立验证帧数不一致应报错，不被连带击穿。</a:t>
            </a:r>
            <a:endParaRPr lang="zh-CN" altLang="en-US" sz="16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9" name="直接连接符 48"/>
          <p:cNvCxnSpPr/>
          <p:nvPr/>
        </p:nvCxnSpPr>
        <p:spPr>
          <a:xfrm>
            <a:off x="6605078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chemeClr val="bg1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8799871" y="1900980"/>
            <a:ext cx="2299929" cy="35592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9401193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sz="2000" lang="zh-CN" altLang="en-US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零改基线</a:t>
            </a:r>
            <a:endParaRPr sz="2000" lang="zh-CN" altLang="en-US" b="1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971524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全程未改 vggt-main 一行，从外层注入导入路径，退出码可被 CI 消费。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4" name="直接连接符 53"/>
          <p:cNvCxnSpPr/>
          <p:nvPr/>
        </p:nvCxnSpPr>
        <p:spPr>
          <a:xfrm>
            <a:off x="9174301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rgbClr val="32416B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图片 26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任意多边形: 形状 52"/>
          <p:cNvSpPr/>
          <p:nvPr/>
        </p:nvSpPr>
        <p:spPr>
          <a:xfrm flipH="1">
            <a:off x="4335145" y="0"/>
            <a:ext cx="7854950" cy="6858000"/>
          </a:xfrm>
          <a:custGeom>
            <a:avLst/>
            <a:gdLst>
              <a:gd name="connsiteX0" fmla="*/ 12191999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12191999 w 12192000"/>
              <a:gd name="connsiteY3" fmla="*/ 6858000 h 6858000"/>
              <a:gd name="connsiteX4" fmla="*/ 0 w 12192000"/>
              <a:gd name="connsiteY4" fmla="*/ 0 h 6858000"/>
              <a:gd name="connsiteX5" fmla="*/ 11295445 w 12192000"/>
              <a:gd name="connsiteY5" fmla="*/ 0 h 6858000"/>
              <a:gd name="connsiteX6" fmla="*/ 4437446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12191999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2191999" y="6858000"/>
                </a:lnTo>
                <a:close/>
                <a:moveTo>
                  <a:pt x="0" y="0"/>
                </a:moveTo>
                <a:lnTo>
                  <a:pt x="11295445" y="0"/>
                </a:lnTo>
                <a:lnTo>
                  <a:pt x="4437446" y="6858000"/>
                </a:lnTo>
                <a:lnTo>
                  <a:pt x="0" y="6858000"/>
                </a:lnTo>
                <a:close/>
              </a:path>
            </a:pathLst>
          </a:custGeom>
          <a:gradFill flip="none">
            <a:gsLst>
              <a:gs pos="0">
                <a:schemeClr val="accent1">
                  <a:lumMod val="20000"/>
                  <a:lumOff val="80000"/>
                </a:schemeClr>
              </a:gs>
              <a:gs pos="26000">
                <a:srgbClr val="D9EBF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" name="图片 3" descr="1.5"/>
          <p:cNvPicPr/>
          <p:nvPr>
            <p:custDataLst>
              <p:tags r:id="rId1"/>
            </p:custDataLst>
          </p:nvPr>
        </p:nvPicPr>
        <p:blipFill>
          <a:blip r:embed="rId2"/>
          <a:srcRect l="22403" t="1475" r="22481" b="58056"/>
          <a:stretch>
            <a:fillRect/>
          </a:stretch>
        </p:blipFill>
        <p:spPr>
          <a:xfrm flipH="1">
            <a:off x="7152005" y="2223135"/>
            <a:ext cx="5039995" cy="4634865"/>
          </a:xfrm>
          <a:prstGeom prst="rect">
            <a:avLst/>
          </a:prstGeom>
        </p:spPr>
      </p:pic>
      <p:pic>
        <p:nvPicPr>
          <p:cNvPr id="5" name="图片 4" descr="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3365" y="186055"/>
            <a:ext cx="1422400" cy="1080135"/>
          </a:xfrm>
          <a:prstGeom prst="rect">
            <a:avLst/>
          </a:prstGeom>
        </p:spPr>
      </p:pic>
      <p:sp>
        <p:nvSpPr>
          <p:cNvPr id="21" name="任意多边形: 形状 52"/>
          <p:cNvSpPr/>
          <p:nvPr/>
        </p:nvSpPr>
        <p:spPr>
          <a:xfrm flipV="1">
            <a:off x="4925060" y="0"/>
            <a:ext cx="4074160" cy="6858000"/>
          </a:xfrm>
          <a:custGeom>
            <a:avLst/>
            <a:gdLst>
              <a:gd name="connsiteX0" fmla="*/ 12191999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12191999 w 12192000"/>
              <a:gd name="connsiteY3" fmla="*/ 6858000 h 6858000"/>
              <a:gd name="connsiteX4" fmla="*/ 0 w 12192000"/>
              <a:gd name="connsiteY4" fmla="*/ 0 h 6858000"/>
              <a:gd name="connsiteX5" fmla="*/ 11295445 w 12192000"/>
              <a:gd name="connsiteY5" fmla="*/ 0 h 6858000"/>
              <a:gd name="connsiteX6" fmla="*/ 4437446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12191999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2191999" y="6858000"/>
                </a:lnTo>
                <a:close/>
                <a:moveTo>
                  <a:pt x="0" y="0"/>
                </a:moveTo>
                <a:lnTo>
                  <a:pt x="11295445" y="0"/>
                </a:lnTo>
                <a:lnTo>
                  <a:pt x="443744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63" name="组合 62"/>
          <p:cNvGrpSpPr/>
          <p:nvPr/>
        </p:nvGrpSpPr>
        <p:grpSpPr>
          <a:xfrm rot="10800000">
            <a:off x="-28575" y="3744463"/>
            <a:ext cx="4737100" cy="5091168"/>
            <a:chOff x="8135783" y="-1669981"/>
            <a:chExt cx="4056217" cy="4359393"/>
          </a:xfrm>
        </p:grpSpPr>
        <p:sp>
          <p:nvSpPr>
            <p:cNvPr id="65" name="任意多边形: 形状 64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4" name="直角三角形 63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19" name="图片 18" descr="小招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3745" y="6055995"/>
            <a:ext cx="1080000" cy="604432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>
            <a:off x="1981200" y="1901190"/>
            <a:ext cx="6291580" cy="2896235"/>
            <a:chOff x="1932" y="2994"/>
            <a:chExt cx="9908" cy="4561"/>
          </a:xfrm>
        </p:grpSpPr>
        <p:grpSp>
          <p:nvGrpSpPr>
            <p:cNvPr id="7" name="组合 6"/>
            <p:cNvGrpSpPr/>
            <p:nvPr/>
          </p:nvGrpSpPr>
          <p:grpSpPr>
            <a:xfrm>
              <a:off x="1932" y="2994"/>
              <a:ext cx="3242" cy="2179"/>
              <a:chOff x="2761095" y="2292169"/>
              <a:chExt cx="2058736" cy="1383665"/>
            </a:xfrm>
          </p:grpSpPr>
          <p:sp>
            <p:nvSpPr>
              <p:cNvPr id="8" name="矩形: 圆角 1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9" name="矩形: 圆角 6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3020843" y="2292169"/>
                <a:ext cx="1798988" cy="1383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8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8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4066" y="2994"/>
              <a:ext cx="2262" cy="2082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en-US" altLang="zh-CN" sz="8000" b="1" dirty="0">
                  <a:latin typeface="微软雅黑" panose="020B0503020204020204" charset="-122"/>
                  <a:ea typeface="微软雅黑" panose="020B0503020204020204" charset="-122"/>
                </a:rPr>
                <a:t>02</a:t>
              </a:r>
              <a:endParaRPr lang="en-US" altLang="zh-CN" sz="8000" b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2118" y="5546"/>
              <a:ext cx="7188" cy="1743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6600" b="1" spc="300" dirty="0">
                  <a:latin typeface="微软雅黑" panose="020B0503020204020204" charset="-122"/>
                  <a:ea typeface="微软雅黑" panose="020B0503020204020204" charset="-122"/>
                </a:rPr>
                <a:t>测试方法</a:t>
              </a:r>
              <a:endParaRPr lang="zh-CN" altLang="en-US" sz="66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212" y="6975"/>
              <a:ext cx="9628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600" dirty="0">
                <a:solidFill>
                  <a:schemeClr val="bg1">
                    <a:lumMod val="65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6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UNIQUENESS OF THE TEST METHOD</a:t>
              </a:r>
              <a:endParaRPr lang="en-US" altLang="zh-CN" sz="900" spc="600" dirty="0">
                <a:solidFill>
                  <a:schemeClr val="bg1">
                    <a:lumMod val="65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</p:spTree>
    <p:custDataLst>
      <p:tags r:id="rId5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文档承诺与实现不一致，是最值得测的位置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DOC CONTRACT VS IMPLEMENTATION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pic>
        <p:nvPicPr>
          <p:cNvPr id="51" name="图片 50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16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直角三角形 16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7" name="组合 26"/>
          <p:cNvGrpSpPr/>
          <p:nvPr/>
        </p:nvGrpSpPr>
        <p:grpSpPr>
          <a:xfrm>
            <a:off x="660400" y="1234440"/>
            <a:ext cx="10858500" cy="4899660"/>
            <a:chOff x="1040" y="1944"/>
            <a:chExt cx="17100" cy="7716"/>
          </a:xfrm>
        </p:grpSpPr>
        <p:sp>
          <p:nvSpPr>
            <p:cNvPr id="2" name="矩形 1"/>
            <p:cNvSpPr/>
            <p:nvPr/>
          </p:nvSpPr>
          <p:spPr>
            <a:xfrm>
              <a:off x="1040" y="2274"/>
              <a:ext cx="17100" cy="333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1346" y="2586"/>
              <a:ext cx="11773" cy="2733"/>
              <a:chOff x="1188085" y="4304453"/>
              <a:chExt cx="4283710" cy="1735330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1188085" y="4304453"/>
                <a:ext cx="27308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2400" b="1" dirty="0">
                    <a:solidFill>
                      <a:srgbClr val="25557A"/>
                    </a:solidFill>
                  </a:rPr>
                  <a:t>函数契约（第 22 行）</a:t>
                </a:r>
                <a:endParaRPr lang="zh-CN" altLang="en-US" sz="2400" b="1" dirty="0">
                  <a:solidFill>
                    <a:srgbClr val="25557A"/>
                  </a:solidFill>
                </a:endParaRPr>
              </a:p>
            </p:txBody>
          </p:sp>
          <p:cxnSp>
            <p:nvCxnSpPr>
              <p:cNvPr id="20" name="直接连接符 19"/>
              <p:cNvCxnSpPr/>
              <p:nvPr/>
            </p:nvCxnSpPr>
            <p:spPr>
              <a:xfrm>
                <a:off x="1248911" y="4856923"/>
                <a:ext cx="4097913" cy="0"/>
              </a:xfrm>
              <a:prstGeom prst="line">
                <a:avLst/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文本框 20"/>
              <p:cNvSpPr txBox="1"/>
              <p:nvPr/>
            </p:nvSpPr>
            <p:spPr>
              <a:xfrm>
                <a:off x="1188085" y="4896457"/>
                <a:ext cx="4283710" cy="1143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 algn="just">
                  <a:lnSpc>
                    <a:spcPct val="130000"/>
                  </a:lnSpc>
                </a:pPr>
                <a:r>
                  <a:rPr sz="1400" lang="zh-CN" altLang="en-US" dirty="0"/>
                  <a:t>docstring 明文声明：depth_map 的形状可为 (S, H, W, 1) 或 (S, H, W)。</a:t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endParaRPr sz="1400" lang="zh-CN" altLang="en-US" dirty="0"/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>
              <a:off x="1040" y="5994"/>
              <a:ext cx="17100" cy="3666"/>
              <a:chOff x="660400" y="1603756"/>
              <a:chExt cx="10858500" cy="2328164"/>
            </a:xfrm>
          </p:grpSpPr>
          <p:sp>
            <p:nvSpPr>
              <p:cNvPr id="23" name="矩形 22"/>
              <p:cNvSpPr/>
              <p:nvPr/>
            </p:nvSpPr>
            <p:spPr>
              <a:xfrm>
                <a:off x="660400" y="1813560"/>
                <a:ext cx="10858500" cy="211836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pic>
            <p:nvPicPr>
              <p:cNvPr id="32" name="图片 31" descr="C:\Users\14638\Desktop\IMG_2588(20220923-102348).JPGIMG_2588(20220923-102348)"/>
              <p:cNvPicPr/>
              <p:nvPr/>
            </p:nvPicPr>
            <p:blipFill rotWithShape="1">
              <a:blip r:embed="rId2"/>
              <a:srcRect/>
              <a:stretch>
                <a:fillRect/>
              </a:stretch>
            </p:blipFill>
            <p:spPr>
              <a:xfrm>
                <a:off x="989185" y="1603756"/>
                <a:ext cx="2327910" cy="2328164"/>
              </a:xfrm>
              <a:prstGeom prst="rect">
                <a:avLst/>
              </a:prstGeom>
            </p:spPr>
          </p:pic>
        </p:grpSp>
        <p:grpSp>
          <p:nvGrpSpPr>
            <p:cNvPr id="35" name="组合 34"/>
            <p:cNvGrpSpPr/>
            <p:nvPr/>
          </p:nvGrpSpPr>
          <p:grpSpPr>
            <a:xfrm>
              <a:off x="5870" y="6635"/>
              <a:ext cx="11773" cy="2744"/>
              <a:chOff x="1188085" y="4304453"/>
              <a:chExt cx="4283710" cy="1742315"/>
            </a:xfrm>
          </p:grpSpPr>
          <p:sp>
            <p:nvSpPr>
              <p:cNvPr id="37" name="文本框 36"/>
              <p:cNvSpPr txBox="1"/>
              <p:nvPr/>
            </p:nvSpPr>
            <p:spPr>
              <a:xfrm>
                <a:off x="1188085" y="4304453"/>
                <a:ext cx="2730844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2400" b="1" dirty="0">
                    <a:solidFill>
                      <a:srgbClr val="25557A"/>
                    </a:solidFill>
                  </a:rPr>
                  <a:t>实际实现（第 39 行）</a:t>
                </a:r>
                <a:endParaRPr lang="zh-CN" altLang="en-US" sz="2400" b="1" dirty="0">
                  <a:solidFill>
                    <a:schemeClr val="accent1"/>
                  </a:solidFill>
                </a:endParaRPr>
              </a:p>
            </p:txBody>
          </p:sp>
          <p:cxnSp>
            <p:nvCxnSpPr>
              <p:cNvPr id="38" name="直接连接符 37"/>
              <p:cNvCxnSpPr/>
              <p:nvPr/>
            </p:nvCxnSpPr>
            <p:spPr>
              <a:xfrm>
                <a:off x="1232903" y="4863908"/>
                <a:ext cx="4097913" cy="0"/>
              </a:xfrm>
              <a:prstGeom prst="line">
                <a:avLst/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文本框 38"/>
              <p:cNvSpPr txBox="1"/>
              <p:nvPr/>
            </p:nvSpPr>
            <p:spPr>
              <a:xfrm>
                <a:off x="1188085" y="4903442"/>
                <a:ext cx="4283710" cy="1143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 algn="just">
                  <a:lnSpc>
                    <a:spcPct val="130000"/>
                  </a:lnSpc>
                </a:pPr>
                <a:r>
                  <a:rPr sz="1400" lang="zh-CN" altLang="en-US" dirty="0"/>
                  <a:t>但实现第 39 行对每一帧无条件执行 squeeze(-1)，实质只兼容四维输入。</a:t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endParaRPr sz="1400" lang="zh-CN" altLang="en-US" dirty="0"/>
              </a:p>
            </p:txBody>
          </p:sp>
        </p:grpSp>
        <p:grpSp>
          <p:nvGrpSpPr>
            <p:cNvPr id="25" name="组合 24"/>
            <p:cNvGrpSpPr/>
            <p:nvPr/>
          </p:nvGrpSpPr>
          <p:grpSpPr>
            <a:xfrm>
              <a:off x="13940" y="1944"/>
              <a:ext cx="3665" cy="3666"/>
              <a:chOff x="13940" y="1944"/>
              <a:chExt cx="3665" cy="3666"/>
            </a:xfrm>
          </p:grpSpPr>
          <p:pic>
            <p:nvPicPr>
              <p:cNvPr id="40" name="图片 39" descr="C:\Users\14638\Desktop\IMG_2587(20220923-102336).JPGIMG_2587(20220923-102336)"/>
              <p:cNvPicPr/>
              <p:nvPr/>
            </p:nvPicPr>
            <p:blipFill rotWithShape="1">
              <a:blip r:embed="rId3"/>
              <a:srcRect/>
              <a:stretch>
                <a:fillRect/>
              </a:stretch>
            </p:blipFill>
            <p:spPr>
              <a:xfrm>
                <a:off x="13940" y="1944"/>
                <a:ext cx="3665" cy="3666"/>
              </a:xfrm>
              <a:prstGeom prst="rect">
                <a:avLst/>
              </a:prstGeom>
            </p:spPr>
          </p:pic>
          <p:pic>
            <p:nvPicPr>
              <p:cNvPr id="18" name="图片 17" descr="小招logo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922" y="4366"/>
                <a:ext cx="1701" cy="952"/>
              </a:xfrm>
              <a:prstGeom prst="rect">
                <a:avLst/>
              </a:prstGeom>
            </p:spPr>
          </p:pic>
        </p:grpSp>
        <p:pic>
          <p:nvPicPr>
            <p:cNvPr id="24" name="图片 23" descr="小招logo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1" y="8427"/>
              <a:ext cx="1701" cy="952"/>
            </a:xfrm>
            <a:prstGeom prst="rect">
              <a:avLst/>
            </a:prstGeom>
          </p:spPr>
        </p:pic>
      </p:grpSp>
    </p:spTree>
    <p:custDataLst>
      <p:tags r:id="rId5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用最小输入逼出两类失败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SHAPE MATRIX OF TEST SAMPLES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pic>
        <p:nvPicPr>
          <p:cNvPr id="51" name="图片 50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  <p:grpSp>
        <p:nvGrpSpPr>
          <p:cNvPr id="21" name="组合 20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22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" name="直角三角形 22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749935" y="1419860"/>
            <a:ext cx="10692130" cy="4617720"/>
            <a:chOff x="1181" y="2236"/>
            <a:chExt cx="16838" cy="7272"/>
          </a:xfrm>
        </p:grpSpPr>
        <p:grpSp>
          <p:nvGrpSpPr>
            <p:cNvPr id="33" name="组合 32"/>
            <p:cNvGrpSpPr/>
            <p:nvPr/>
          </p:nvGrpSpPr>
          <p:grpSpPr>
            <a:xfrm>
              <a:off x="5662" y="2733"/>
              <a:ext cx="3586" cy="4308"/>
              <a:chOff x="871675" y="1735596"/>
              <a:chExt cx="2276930" cy="2735527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34" name="矩形 33"/>
              <p:cNvSpPr/>
              <p:nvPr/>
            </p:nvSpPr>
            <p:spPr>
              <a:xfrm>
                <a:off x="871675" y="1735596"/>
                <a:ext cx="2276930" cy="2703053"/>
              </a:xfrm>
              <a:prstGeom prst="rect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p>
                <a:pPr algn="ctr"/>
                <a:endParaRPr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956268" y="2054948"/>
                <a:ext cx="2107745" cy="2416175"/>
              </a:xfrm>
              <a:prstGeom prst="rect">
                <a:avLst/>
              </a:prstGeom>
              <a:grpFill/>
            </p:spPr>
            <p:txBody>
              <a:bodyPr wrap="square">
                <a:spAutoFit/>
              </a:bodyPr>
              <a:p>
                <a:pPr algn="just">
                  <a:lnSpc>
                    <a:spcPct val="120000"/>
                  </a:lnSpc>
                </a:pPr>
                <a:r>
                  <a:rPr sz="1200" lang="zh-CN" altLang="en-US"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失败②：W &gt; 1 时对非单位轴 squeeze，直接抛错。</a:t>
                </a:r>
                <a:endParaRPr sz="1200" lang="zh-CN" altLang="en-US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  <a:p>
                <a:pPr algn="just">
                  <a:lnSpc>
                    <a:spcPct val="120000"/>
                  </a:lnSpc>
                </a:pPr>
                <a:endParaRPr sz="1200"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9952" y="2733"/>
              <a:ext cx="3586" cy="4257"/>
              <a:chOff x="871675" y="1735596"/>
              <a:chExt cx="2276930" cy="2703053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13" name="矩形 12"/>
              <p:cNvSpPr/>
              <p:nvPr/>
            </p:nvSpPr>
            <p:spPr>
              <a:xfrm>
                <a:off x="871675" y="1735596"/>
                <a:ext cx="2276930" cy="2703053"/>
              </a:xfrm>
              <a:prstGeom prst="rect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p>
                <a:pPr algn="ctr"/>
                <a:endParaRPr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956268" y="2054948"/>
                <a:ext cx="2107745" cy="2084070"/>
              </a:xfrm>
              <a:prstGeom prst="rect">
                <a:avLst/>
              </a:prstGeom>
              <a:grpFill/>
            </p:spPr>
            <p:txBody>
              <a:bodyPr wrap="square">
                <a:spAutoFit/>
              </a:bodyPr>
              <a:p>
                <a:pPr algn="just" fontAlgn="auto">
                  <a:lnSpc>
                    <a:spcPct val="120000"/>
                  </a:lnSpc>
                </a:pPr>
                <a:r>
                  <a:rPr sz="1200" lang="zh-CN" altLang="en-US"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通过：正常返回 (2, 1, 1, 3)。这是声明的另一种形状。</a:t>
                </a:r>
                <a:endParaRPr sz="1200"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</p:grpSp>
        <p:grpSp>
          <p:nvGrpSpPr>
            <p:cNvPr id="15" name="组合 14"/>
            <p:cNvGrpSpPr/>
            <p:nvPr/>
          </p:nvGrpSpPr>
          <p:grpSpPr>
            <a:xfrm>
              <a:off x="14242" y="2733"/>
              <a:ext cx="3586" cy="4257"/>
              <a:chOff x="871675" y="1735596"/>
              <a:chExt cx="2276930" cy="2703053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16" name="矩形 15"/>
              <p:cNvSpPr/>
              <p:nvPr/>
            </p:nvSpPr>
            <p:spPr>
              <a:xfrm>
                <a:off x="871675" y="1735596"/>
                <a:ext cx="2276930" cy="2703053"/>
              </a:xfrm>
              <a:prstGeom prst="rect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p>
                <a:pPr algn="ctr"/>
                <a:endParaRPr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956268" y="2054948"/>
                <a:ext cx="2107745" cy="2084070"/>
              </a:xfrm>
              <a:prstGeom prst="rect">
                <a:avLst/>
              </a:prstGeom>
              <a:grpFill/>
            </p:spPr>
            <p:txBody>
              <a:bodyPr wrap="square">
                <a:spAutoFit/>
              </a:bodyPr>
              <a:p>
                <a:pPr algn="just" fontAlgn="auto">
                  <a:lnSpc>
                    <a:spcPct val="120000"/>
                  </a:lnSpc>
                </a:pPr>
                <a:r>
                  <a:rPr sz="1200" lang="zh-CN" altLang="en-US"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通过：正常返回 (2, 1, 2, 3)。与左格同源，缺陷只在三维分支。</a:t>
                </a:r>
                <a:endParaRPr sz="1200"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endParaRPr>
              </a:p>
            </p:txBody>
          </p:sp>
        </p:grpSp>
        <p:grpSp>
          <p:nvGrpSpPr>
            <p:cNvPr id="17" name="组合 16"/>
            <p:cNvGrpSpPr/>
            <p:nvPr/>
          </p:nvGrpSpPr>
          <p:grpSpPr>
            <a:xfrm>
              <a:off x="1373" y="2733"/>
              <a:ext cx="3586" cy="4317"/>
              <a:chOff x="871675" y="1735596"/>
              <a:chExt cx="2276930" cy="2741242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25" name="矩形 24"/>
              <p:cNvSpPr/>
              <p:nvPr/>
            </p:nvSpPr>
            <p:spPr>
              <a:xfrm>
                <a:off x="871675" y="1735596"/>
                <a:ext cx="2276930" cy="2703053"/>
              </a:xfrm>
              <a:prstGeom prst="rect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p>
                <a:pPr algn="ctr"/>
                <a:endParaRPr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956268" y="2060663"/>
                <a:ext cx="2107745" cy="2416175"/>
              </a:xfrm>
              <a:prstGeom prst="rect">
                <a:avLst/>
              </a:prstGeom>
              <a:grpFill/>
            </p:spPr>
            <p:txBody>
              <a:bodyPr wrap="square">
                <a:spAutoFit/>
              </a:bodyPr>
              <a:p>
                <a:pPr algn="just">
                  <a:lnSpc>
                    <a:spcPct val="120000"/>
                  </a:lnSpc>
                </a:pPr>
                <a:r>
                  <a:rPr sz="1200" lang="zh-CN" altLang="en-US"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失败①：W = 1 时宽度维被删，H, W 解包失败。</a:t>
                </a:r>
                <a:endParaRPr sz="1200" lang="zh-CN" altLang="en-US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  <a:p>
                <a:pPr algn="just">
                  <a:lnSpc>
                    <a:spcPct val="120000"/>
                  </a:lnSpc>
                </a:pPr>
                <a:endParaRPr sz="1200" lang="zh-CN" altLang="en-US" b="1" kern="0" dirty="0">
                  <a:solidFill>
                    <a:srgbClr val="2E703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endParaRPr>
              </a:p>
            </p:txBody>
          </p:sp>
        </p:grpSp>
        <p:pic>
          <p:nvPicPr>
            <p:cNvPr id="18" name="图片 17" descr="C:\Users\14638\Desktop\IMG_2592(20220923-103912).JPGIMG_2592(20220923-103912)"/>
            <p:cNvPicPr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9760" y="6673"/>
              <a:ext cx="3969" cy="283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pic>
          <p:nvPicPr>
            <p:cNvPr id="24" name="图片 23" descr="C:\Users\14638\Desktop\IMG_2593.JPGIMG_2593"/>
            <p:cNvPicPr/>
            <p:nvPr>
              <p:custDataLst>
                <p:tags r:id="rId3"/>
              </p:custDataLst>
            </p:nvPr>
          </p:nvPicPr>
          <p:blipFill>
            <a:blip r:embed="rId4"/>
            <a:srcRect/>
            <a:stretch>
              <a:fillRect/>
            </a:stretch>
          </p:blipFill>
          <p:spPr>
            <a:xfrm>
              <a:off x="1182" y="6673"/>
              <a:ext cx="3969" cy="283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pic>
          <p:nvPicPr>
            <p:cNvPr id="28" name="图片 27" descr="C:\Users\14638\Desktop\IMG_2590(20220923-103637).JPGIMG_2590(20220923-103637)"/>
            <p:cNvPicPr/>
            <p:nvPr/>
          </p:nvPicPr>
          <p:blipFill>
            <a:blip r:embed="rId5"/>
            <a:srcRect/>
            <a:stretch>
              <a:fillRect/>
            </a:stretch>
          </p:blipFill>
          <p:spPr>
            <a:xfrm>
              <a:off x="5471" y="6673"/>
              <a:ext cx="3969" cy="283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pic>
          <p:nvPicPr>
            <p:cNvPr id="30" name="图片 29" descr="C:\Users\14638\Desktop\IMG_2589(20220923-103609).JPGIMG_2589(20220923-103609)"/>
            <p:cNvPicPr/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14050" y="6673"/>
              <a:ext cx="3969" cy="283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sp>
          <p:nvSpPr>
            <p:cNvPr id="31" name="矩形: 圆角 17"/>
            <p:cNvSpPr/>
            <p:nvPr/>
          </p:nvSpPr>
          <p:spPr>
            <a:xfrm>
              <a:off x="1181" y="2236"/>
              <a:ext cx="3969" cy="786"/>
            </a:xfrm>
            <a:prstGeom prst="roundRect">
              <a:avLst>
                <a:gd name="adj" fmla="val 50000"/>
              </a:avLst>
            </a:prstGeom>
            <a:solidFill>
              <a:srgbClr val="25557A"/>
            </a:solidFill>
            <a:ln w="19050" cap="flat" cmpd="sng" algn="ctr">
              <a:solidFill>
                <a:schemeClr val="bg1"/>
              </a:solidFill>
              <a:prstDash val="solid"/>
              <a:miter lim="800000"/>
            </a:ln>
            <a:effectLst>
              <a:outerShdw blurRad="152400" dist="152400" dir="5400000" sx="81000" sy="81000" algn="t" rotWithShape="0">
                <a:schemeClr val="tx2">
                  <a:lumMod val="50000"/>
                  <a:lumOff val="50000"/>
                  <a:alpha val="30000"/>
                </a:schemeClr>
              </a:outerShdw>
            </a:effectLst>
          </p:spPr>
          <p:txBody>
            <a:bodyPr rtlCol="0" anchor="ctr"/>
            <a:p>
              <a:pPr algn="ctr"/>
              <a:r>
                <a:rPr sz="2000" lang="zh-CN" altLang="en-US" b="1" kern="0" dirty="0">
                  <a:solidFill>
                    <a:schemeClr val="bg1"/>
                  </a:solidFill>
                  <a:effectLst/>
                  <a:latin typeface="微软雅黑" panose="020B0503020204020204" charset="-122"/>
                  <a:ea typeface="微软雅黑" panose="020B0503020204020204" charset="-122"/>
                </a:rPr>
                <a:t>(2,1,1)</a:t>
              </a:r>
              <a:endParaRPr sz="2000" lang="zh-CN" altLang="en-US" b="1" kern="0" dirty="0">
                <a:solidFill>
                  <a:schemeClr val="bg1"/>
                </a:solidFill>
                <a:effectLst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2" name="矩形: 圆角 18"/>
            <p:cNvSpPr/>
            <p:nvPr/>
          </p:nvSpPr>
          <p:spPr>
            <a:xfrm>
              <a:off x="5471" y="2236"/>
              <a:ext cx="3969" cy="786"/>
            </a:xfrm>
            <a:prstGeom prst="roundRect">
              <a:avLst>
                <a:gd name="adj" fmla="val 50000"/>
              </a:avLst>
            </a:prstGeom>
            <a:solidFill>
              <a:srgbClr val="25557A"/>
            </a:solidFill>
            <a:ln w="19050" cap="flat" cmpd="sng" algn="ctr">
              <a:solidFill>
                <a:schemeClr val="bg1"/>
              </a:solidFill>
              <a:prstDash val="solid"/>
              <a:miter lim="800000"/>
            </a:ln>
            <a:effectLst>
              <a:outerShdw blurRad="152400" dist="152400" dir="5400000" sx="81000" sy="81000" algn="t" rotWithShape="0">
                <a:schemeClr val="tx2">
                  <a:lumMod val="50000"/>
                  <a:lumOff val="50000"/>
                  <a:alpha val="30000"/>
                </a:schemeClr>
              </a:outerShdw>
            </a:effectLst>
          </p:spPr>
          <p:txBody>
            <a:bodyPr rtlCol="0" anchor="ctr"/>
            <a:p>
              <a:pPr algn="ctr"/>
              <a:r>
                <a:rPr sz="2000" lang="zh-CN" altLang="en-US" b="1" kern="0" dirty="0">
                  <a:solidFill>
                    <a:schemeClr val="bg1"/>
                  </a:solidFill>
                  <a:effectLst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(2,1,2)</a:t>
              </a:r>
              <a:endParaRPr sz="2000" lang="zh-CN" altLang="en-US" b="1" kern="0" dirty="0">
                <a:solidFill>
                  <a:schemeClr val="bg1"/>
                </a:solidFill>
                <a:effectLst/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43" name="矩形: 圆角 19"/>
            <p:cNvSpPr/>
            <p:nvPr/>
          </p:nvSpPr>
          <p:spPr>
            <a:xfrm>
              <a:off x="9760" y="2236"/>
              <a:ext cx="3969" cy="786"/>
            </a:xfrm>
            <a:prstGeom prst="roundRect">
              <a:avLst>
                <a:gd name="adj" fmla="val 50000"/>
              </a:avLst>
            </a:prstGeom>
            <a:solidFill>
              <a:srgbClr val="25557A"/>
            </a:solidFill>
            <a:ln w="19050" cap="flat" cmpd="sng" algn="ctr">
              <a:solidFill>
                <a:schemeClr val="bg1"/>
              </a:solidFill>
              <a:prstDash val="solid"/>
              <a:miter lim="800000"/>
            </a:ln>
            <a:effectLst>
              <a:outerShdw blurRad="152400" dist="152400" dir="5400000" sx="81000" sy="81000" algn="t" rotWithShape="0">
                <a:schemeClr val="tx2">
                  <a:lumMod val="50000"/>
                  <a:lumOff val="50000"/>
                  <a:alpha val="30000"/>
                </a:schemeClr>
              </a:outerShdw>
            </a:effectLst>
          </p:spPr>
          <p:txBody>
            <a:bodyPr rtlCol="0" anchor="ctr"/>
            <a:p>
              <a:pPr algn="ctr"/>
              <a:r>
                <a:rPr sz="2000" lang="zh-CN" altLang="en-US" b="1" kern="0" dirty="0">
                  <a:solidFill>
                    <a:schemeClr val="bg1"/>
                  </a:solidFill>
                  <a:effectLst/>
                  <a:latin typeface="微软雅黑" panose="020B0503020204020204" charset="-122"/>
                  <a:ea typeface="微软雅黑" panose="020B0503020204020204" charset="-122"/>
                </a:rPr>
                <a:t>(2,1,1,1)</a:t>
              </a:r>
              <a:endParaRPr sz="2000" lang="zh-CN" altLang="en-US" b="1" kern="0" dirty="0">
                <a:solidFill>
                  <a:schemeClr val="bg1"/>
                </a:solidFill>
                <a:effectLst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4" name="矩形: 圆角 20"/>
            <p:cNvSpPr/>
            <p:nvPr/>
          </p:nvSpPr>
          <p:spPr>
            <a:xfrm>
              <a:off x="14050" y="2236"/>
              <a:ext cx="3969" cy="786"/>
            </a:xfrm>
            <a:prstGeom prst="roundRect">
              <a:avLst>
                <a:gd name="adj" fmla="val 50000"/>
              </a:avLst>
            </a:prstGeom>
            <a:solidFill>
              <a:srgbClr val="25557A"/>
            </a:solidFill>
            <a:ln w="19050" cap="flat" cmpd="sng" algn="ctr">
              <a:solidFill>
                <a:schemeClr val="bg1"/>
              </a:solidFill>
              <a:prstDash val="solid"/>
              <a:miter lim="800000"/>
            </a:ln>
            <a:effectLst>
              <a:outerShdw blurRad="152400" dist="152400" dir="5400000" sx="81000" sy="81000" algn="t" rotWithShape="0">
                <a:schemeClr val="tx2">
                  <a:lumMod val="50000"/>
                  <a:lumOff val="50000"/>
                  <a:alpha val="30000"/>
                </a:schemeClr>
              </a:outerShdw>
            </a:effectLst>
          </p:spPr>
          <p:txBody>
            <a:bodyPr rtlCol="0" anchor="ctr"/>
            <a:p>
              <a:pPr algn="ctr"/>
              <a:r>
                <a:rPr sz="2000" lang="zh-CN" altLang="en-US" b="1" kern="0" dirty="0">
                  <a:solidFill>
                    <a:schemeClr val="bg1"/>
                  </a:solidFill>
                  <a:effectLst/>
                  <a:latin typeface="微软雅黑" panose="020B0503020204020204" charset="-122"/>
                  <a:ea typeface="微软雅黑" panose="020B0503020204020204" charset="-122"/>
                </a:rPr>
                <a:t>(2,1,2,1)</a:t>
              </a:r>
              <a:endParaRPr sz="2000" lang="zh-CN" altLang="en-US" b="1" kern="0" dirty="0">
                <a:solidFill>
                  <a:schemeClr val="bg1"/>
                </a:solidFill>
                <a:effectLst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pic>
          <p:nvPicPr>
            <p:cNvPr id="32" name="图片 31" descr="小招logo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316" y="8415"/>
              <a:ext cx="1701" cy="952"/>
            </a:xfrm>
            <a:prstGeom prst="rect">
              <a:avLst/>
            </a:prstGeom>
          </p:spPr>
        </p:pic>
        <p:pic>
          <p:nvPicPr>
            <p:cNvPr id="35" name="图片 34" descr="小招logo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05" y="8415"/>
              <a:ext cx="1701" cy="952"/>
            </a:xfrm>
            <a:prstGeom prst="rect">
              <a:avLst/>
            </a:prstGeom>
          </p:spPr>
        </p:pic>
        <p:pic>
          <p:nvPicPr>
            <p:cNvPr id="37" name="图片 36" descr="小招logo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894" y="8415"/>
              <a:ext cx="1701" cy="952"/>
            </a:xfrm>
            <a:prstGeom prst="rect">
              <a:avLst/>
            </a:prstGeom>
          </p:spPr>
        </p:pic>
        <p:pic>
          <p:nvPicPr>
            <p:cNvPr id="38" name="图片 37" descr="小招logo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405" y="8415"/>
              <a:ext cx="1701" cy="952"/>
            </a:xfrm>
            <a:prstGeom prst="rect">
              <a:avLst/>
            </a:prstGeom>
          </p:spPr>
        </p:pic>
      </p:grpSp>
    </p:spTree>
    <p:custDataLst>
      <p:tags r:id="rId8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1037"/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9106535" y="5777865"/>
            <a:ext cx="3085714" cy="1080000"/>
          </a:xfrm>
          <a:prstGeom prst="rect">
            <a:avLst/>
          </a:prstGeom>
        </p:spPr>
      </p:pic>
      <p:grpSp>
        <p:nvGrpSpPr>
          <p:cNvPr id="11" name="组合 10"/>
          <p:cNvGrpSpPr/>
          <p:nvPr/>
        </p:nvGrpSpPr>
        <p:grpSpPr>
          <a:xfrm>
            <a:off x="2151380" y="2035175"/>
            <a:ext cx="7889240" cy="2787650"/>
            <a:chOff x="4143" y="4637"/>
            <a:chExt cx="12424" cy="4390"/>
          </a:xfrm>
        </p:grpSpPr>
        <p:sp>
          <p:nvSpPr>
            <p:cNvPr id="27" name="文本框 1"/>
            <p:cNvSpPr txBox="1"/>
            <p:nvPr/>
          </p:nvSpPr>
          <p:spPr>
            <a:xfrm>
              <a:off x="4143" y="4637"/>
              <a:ext cx="12424" cy="1598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algn="ctr" rtl="0" eaLnBrk="1" fontAlgn="auto" latinLnBrk="0" hangingPunct="1"/>
              <a:r>
                <a:rPr lang="zh-CN" sz="6000" b="1" kern="10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谢谢观看</a:t>
              </a:r>
              <a:endParaRPr lang="zh-CN" sz="6000" b="1" kern="100">
                <a:solidFill>
                  <a:srgbClr val="2555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  <p:sp>
          <p:nvSpPr>
            <p:cNvPr id="28" name="文本框 1"/>
            <p:cNvSpPr txBox="1"/>
            <p:nvPr/>
          </p:nvSpPr>
          <p:spPr>
            <a:xfrm>
              <a:off x="7636" y="8530"/>
              <a:ext cx="5913" cy="497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p>
              <a:pPr algn="l" rtl="0" eaLnBrk="1" fontAlgn="auto" latinLnBrk="0" hangingPunct="1">
                <a:lnSpc>
                  <a:spcPts val="1800"/>
                </a:lnSpc>
              </a:pP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汇报人丨小组成员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   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时间丨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2026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年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9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月</a:t>
              </a:r>
              <a:endParaRPr lang="zh-CN" altLang="en-US" sz="1600" kern="1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  <p:sp>
          <p:nvSpPr>
            <p:cNvPr id="29" name="文本框 32"/>
            <p:cNvSpPr txBox="1"/>
            <p:nvPr/>
          </p:nvSpPr>
          <p:spPr>
            <a:xfrm>
              <a:off x="5781" y="6564"/>
              <a:ext cx="9129" cy="564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p>
              <a:pPr algn="ctr" rtl="0" eaLnBrk="1" fontAlgn="auto" latinLnBrk="0" hangingPunct="1">
                <a:lnSpc>
                  <a:spcPts val="2000"/>
                </a:lnSpc>
              </a:pP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脱离权重单测</a:t>
              </a:r>
              <a:r>
                <a:rPr lang="en-US" altLang="zh-CN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| </a:t>
              </a: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用例自动转绿</a:t>
              </a:r>
              <a:r>
                <a:rPr lang="en-US" altLang="zh-CN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| </a:t>
              </a: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复现一条命令</a:t>
              </a:r>
              <a:endParaRPr lang="en-US" altLang="zh-CN" sz="2000" b="1" kern="10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7454900" y="-1959610"/>
            <a:ext cx="4737100" cy="5091430"/>
            <a:chOff x="11740" y="-3086"/>
            <a:chExt cx="7460" cy="8018"/>
          </a:xfrm>
        </p:grpSpPr>
        <p:grpSp>
          <p:nvGrpSpPr>
            <p:cNvPr id="3" name="组合 2"/>
            <p:cNvGrpSpPr/>
            <p:nvPr/>
          </p:nvGrpSpPr>
          <p:grpSpPr>
            <a:xfrm>
              <a:off x="11740" y="-3086"/>
              <a:ext cx="7460" cy="8018"/>
              <a:chOff x="8135783" y="-1669981"/>
              <a:chExt cx="4056217" cy="4359393"/>
            </a:xfrm>
          </p:grpSpPr>
          <p:sp>
            <p:nvSpPr>
              <p:cNvPr id="7" name="任意多边形: 形状 12"/>
              <p:cNvSpPr/>
              <p:nvPr/>
            </p:nvSpPr>
            <p:spPr>
              <a:xfrm rot="18900000">
                <a:off x="8135783" y="-1669981"/>
                <a:ext cx="3339963" cy="3339962"/>
              </a:xfrm>
              <a:custGeom>
                <a:avLst/>
                <a:gdLst>
                  <a:gd name="connsiteX0" fmla="*/ 0 w 3339963"/>
                  <a:gd name="connsiteY0" fmla="*/ 0 h 3339962"/>
                  <a:gd name="connsiteX1" fmla="*/ 3339963 w 3339963"/>
                  <a:gd name="connsiteY1" fmla="*/ 3339962 h 3339962"/>
                  <a:gd name="connsiteX2" fmla="*/ 1099563 w 3339963"/>
                  <a:gd name="connsiteY2" fmla="*/ 3339962 h 333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339963" h="3339962">
                    <a:moveTo>
                      <a:pt x="0" y="0"/>
                    </a:moveTo>
                    <a:lnTo>
                      <a:pt x="3339963" y="3339962"/>
                    </a:lnTo>
                    <a:lnTo>
                      <a:pt x="1099563" y="3339962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直角三角形 7"/>
              <p:cNvSpPr/>
              <p:nvPr/>
            </p:nvSpPr>
            <p:spPr>
              <a:xfrm rot="10800000">
                <a:off x="9502588" y="0"/>
                <a:ext cx="2689412" cy="2689412"/>
              </a:xfrm>
              <a:prstGeom prst="rtTriangle">
                <a:avLst/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pic>
          <p:nvPicPr>
            <p:cNvPr id="12" name="图片 11" descr="校徽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399" y="293"/>
              <a:ext cx="2240" cy="1701"/>
            </a:xfrm>
            <a:prstGeom prst="rect">
              <a:avLst/>
            </a:prstGeom>
          </p:spPr>
        </p:pic>
      </p:grpSp>
      <p:grpSp>
        <p:nvGrpSpPr>
          <p:cNvPr id="13" name="组合 12"/>
          <p:cNvGrpSpPr/>
          <p:nvPr/>
        </p:nvGrpSpPr>
        <p:grpSpPr>
          <a:xfrm rot="10800000">
            <a:off x="-28575" y="3766688"/>
            <a:ext cx="4737100" cy="5091168"/>
            <a:chOff x="8135783" y="-1669981"/>
            <a:chExt cx="4056217" cy="4359393"/>
          </a:xfrm>
        </p:grpSpPr>
        <p:sp>
          <p:nvSpPr>
            <p:cNvPr id="14" name="任意多边形: 形状 64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直角三角形 15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  <p:custDataLst>
      <p:tags r:id="rId3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7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直角三角形 4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一次真实执行：33 条执行，31 通过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ONE REAL RUN · 93.9% PASS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" name="矩形 1"/>
          <p:cNvSpPr/>
          <p:nvPr/>
        </p:nvSpPr>
        <p:spPr>
          <a:xfrm>
            <a:off x="1092200" y="1900980"/>
            <a:ext cx="2299929" cy="3559277"/>
          </a:xfrm>
          <a:prstGeom prst="rect">
            <a:avLst/>
          </a:pr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693522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sz="2600" lang="zh-CN" altLang="en-US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33</a:t>
            </a:r>
            <a:endParaRPr sz="2600" lang="zh-CN" altLang="en-US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63853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条自动化用例执行，覆盖全部 8 个函数。</a:t>
            </a:r>
            <a:endParaRPr lang="zh-CN" altLang="en-US" sz="16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4" name="直接连接符 13"/>
          <p:cNvCxnSpPr/>
          <p:nvPr/>
        </p:nvCxnSpPr>
        <p:spPr>
          <a:xfrm>
            <a:off x="1466630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chemeClr val="bg1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3661424" y="1900980"/>
            <a:ext cx="2299929" cy="35592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262745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sz="2600" lang="zh-CN" altLang="en-US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31</a:t>
            </a:r>
            <a:endParaRPr sz="2600" lang="zh-CN" altLang="en-US" b="1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833077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条通过，含 1 条专门设计的绕障对照用例。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4035854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rgbClr val="32416B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/>
          <p:cNvSpPr/>
          <p:nvPr/>
        </p:nvSpPr>
        <p:spPr>
          <a:xfrm>
            <a:off x="6230648" y="1900980"/>
            <a:ext cx="2299929" cy="3559277"/>
          </a:xfrm>
          <a:prstGeom prst="rect">
            <a:avLst/>
          </a:pr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831970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sz="2600" lang="zh-CN" altLang="en-US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600" lang="zh-CN" altLang="en-US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402301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条失败：M1-GEO-016 与 018，traceback 逐层一致。</a:t>
            </a:r>
            <a:endParaRPr lang="zh-CN" altLang="en-US" sz="16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9" name="直接连接符 48"/>
          <p:cNvCxnSpPr/>
          <p:nvPr/>
        </p:nvCxnSpPr>
        <p:spPr>
          <a:xfrm>
            <a:off x="6605078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chemeClr val="bg1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8799871" y="1900980"/>
            <a:ext cx="2299929" cy="35592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9401193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sz="2600" lang="zh-CN" altLang="en-US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93.9%</a:t>
            </a:r>
            <a:endParaRPr sz="2600" lang="zh-CN" altLang="en-US" b="1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971524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用例通过率 = 31 / 33，退出码 1，与约定一致。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4" name="直接连接符 53"/>
          <p:cNvCxnSpPr/>
          <p:nvPr/>
        </p:nvCxnSpPr>
        <p:spPr>
          <a:xfrm>
            <a:off x="9174301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rgbClr val="32416B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图片 26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DEF-M1-001：一根被删掉的宽度维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DEFECT LOCATION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pic>
        <p:nvPicPr>
          <p:cNvPr id="51" name="图片 50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16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直角三角形 16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7" name="组合 26"/>
          <p:cNvGrpSpPr/>
          <p:nvPr/>
        </p:nvGrpSpPr>
        <p:grpSpPr>
          <a:xfrm>
            <a:off x="660400" y="1234440"/>
            <a:ext cx="10858500" cy="4899660"/>
            <a:chOff x="1040" y="1944"/>
            <a:chExt cx="17100" cy="7716"/>
          </a:xfrm>
        </p:grpSpPr>
        <p:sp>
          <p:nvSpPr>
            <p:cNvPr id="2" name="矩形 1"/>
            <p:cNvSpPr/>
            <p:nvPr/>
          </p:nvSpPr>
          <p:spPr>
            <a:xfrm>
              <a:off x="1040" y="2274"/>
              <a:ext cx="17100" cy="333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1346" y="2586"/>
              <a:ext cx="11773" cy="2733"/>
              <a:chOff x="1188085" y="4304453"/>
              <a:chExt cx="4283710" cy="1735330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1188085" y="4304453"/>
                <a:ext cx="27308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2400" b="1" dirty="0">
                    <a:solidFill>
                      <a:srgbClr val="25557A"/>
                    </a:solidFill>
                  </a:rPr>
                  <a:t>现象与影响</a:t>
                </a:r>
                <a:endParaRPr lang="zh-CN" altLang="en-US" sz="2400" b="1" dirty="0">
                  <a:solidFill>
                    <a:srgbClr val="25557A"/>
                  </a:solidFill>
                </a:endParaRPr>
              </a:p>
            </p:txBody>
          </p:sp>
          <p:cxnSp>
            <p:nvCxnSpPr>
              <p:cNvPr id="20" name="直接连接符 19"/>
              <p:cNvCxnSpPr/>
              <p:nvPr/>
            </p:nvCxnSpPr>
            <p:spPr>
              <a:xfrm>
                <a:off x="1248911" y="4856923"/>
                <a:ext cx="4097913" cy="0"/>
              </a:xfrm>
              <a:prstGeom prst="line">
                <a:avLst/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文本框 20"/>
              <p:cNvSpPr txBox="1"/>
              <p:nvPr/>
            </p:nvSpPr>
            <p:spPr>
              <a:xfrm>
                <a:off x="1188085" y="4896457"/>
                <a:ext cx="4283710" cy="1143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 algn="just">
                  <a:lnSpc>
                    <a:spcPct val="130000"/>
                  </a:lnSpc>
                </a:pPr>
                <a:r>
                  <a:rPr sz="1400" lang="zh-CN" altLang="en-US" dirty="0"/>
                  <a:t>输入 (2, 1, 1) 三维深度图即抛 ValueError；docstring 声明的全部 (S, H, W) 输入都不可用。</a:t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endParaRPr sz="1400" lang="zh-CN" altLang="en-US" dirty="0"/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>
              <a:off x="1040" y="5994"/>
              <a:ext cx="17100" cy="3666"/>
              <a:chOff x="660400" y="1603756"/>
              <a:chExt cx="10858500" cy="2328164"/>
            </a:xfrm>
          </p:grpSpPr>
          <p:sp>
            <p:nvSpPr>
              <p:cNvPr id="23" name="矩形 22"/>
              <p:cNvSpPr/>
              <p:nvPr/>
            </p:nvSpPr>
            <p:spPr>
              <a:xfrm>
                <a:off x="660400" y="1813560"/>
                <a:ext cx="10858500" cy="211836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pic>
            <p:nvPicPr>
              <p:cNvPr id="32" name="图片 31" descr="C:\Users\14638\Desktop\IMG_2588(20220923-102348).JPGIMG_2588(20220923-102348)"/>
              <p:cNvPicPr/>
              <p:nvPr/>
            </p:nvPicPr>
            <p:blipFill rotWithShape="1">
              <a:blip r:embed="rId2"/>
              <a:srcRect/>
              <a:stretch>
                <a:fillRect/>
              </a:stretch>
            </p:blipFill>
            <p:spPr>
              <a:xfrm>
                <a:off x="989185" y="1603756"/>
                <a:ext cx="2327910" cy="2328164"/>
              </a:xfrm>
              <a:prstGeom prst="rect">
                <a:avLst/>
              </a:prstGeom>
            </p:spPr>
          </p:pic>
        </p:grpSp>
        <p:grpSp>
          <p:nvGrpSpPr>
            <p:cNvPr id="35" name="组合 34"/>
            <p:cNvGrpSpPr/>
            <p:nvPr/>
          </p:nvGrpSpPr>
          <p:grpSpPr>
            <a:xfrm>
              <a:off x="5870" y="6635"/>
              <a:ext cx="11773" cy="2744"/>
              <a:chOff x="1188085" y="4304453"/>
              <a:chExt cx="4283710" cy="1742315"/>
            </a:xfrm>
          </p:grpSpPr>
          <p:sp>
            <p:nvSpPr>
              <p:cNvPr id="37" name="文本框 36"/>
              <p:cNvSpPr txBox="1"/>
              <p:nvPr/>
            </p:nvSpPr>
            <p:spPr>
              <a:xfrm>
                <a:off x="1188085" y="4304453"/>
                <a:ext cx="2730844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2400" b="1" dirty="0">
                    <a:solidFill>
                      <a:srgbClr val="25557A"/>
                    </a:solidFill>
                  </a:rPr>
                  <a:t>根因与处置</a:t>
                </a:r>
                <a:endParaRPr lang="zh-CN" altLang="en-US" sz="2400" b="1" dirty="0">
                  <a:solidFill>
                    <a:schemeClr val="accent1"/>
                  </a:solidFill>
                </a:endParaRPr>
              </a:p>
            </p:txBody>
          </p:sp>
          <p:cxnSp>
            <p:nvCxnSpPr>
              <p:cNvPr id="38" name="直接连接符 37"/>
              <p:cNvCxnSpPr/>
              <p:nvPr/>
            </p:nvCxnSpPr>
            <p:spPr>
              <a:xfrm>
                <a:off x="1232903" y="4863908"/>
                <a:ext cx="4097913" cy="0"/>
              </a:xfrm>
              <a:prstGeom prst="line">
                <a:avLst/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文本框 38"/>
              <p:cNvSpPr txBox="1"/>
              <p:nvPr/>
            </p:nvSpPr>
            <p:spPr>
              <a:xfrm>
                <a:off x="1188085" y="4903442"/>
                <a:ext cx="4283710" cy="1143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 algn="just">
                  <a:lnSpc>
                    <a:spcPct val="130000"/>
                  </a:lnSpc>
                </a:pPr>
                <a:r>
                  <a:rPr sz="1400" lang="zh-CN" altLang="en-US" dirty="0"/>
                  <a:t>根因是第 39 行无条件 squeeze(-1)。已登记并给出修复建议，按约定未改动基线。</a:t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r>
                  <a:rPr sz="1400" lang="en-US" altLang="zh-CN" dirty="0"/>
                  <a:t/>
                </a:r>
                <a:r>
                  <a:rPr sz="1400" lang="zh-CN" altLang="en-US" dirty="0"/>
                  <a:t/>
                </a:r>
                <a:endParaRPr sz="1400" lang="zh-CN" altLang="en-US" dirty="0"/>
              </a:p>
            </p:txBody>
          </p:sp>
        </p:grpSp>
        <p:grpSp>
          <p:nvGrpSpPr>
            <p:cNvPr id="25" name="组合 24"/>
            <p:cNvGrpSpPr/>
            <p:nvPr/>
          </p:nvGrpSpPr>
          <p:grpSpPr>
            <a:xfrm>
              <a:off x="13940" y="1944"/>
              <a:ext cx="3665" cy="3666"/>
              <a:chOff x="13940" y="1944"/>
              <a:chExt cx="3665" cy="3666"/>
            </a:xfrm>
          </p:grpSpPr>
          <p:pic>
            <p:nvPicPr>
              <p:cNvPr id="40" name="图片 39" descr="C:\Users\14638\Desktop\IMG_2587(20220923-102336).JPGIMG_2587(20220923-102336)"/>
              <p:cNvPicPr/>
              <p:nvPr/>
            </p:nvPicPr>
            <p:blipFill rotWithShape="1">
              <a:blip r:embed="rId3"/>
              <a:srcRect/>
              <a:stretch>
                <a:fillRect/>
              </a:stretch>
            </p:blipFill>
            <p:spPr>
              <a:xfrm>
                <a:off x="13940" y="1944"/>
                <a:ext cx="3665" cy="3666"/>
              </a:xfrm>
              <a:prstGeom prst="rect">
                <a:avLst/>
              </a:prstGeom>
            </p:spPr>
          </p:pic>
          <p:pic>
            <p:nvPicPr>
              <p:cNvPr id="18" name="图片 17" descr="小招logo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922" y="4366"/>
                <a:ext cx="1701" cy="952"/>
              </a:xfrm>
              <a:prstGeom prst="rect">
                <a:avLst/>
              </a:prstGeom>
            </p:spPr>
          </p:pic>
        </p:grpSp>
        <p:pic>
          <p:nvPicPr>
            <p:cNvPr id="24" name="图片 23" descr="小招logo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1" y="8427"/>
              <a:ext cx="1701" cy="952"/>
            </a:xfrm>
            <a:prstGeom prst="rect">
              <a:avLst/>
            </a:prstGeom>
          </p:spPr>
        </p:pic>
      </p:grpSp>
    </p:spTree>
    <p:custDataLst>
      <p:tags r:id="rId5"/>
    </p:custDataLst>
  </p:cSld>
  <p:clrMapOvr>
    <a:masterClrMapping/>
  </p:clrMapOvr>
</p:sld>
</file>

<file path=ppt/tags/dup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dup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UNIT_PLACING_PICTURE_USER_VIEWPORT" val="{&quot;height&quot;:10800,&quot;width&quot;:8100}"/>
</p:tagLst>
</file>

<file path=ppt/tags/tag6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p="http://schemas.openxmlformats.org/presentationml/2006/main">
  <p:tag name="KSO_WM_UNIT_PLACING_PICTURE_USER_VIEWPORT" val="{&quot;height&quot;:2835,&quot;width&quot;:3969}"/>
</p:tagLst>
</file>

<file path=ppt/tags/tag7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0.xml><?xml version="1.0" encoding="utf-8"?>
<p:tagLst xmlns:p="http://schemas.openxmlformats.org/presentationml/2006/main">
  <p:tag name="COMMONDATA" val="eyJoZGlkIjoiOWFjYWIyZjUwMTdmODQ5MGQwMGU3YWZkZjQxMjAxY2MifQ==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1943</Words>
  <Application>WPS 演示</Application>
  <PresentationFormat>宽屏</PresentationFormat>
  <Paragraphs>274</Paragraphs>
  <Slides>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0" baseType="lpstr">
      <vt:lpstr>Arial</vt:lpstr>
      <vt:lpstr>宋体</vt:lpstr>
      <vt:lpstr>Wingdings</vt:lpstr>
      <vt:lpstr>Wingdings</vt:lpstr>
      <vt:lpstr>微软雅黑</vt:lpstr>
      <vt:lpstr>Times New Roman</vt:lpstr>
      <vt:lpstr>思源黑体 CN Regular</vt:lpstr>
      <vt:lpstr>思源黑体 CN Bold</vt:lpstr>
      <vt:lpstr>黑体</vt:lpstr>
      <vt:lpstr>Lato Regular</vt:lpstr>
      <vt:lpstr>Segoe Print</vt:lpstr>
      <vt:lpstr>Lato Light</vt:lpstr>
      <vt:lpstr>Arial Unicode MS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黄小豆</cp:lastModifiedBy>
  <cp:revision>158</cp:revision>
  <dcterms:created xsi:type="dcterms:W3CDTF">2019-06-19T02:08:00Z</dcterms:created>
  <dcterms:modified xsi:type="dcterms:W3CDTF">2022-10-05T09:25:04Z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2052-11.1.0.12358</vt:lpwstr>
  </property>
  <property fmtid="{D5CDD505-2E9C-101B-9397-08002B2CF9AE}" pid="3" name="ICV">
    <vt:lpwstr>0FA7266D02E942AAAA912ABFFAAB6B71</vt:lpwstr>
  </property>
</Properties>
</file>