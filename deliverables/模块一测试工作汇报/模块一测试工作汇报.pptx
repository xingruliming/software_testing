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Slide1"/>
    <p:sldId id="258" r:id="rIdSlide2"/>
    <p:sldId id="259" r:id="rIdSlide3"/>
    <p:sldId id="260" r:id="rIdSlide4"/>
    <p:sldId id="261" r:id="rIdSlide5"/>
    <p:sldId id="262" r:id="rIdSlide6"/>
    <p:sldId id="263" r:id="rIdSlide7"/>
    <p:sldId id="264" r:id="rIdSlide8"/>
    <p:sldId id="265" r:id="rIdSlide9"/>
    <p:sldId id="266" r:id="rIdSlide10"/>
    <p:sldId id="267" r:id="rIdSlide11"/>
    <p:sldId id="268" r:id="rIdSlide12"/>
    <p:sldId id="269" r:id="rIdSlide13"/>
    <p:sldId id="270" r:id="rIdSlide14"/>
    <p:sldId id="271" r:id="rIdSlide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5FD"/>
    <a:srgbClr val="D9EBFF"/>
    <a:srgbClr val="4FA1E8"/>
    <a:srgbClr val="575053"/>
    <a:srgbClr val="25557A"/>
    <a:srgbClr val="F5F7F9"/>
    <a:srgbClr val="FFFFFF"/>
    <a:srgbClr val="848EAC"/>
    <a:srgbClr val="A12B10"/>
    <a:srgbClr val="248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21" Type="http://schemas.openxmlformats.org/officeDocument/2006/relationships/tags" Target="tags/tag80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rgbClr val="25557A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1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bg1">
                  <a:lumMod val="95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756385360"/>
        <c:axId val="1756387000"/>
      </c:lineChart>
      <c:catAx>
        <c:axId val="175638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6387000"/>
        <c:crosses val="autoZero"/>
        <c:auto val="1"/>
        <c:lblAlgn val="ctr"/>
        <c:lblOffset val="100"/>
        <c:noMultiLvlLbl val="0"/>
      </c:catAx>
      <c:valAx>
        <c:axId val="1756387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6385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25557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56385360"/>
        <c:axId val="1756387000"/>
      </c:barChart>
      <c:catAx>
        <c:axId val="1756385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6387000"/>
        <c:crosses val="autoZero"/>
        <c:auto val="1"/>
        <c:lblAlgn val="ctr"/>
        <c:lblOffset val="100"/>
        <c:noMultiLvlLbl val="0"/>
      </c:catAx>
      <c:valAx>
        <c:axId val="1756387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6385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7.png"/></Relationships>
</file>

<file path=ppt/slides/_rels/slide5.xml.rels><?xml version="1.0" encoding="UTF-8" standalone="yes"?>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0.xml"/><Relationship Id="rId4" Type="http://schemas.openxmlformats.org/officeDocument/2006/relationships/image" Target="../media/image5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7.png"/></Relationships>
</file>

<file path=ppt/slides/_rels/slide6.xml.rels><?xml version="1.0" encoding="UTF-8" standalone="yes"?>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9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tags" Target="../tags/tag68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1.xml"/><Relationship Id="rId1" Type="http://schemas.openxmlformats.org/officeDocument/2006/relationships/image" Target="../media/image7.png"/></Relationships>
</file>

<file path=ppt/slides/_rels/slide9.xml.rels><?xml version="1.0" encoding="UTF-8" standalone="yes"?>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2.xml"/><Relationship Id="rId7" Type="http://schemas.openxmlformats.org/officeDocument/2006/relationships/image" Target="../media/image5.png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tags" Target="../tags/tag71.xml"/><Relationship Id="rId2" Type="http://schemas.openxmlformats.org/officeDocument/2006/relationships/image" Target="../media/image11.jpeg"/><Relationship Id="rId1" Type="http://schemas.openxmlformats.org/officeDocument/2006/relationships/image" Target="../media/image7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image" Target="../media/image7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image" Target="../media/image7.png"/></Relationships>
</file>

<file path=ppt/slides/_rels/slide12.xml.rels><?xml version="1.0" encoding="UTF-8" standalone="yes"?>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4.xml"/><Relationship Id="rId4" Type="http://schemas.openxmlformats.org/officeDocument/2006/relationships/image" Target="../media/image5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7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5.xml"/><Relationship Id="rId1" Type="http://schemas.openxmlformats.org/officeDocument/2006/relationships/image" Target="../media/image7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image" Target="../media/image7.png"/></Relationships>
</file>

<file path=ppt/slides/_rels/slide15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" name="图片 8" descr="1037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151380" y="2035175"/>
            <a:ext cx="7889240" cy="2787650"/>
            <a:chOff x="4143" y="4637"/>
            <a:chExt cx="12424" cy="4390"/>
          </a:xfrm>
        </p:grpSpPr>
        <p:sp>
          <p:nvSpPr>
            <p:cNvPr id="27" name="文本框 1"/>
            <p:cNvSpPr txBox="1"/>
            <p:nvPr/>
          </p:nvSpPr>
          <p:spPr>
            <a:xfrm>
              <a:off x="4143" y="4637"/>
              <a:ext cx="12424" cy="159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algn="ctr" rtl="0" eaLnBrk="1" fontAlgn="auto" latinLnBrk="0" hangingPunct="1"/>
              <a:r>
                <a:rPr 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VGGT</a:t>
              </a:r>
              <a:r>
                <a:rPr lang="en-US" alt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模块一</a:t>
              </a:r>
              <a:r>
                <a:rPr lang="zh-CN" altLang="en-US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测试汇报</a:t>
              </a:r>
              <a:endParaRPr lang="zh-CN" altLang="en-US" sz="6000" b="1" kern="10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7636" y="8530"/>
              <a:ext cx="5913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l" rtl="0" eaLnBrk="1" fontAlgn="auto" latinLnBrk="0" hangingPunct="1">
                <a:lnSpc>
                  <a:spcPts val="1800"/>
                </a:lnSpc>
              </a:pP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汇报人丨黄国宸 曹钧杰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 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时间丨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2026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.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9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/>
              </a:r>
              <a:endParaRPr lang="zh-CN" altLang="en-US" sz="1600" kern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 rtl="0" eaLnBrk="1" fontAlgn="auto" latinLnBrk="0" hangingPunct="1">
                <a:lnSpc>
                  <a:spcPts val="2000"/>
                </a:lnSpc>
              </a:pP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32 条用例 · 2 种方法</a:t>
              </a:r>
              <a:r>
                <a:rPr lang="en-US" altLang="zh-CN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| </a:t>
              </a: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0 权重 0 GPU</a:t>
              </a:r>
              <a:r>
                <a:rPr lang="en-US" altLang="zh-CN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| </a:t>
              </a: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1 个缺陷</a:t>
              </a:r>
              <a:endParaRPr lang="en-US" altLang="zh-CN" sz="2000" b="1" kern="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4679950" cy="3831590"/>
          </a:xfrm>
          <a:prstGeom prst="rect">
            <a:avLst/>
          </a:prstGeom>
          <a:gradFill>
            <a:gsLst>
              <a:gs pos="52000">
                <a:srgbClr val="25557A"/>
              </a:gs>
              <a:gs pos="100000">
                <a:srgbClr val="2D84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0870" y="535305"/>
            <a:ext cx="3458210" cy="187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>
              <a:lnSpc>
                <a:spcPct val="150000"/>
              </a:lnSpc>
            </a:pPr>
            <a:r>
              <a:rPr lang="zh-CN" altLang="en-US" sz="8000" b="1"/>
              <a:t>目录</a:t>
            </a:r>
            <a:endParaRPr lang="zh-CN" altLang="en-US" sz="8000"/>
          </a:p>
          <a:p>
            <a:pPr algn="ctr" fontAlgn="auto">
              <a:lnSpc>
                <a:spcPct val="150000"/>
              </a:lnSpc>
            </a:pPr>
            <a:r>
              <a:rPr lang="en-US" altLang="zh-CN" sz="3200"/>
              <a:t>CONTENTS</a:t>
            </a:r>
            <a:endParaRPr lang="en-US" altLang="zh-CN" sz="3200"/>
          </a:p>
        </p:txBody>
      </p:sp>
      <p:grpSp>
        <p:nvGrpSpPr>
          <p:cNvPr id="16" name="组合 15"/>
          <p:cNvGrpSpPr/>
          <p:nvPr/>
        </p:nvGrpSpPr>
        <p:grpSpPr>
          <a:xfrm>
            <a:off x="5471795" y="1267460"/>
            <a:ext cx="3579495" cy="4323715"/>
            <a:chOff x="8183" y="1320"/>
            <a:chExt cx="5637" cy="6809"/>
          </a:xfrm>
        </p:grpSpPr>
        <p:sp>
          <p:nvSpPr>
            <p:cNvPr id="34" name="椭圆 33"/>
            <p:cNvSpPr/>
            <p:nvPr/>
          </p:nvSpPr>
          <p:spPr>
            <a:xfrm>
              <a:off x="8183" y="1320"/>
              <a:ext cx="1244" cy="12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3200" b="1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0046" y="1521"/>
              <a:ext cx="3775" cy="82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2800" spc="300" dirty="0">
                  <a:latin typeface="+mn-ea"/>
                </a:rPr>
                <a:t>被测对象</a:t>
              </a:r>
              <a:endParaRPr lang="zh-CN" altLang="en-US" sz="2800" spc="300" dirty="0">
                <a:latin typeface="+mn-ea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9782" y="1651"/>
              <a:ext cx="0" cy="606"/>
            </a:xfrm>
            <a:prstGeom prst="line">
              <a:avLst/>
            </a:prstGeom>
            <a:ln w="31750">
              <a:solidFill>
                <a:srgbClr val="2555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8183" y="3175"/>
              <a:ext cx="5635" cy="1244"/>
              <a:chOff x="8183" y="3571"/>
              <a:chExt cx="5635" cy="1244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8183" y="3571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0044" y="3785"/>
                <a:ext cx="3775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spc="300" dirty="0">
                    <a:latin typeface="+mn-ea"/>
                  </a:rPr>
                  <a:t>测试策略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>
                <a:off x="9782" y="3902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8183" y="5030"/>
              <a:ext cx="5635" cy="1244"/>
              <a:chOff x="8183" y="5822"/>
              <a:chExt cx="5635" cy="1244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8183" y="5822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10044" y="6022"/>
                <a:ext cx="3775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spc="300" dirty="0">
                    <a:latin typeface="+mn-ea"/>
                  </a:rPr>
                  <a:t>自动化实施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5" name="直接连接符 44"/>
              <p:cNvCxnSpPr/>
              <p:nvPr/>
            </p:nvCxnSpPr>
            <p:spPr>
              <a:xfrm>
                <a:off x="9782" y="6153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8185" y="6885"/>
              <a:ext cx="5634" cy="1244"/>
              <a:chOff x="8186" y="8236"/>
              <a:chExt cx="5634" cy="1244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8186" y="8236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10046" y="8447"/>
                <a:ext cx="3775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spc="300" dirty="0">
                    <a:latin typeface="+mn-ea"/>
                  </a:rPr>
                  <a:t>结果与结论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9785" y="8567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图片 25" descr="校史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9255760" y="5777865"/>
            <a:ext cx="2905830" cy="1080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0" y="3738245"/>
            <a:ext cx="4679950" cy="3119755"/>
            <a:chOff x="0" y="5887"/>
            <a:chExt cx="7370" cy="4913"/>
          </a:xfrm>
        </p:grpSpPr>
        <p:pic>
          <p:nvPicPr>
            <p:cNvPr id="13" name="图片 12" descr="IMG_2578(20220922-170619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87"/>
              <a:ext cx="7370" cy="4913"/>
            </a:xfrm>
            <a:prstGeom prst="rect">
              <a:avLst/>
            </a:prstGeom>
          </p:spPr>
        </p:pic>
        <p:pic>
          <p:nvPicPr>
            <p:cNvPr id="19" name="图片 18" descr="小招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4" y="9474"/>
              <a:ext cx="1701" cy="952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15000">
                <a:srgbClr val="25557A"/>
              </a:gs>
              <a:gs pos="32000">
                <a:srgbClr val="2483D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896485" y="635"/>
            <a:ext cx="7295515" cy="6858000"/>
            <a:chOff x="7711" y="1"/>
            <a:chExt cx="11489" cy="10800"/>
          </a:xfrm>
        </p:grpSpPr>
        <p:pic>
          <p:nvPicPr>
            <p:cNvPr id="17" name="图片 16" descr="IMG_258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6DBF">
                    <a:alpha val="100000"/>
                  </a:srgbClr>
                </a:clrFrom>
                <a:clrTo>
                  <a:srgbClr val="006DB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840" y="2371"/>
              <a:ext cx="7360" cy="8429"/>
            </a:xfrm>
            <a:prstGeom prst="rect">
              <a:avLst/>
            </a:prstGeom>
          </p:spPr>
        </p:pic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30" name="组合 29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2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2118" y="5546"/>
              <a:ext cx="7188" cy="1743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被测对象核心功能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TEST OBJECT &amp; CORE FUNCTIONS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被测对象：VGGT 的几何计算层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TEST OBJECT &amp; CORE FUNCTIONS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被测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前馈式三维大模型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FEED-FORWARD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1B PARAMS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VGGT 是 Meta AI 与牛津大学的三维视觉大模型、CVPR 2025 最佳论文；单次前向即可从一至数百张图像预测相机内外参、深度图、点图与三维轨迹，约 10 亿参数。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核心功能链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COORDS CHAIN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CAM · WORLD · PIXEL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geometry.py 324 行 8 个函数（NumPy/PyTorch 混合），做深度图/相机/世界/像素坐标互转：unproject → depth_to_world → depth_to_cam（L15/47/87）。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 rot="0">
            <a:off x="2890520" y="4800600"/>
            <a:ext cx="7985125" cy="1217930"/>
            <a:chOff x="3134969" y="2228849"/>
            <a:chExt cx="7984866" cy="1218108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绝对位姿不可比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GAUGE FREEDOM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RELATIVE ONLY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第一帧外参被固定为单位阵，以首帧相机作场景参考系。跨运行比较绝对位姿没有意义，断言只能取相对量或闭式解析解。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文档承诺与实现不一致，是最值得测的位置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DOC CONTRACT VS IMPLEMENTATION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6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0400" y="1234440"/>
            <a:ext cx="10858500" cy="4899660"/>
            <a:chOff x="1040" y="1944"/>
            <a:chExt cx="17100" cy="7716"/>
          </a:xfrm>
        </p:grpSpPr>
        <p:sp>
          <p:nvSpPr>
            <p:cNvPr id="2" name="矩形 1"/>
            <p:cNvSpPr/>
            <p:nvPr/>
          </p:nvSpPr>
          <p:spPr>
            <a:xfrm>
              <a:off x="1040" y="2274"/>
              <a:ext cx="17100" cy="33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346" y="2586"/>
              <a:ext cx="11773" cy="2733"/>
              <a:chOff x="1188085" y="4304453"/>
              <a:chExt cx="4283710" cy="1735330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188085" y="4304453"/>
                <a:ext cx="27308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函数契约（第 22 行）</a:t>
                </a:r>
                <a:endParaRPr lang="zh-CN" altLang="en-US" sz="2400" b="1" dirty="0">
                  <a:solidFill>
                    <a:srgbClr val="25557A"/>
                  </a:solidFill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1248911" y="4856923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1188085" y="4896457"/>
                <a:ext cx="428371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dirty="0"/>
                  <a:t>docstring 明文声明：depth_map 的形状可为 (S, H, W, 1) 或 (S, H, W)。</a:t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endParaRPr lang="zh-CN" altLang="en-US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40" y="5994"/>
              <a:ext cx="17100" cy="3666"/>
              <a:chOff x="660400" y="1603756"/>
              <a:chExt cx="10858500" cy="232816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60400" y="1813560"/>
                <a:ext cx="10858500" cy="21183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2" name="图片 31" descr="C:\Users\14638\Desktop\IMG_2588(20220923-102348).JPGIMG_2588(20220923-102348)"/>
              <p:cNvPicPr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989185" y="1603756"/>
                <a:ext cx="2327910" cy="2328164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5870" y="6635"/>
              <a:ext cx="11773" cy="2744"/>
              <a:chOff x="1188085" y="4304453"/>
              <a:chExt cx="4283710" cy="1742315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1188085" y="4304453"/>
                <a:ext cx="2730844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实际实现（第 39 行）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>
                <a:off x="1232903" y="4863908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本框 38"/>
              <p:cNvSpPr txBox="1"/>
              <p:nvPr/>
            </p:nvSpPr>
            <p:spPr>
              <a:xfrm>
                <a:off x="1188085" y="4903442"/>
                <a:ext cx="428371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dirty="0"/>
                  <a:t>但实现第 39 行对每一帧无条件执行 squeeze(-1)，实质只兼容四维输入。</a:t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endParaRPr lang="zh-CN" altLang="en-US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3940" y="1944"/>
              <a:ext cx="3665" cy="3666"/>
              <a:chOff x="13940" y="1944"/>
              <a:chExt cx="3665" cy="3666"/>
            </a:xfrm>
          </p:grpSpPr>
          <p:pic>
            <p:nvPicPr>
              <p:cNvPr id="40" name="图片 39" descr="C:\Users\14638\Desktop\IMG_2587(20220923-102336).JPGIMG_2587(20220923-102336)"/>
              <p:cNvPicPr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13940" y="1944"/>
                <a:ext cx="3665" cy="3666"/>
              </a:xfrm>
              <a:prstGeom prst="rect">
                <a:avLst/>
              </a:prstGeom>
            </p:spPr>
          </p:pic>
          <p:pic>
            <p:nvPicPr>
              <p:cNvPr id="18" name="图片 17" descr="小招logo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2" y="4366"/>
                <a:ext cx="1701" cy="952"/>
              </a:xfrm>
              <a:prstGeom prst="rect">
                <a:avLst/>
              </a:prstGeom>
            </p:spPr>
          </p:pic>
        </p:grpSp>
        <p:pic>
          <p:nvPicPr>
            <p:cNvPr id="24" name="图片 23" descr="小招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1" y="8427"/>
              <a:ext cx="1701" cy="952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1.5"/>
          <p:cNvPicPr/>
          <p:nvPr>
            <p:custDataLst>
              <p:tags r:id="rId1"/>
            </p:custDataLst>
          </p:nvPr>
        </p:nvPicPr>
        <p:blipFill>
          <a:blip r:embed="rId2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7" name="组合 6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18" y="5546"/>
              <a:ext cx="7188" cy="1743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主要测试策略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MAIN TEST STRATEGY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等价类 + 边界值：两种经典方法打底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TWO CORE METHODS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等价类划分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 001：单像素深度反投影，应精确回到原像素；例 004：内参尺寸非法应抛错。合法/非法各成一类，共 19 条。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边界值分析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 003：全零深度图即深度下界；例 014：深度恰等于 eps 无效、大于才有效；例 025：z=0。共 5 条。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组合覆盖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 022：同一世界点经两帧外参投影得不同坐标；例 028：平移 (1,2,0)×非单位内参叠加。共 4 条。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错误推测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 019：帧数多于外参应抛错而非部分结果；例 005：非零 skew。判定表另固化 2 条。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每条用例都标了方法，可以逐条对账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CASE TO METHOD MAPPING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等价类划分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EQUIVALENCE · 19 CASES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M1-GEO-001~030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切割依据是输入维度、坐标系、输入类型与合法性四组维度。001/004/006/007/008/009/011/012/013/016/017/018 等 19 条。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边界值分析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BOUNDARY · 5 CASES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M1-GEO-002~025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取每个等价类的上下界与临界点：002 图像四角、003 深度下界 0、010 矩阵尺寸、014 eps−/eps/eps+ 三点夹逼、025 Z=0 除零。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 rot="0">
            <a:off x="2890520" y="4800600"/>
            <a:ext cx="7985125" cy="1217930"/>
            <a:chOff x="3134969" y="2228849"/>
            <a:chExt cx="7984866" cy="1218108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其余标注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OTHER · 8 CASES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M1-GEO-005~032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组合覆盖 4 条：015/022/028/031；错误推测 2 条：005/019；判定表 2 条：029/032。32 条全部有方法标注，与清单备注列一致。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用最小输入逼出两类失败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SHAPE MATRIX OF TEST SAMPLES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2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直角三角形 22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49935" y="1419860"/>
            <a:ext cx="10692130" cy="4617720"/>
            <a:chOff x="1181" y="2236"/>
            <a:chExt cx="16838" cy="7272"/>
          </a:xfrm>
        </p:grpSpPr>
        <p:grpSp>
          <p:nvGrpSpPr>
            <p:cNvPr id="33" name="组合 32"/>
            <p:cNvGrpSpPr/>
            <p:nvPr/>
          </p:nvGrpSpPr>
          <p:grpSpPr>
            <a:xfrm>
              <a:off x="5662" y="2733"/>
              <a:ext cx="3586" cy="4308"/>
              <a:chOff x="871675" y="1735596"/>
              <a:chExt cx="2276930" cy="2735527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34" name="矩形 33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956268" y="2054948"/>
                <a:ext cx="2107745" cy="2416175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失败②：W &gt; 1 时对非单位轴 squeeze，直接抛错。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9952" y="2733"/>
              <a:ext cx="3586" cy="4257"/>
              <a:chOff x="871675" y="1735596"/>
              <a:chExt cx="2276930" cy="27030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3" name="矩形 12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956268" y="2054948"/>
                <a:ext cx="2107745" cy="2084070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 fontAlgn="auto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通过：正常返回 (2, 1, 1, 3)。这是声明的另一种形状。</a:t>
                </a:r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4242" y="2733"/>
              <a:ext cx="3586" cy="4257"/>
              <a:chOff x="871675" y="1735596"/>
              <a:chExt cx="2276930" cy="27030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6" name="矩形 15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956268" y="2054948"/>
                <a:ext cx="2107745" cy="2084070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 fontAlgn="auto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通过：正常返回 (2, 1, 2, 3)。与左格同源，缺陷只在三维分支。</a:t>
                </a:r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373" y="2733"/>
              <a:ext cx="3586" cy="4317"/>
              <a:chOff x="871675" y="1735596"/>
              <a:chExt cx="2276930" cy="274124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5" name="矩形 24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56268" y="2060663"/>
                <a:ext cx="2107745" cy="2416175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失败①：W = 1 时宽度维被删，H, W 解包失败。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en-US" b="1" kern="0" dirty="0">
                  <a:solidFill>
                    <a:srgbClr val="2E70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pic>
          <p:nvPicPr>
            <p:cNvPr id="18" name="图片 17" descr="C:\Users\14638\Desktop\IMG_2592(20220923-103912).JPGIMG_2592(20220923-103912)"/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760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4" name="图片 23" descr="C:\Users\14638\Desktop\IMG_2593.JPGIMG_2593"/>
            <p:cNvPicPr/>
            <p:nvPr>
              <p:custDataLst>
                <p:tags r:id="rId3"/>
              </p:custDataLst>
            </p:nvPr>
          </p:nvPicPr>
          <p:blipFill>
            <a:blip r:embed="rId4"/>
            <a:srcRect/>
            <a:stretch>
              <a:fillRect/>
            </a:stretch>
          </p:blipFill>
          <p:spPr>
            <a:xfrm>
              <a:off x="1182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8" name="图片 27" descr="C:\Users\14638\Desktop\IMG_2590(20220923-103637).JPGIMG_2590(20220923-103637)"/>
            <p:cNvPicPr/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471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30" name="图片 29" descr="C:\Users\14638\Desktop\IMG_2589(20220923-103609).JPGIMG_2589(20220923-103609)"/>
            <p:cNvPicPr/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4050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1" name="矩形: 圆角 17"/>
            <p:cNvSpPr/>
            <p:nvPr/>
          </p:nvSpPr>
          <p:spPr>
            <a:xfrm>
              <a:off x="1181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(2,1,1)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矩形: 圆角 18"/>
            <p:cNvSpPr/>
            <p:nvPr/>
          </p:nvSpPr>
          <p:spPr>
            <a:xfrm>
              <a:off x="5471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(2,1,2)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矩形: 圆角 19"/>
            <p:cNvSpPr/>
            <p:nvPr/>
          </p:nvSpPr>
          <p:spPr>
            <a:xfrm>
              <a:off x="9760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(2,1,1,1)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矩形: 圆角 20"/>
            <p:cNvSpPr/>
            <p:nvPr/>
          </p:nvSpPr>
          <p:spPr>
            <a:xfrm>
              <a:off x="14050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(2,1,2,1)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2" name="图片 31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16" y="8415"/>
              <a:ext cx="1701" cy="952"/>
            </a:xfrm>
            <a:prstGeom prst="rect">
              <a:avLst/>
            </a:prstGeom>
          </p:spPr>
        </p:pic>
        <p:pic>
          <p:nvPicPr>
            <p:cNvPr id="35" name="图片 34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5" y="8415"/>
              <a:ext cx="1701" cy="952"/>
            </a:xfrm>
            <a:prstGeom prst="rect">
              <a:avLst/>
            </a:prstGeom>
          </p:spPr>
        </p:pic>
        <p:pic>
          <p:nvPicPr>
            <p:cNvPr id="37" name="图片 36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94" y="8415"/>
              <a:ext cx="1701" cy="952"/>
            </a:xfrm>
            <a:prstGeom prst="rect">
              <a:avLst/>
            </a:prstGeom>
          </p:spPr>
        </p:pic>
        <p:pic>
          <p:nvPicPr>
            <p:cNvPr id="38" name="图片 37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405" y="8415"/>
              <a:ext cx="1701" cy="952"/>
            </a:xfrm>
            <a:prstGeom prst="rect">
              <a:avLst/>
            </a:prstGeom>
          </p:spPr>
        </p:pic>
      </p:grp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一条命令跑完的自动化测试工程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TEST AUTOMATION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化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一键运行的测试工程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8 FILES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33 EXECUTIONS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tests/module1_coordinate/ 下 8 个用例文件对应 8 个函数；run_tests.ps1 一键运行 33 条用例（32 清单 + 1 对照），PYTHONPATH 注入被测模块，不改基线一行代码。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一次运行双产出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JUNIT XML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UTF-8 LOG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junit_report.py 单次运行同时产出 JUnit XML 与 UTF-8 运行日志；单次执行约 0.02 秒；退出码 0/1/2/3 明确区分全过、有失败、无工程、不可导入四种状态。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 rot="0">
            <a:off x="2890520" y="4800600"/>
            <a:ext cx="7985125" cy="1217930"/>
            <a:chOff x="3134969" y="2228849"/>
            <a:chExt cx="7984866" cy="1218108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结果逐位一致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CPU ONLY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DETERMINISTIC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测试不依赖模型权重与 GPU；跨运行结果逐位一致，任何人一条命令即可复现全部 33 次执行与 2 个错误的现场。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一次真实执行：33 条执行，31 通过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ONE REAL RUN · 93.9% PASS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条自动化用例执行，覆盖全部 8 个函数。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条通过，含 1 条专门设计的绕障对照用例。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条失败：M1-GEO-016 与 018，traceback 逐层一致。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93.9%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用例通过率 = 31 / 33，退出码 1，与约定一致。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DEF-M1-001：一根被删掉的宽度维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DEFECT LOCATION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6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0400" y="1234440"/>
            <a:ext cx="10858500" cy="4899660"/>
            <a:chOff x="1040" y="1944"/>
            <a:chExt cx="17100" cy="7716"/>
          </a:xfrm>
        </p:grpSpPr>
        <p:sp>
          <p:nvSpPr>
            <p:cNvPr id="2" name="矩形 1"/>
            <p:cNvSpPr/>
            <p:nvPr/>
          </p:nvSpPr>
          <p:spPr>
            <a:xfrm>
              <a:off x="1040" y="2274"/>
              <a:ext cx="17100" cy="33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346" y="2586"/>
              <a:ext cx="11773" cy="2733"/>
              <a:chOff x="1188085" y="4304453"/>
              <a:chExt cx="4283710" cy="1735330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188085" y="4304453"/>
                <a:ext cx="27308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现象与影响</a:t>
                </a:r>
                <a:endParaRPr lang="zh-CN" altLang="en-US" sz="2400" b="1" dirty="0">
                  <a:solidFill>
                    <a:srgbClr val="25557A"/>
                  </a:solidFill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1248911" y="4856923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1188085" y="4896457"/>
                <a:ext cx="428371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dirty="0"/>
                  <a:t>输入 (2, 1, 1) 三维深度图即抛 ValueError；docstring 声明的全部 (S, H, W) 输入都不可用。</a:t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endParaRPr lang="zh-CN" altLang="en-US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40" y="5994"/>
              <a:ext cx="17100" cy="3666"/>
              <a:chOff x="660400" y="1603756"/>
              <a:chExt cx="10858500" cy="232816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60400" y="1813560"/>
                <a:ext cx="10858500" cy="21183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2" name="图片 31" descr="C:\Users\14638\Desktop\IMG_2588(20220923-102348).JPGIMG_2588(20220923-102348)"/>
              <p:cNvPicPr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989185" y="1603756"/>
                <a:ext cx="2327910" cy="2328164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5870" y="6635"/>
              <a:ext cx="11773" cy="2744"/>
              <a:chOff x="1188085" y="4304453"/>
              <a:chExt cx="4283710" cy="1742315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1188085" y="4304453"/>
                <a:ext cx="2730844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根因与处置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>
                <a:off x="1232903" y="4863908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本框 38"/>
              <p:cNvSpPr txBox="1"/>
              <p:nvPr/>
            </p:nvSpPr>
            <p:spPr>
              <a:xfrm>
                <a:off x="1188085" y="4903442"/>
                <a:ext cx="428371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dirty="0"/>
                  <a:t>根因是第 39 行无条件 squeeze(-1)。已登记并给出修复建议，按约定未改动基线。</a:t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r>
                  <a:rPr lang="en-US" altLang="zh-CN" dirty="0"/>
                  <a:t/>
                </a:r>
                <a:r>
                  <a:rPr lang="zh-CN" altLang="en-US" dirty="0"/>
                  <a:t/>
                </a:r>
                <a:endParaRPr lang="zh-CN" altLang="en-US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3940" y="1944"/>
              <a:ext cx="3665" cy="3666"/>
              <a:chOff x="13940" y="1944"/>
              <a:chExt cx="3665" cy="3666"/>
            </a:xfrm>
          </p:grpSpPr>
          <p:pic>
            <p:nvPicPr>
              <p:cNvPr id="40" name="图片 39" descr="C:\Users\14638\Desktop\IMG_2587(20220923-102336).JPGIMG_2587(20220923-102336)"/>
              <p:cNvPicPr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13940" y="1944"/>
                <a:ext cx="3665" cy="3666"/>
              </a:xfrm>
              <a:prstGeom prst="rect">
                <a:avLst/>
              </a:prstGeom>
            </p:spPr>
          </p:pic>
          <p:pic>
            <p:nvPicPr>
              <p:cNvPr id="18" name="图片 17" descr="小招logo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2" y="4366"/>
                <a:ext cx="1701" cy="952"/>
              </a:xfrm>
              <a:prstGeom prst="rect">
                <a:avLst/>
              </a:prstGeom>
            </p:spPr>
          </p:pic>
        </p:grpSp>
        <p:pic>
          <p:nvPicPr>
            <p:cNvPr id="24" name="图片 23" descr="小招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1" y="8427"/>
              <a:ext cx="1701" cy="952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修复建议：文档与实现必须有一个让步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FIX SUGGESTION &amp; REGRESSION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条件式 squeeze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NDIM-AWARE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1-LINE FIX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第 39 行前判断 ndim==4 且末维为 1 再取 [..., 0]；用 ndim 判断而非看末维是否为 1，避免误伤 W=1 的合法三维输入。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入口防御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INPUT VALIDATION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CONTRACT ALIGN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入口校验 ndim∈{3,4}，非法形状抛出带形状信息的明确错误；若不改代码则须把 docstring 收窄为仅 (S, H, W, 1)，文档与实现二者必居其一。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 rot="0">
            <a:off x="2890520" y="4800600"/>
            <a:ext cx="7985125" cy="1217930"/>
            <a:chOff x="3134969" y="2228849"/>
            <a:chExt cx="7984866" cy="1218108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回归验证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REGRESSION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33 ALL GREEN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修复后重跑一键测试：33 条应全部通过（016/018 转绿、017 不回归）；按课程约定基线未改，本页仅作修复方案留档演示。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四条结论，每条都有数据支撑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CONCLUSIONS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质量结论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31/33 通过，唯一失败同源于一个缺陷；被测模块质量整体可信。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缺陷处置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DEF-M1-001 已登记并给出修复建议；按约定未改动被测基线。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方法结论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等价类 + 边界值满足 ≥2 种要求，五类标注 32 条全部对得上账。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工程结论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一条命令复现、逐位一致，可长期作为该模块的回归基线。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037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151380" y="2035175"/>
            <a:ext cx="7889240" cy="2787650"/>
            <a:chOff x="4143" y="4637"/>
            <a:chExt cx="12424" cy="4390"/>
          </a:xfrm>
        </p:grpSpPr>
        <p:sp>
          <p:nvSpPr>
            <p:cNvPr id="27" name="文本框 1"/>
            <p:cNvSpPr txBox="1"/>
            <p:nvPr/>
          </p:nvSpPr>
          <p:spPr>
            <a:xfrm>
              <a:off x="4143" y="4637"/>
              <a:ext cx="12424" cy="159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algn="ctr" rtl="0" eaLnBrk="1" fontAlgn="auto" latinLnBrk="0" hangingPunct="1"/>
              <a:r>
                <a:rPr 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谢谢观看</a:t>
              </a:r>
              <a:endParaRPr lang="zh-CN" sz="6000" b="1" kern="10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7636" y="8530"/>
              <a:ext cx="5913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l" rtl="0" eaLnBrk="1" fontAlgn="auto" latinLnBrk="0" hangingPunct="1">
                <a:lnSpc>
                  <a:spcPts val="1800"/>
                </a:lnSpc>
              </a:pP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汇报人丨黄国宸 曹钧杰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 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时间丨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2026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.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9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/>
              </a:r>
              <a:endParaRPr lang="zh-CN" altLang="en-US" sz="1600" kern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 rtl="0" eaLnBrk="1" fontAlgn="auto" latinLnBrk="0" hangingPunct="1">
                <a:lnSpc>
                  <a:spcPts val="2000"/>
                </a:lnSpc>
              </a:pP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脱离权重单测</a:t>
              </a:r>
              <a:r>
                <a:rPr lang="en-US" altLang="zh-CN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| </a:t>
              </a: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用例自动转绿</a:t>
              </a:r>
              <a:r>
                <a:rPr lang="en-US" altLang="zh-CN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| </a:t>
              </a: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一条命令复现</a:t>
              </a:r>
              <a:endParaRPr lang="en-US" altLang="zh-CN" sz="2000" b="1" kern="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直角三角形 7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12" name="图片 11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 rot="10800000">
            <a:off x="-28575" y="3766688"/>
            <a:ext cx="4737100" cy="5091168"/>
            <a:chOff x="8135783" y="-1669981"/>
            <a:chExt cx="4056217" cy="4359393"/>
          </a:xfrm>
        </p:grpSpPr>
        <p:sp>
          <p:nvSpPr>
            <p:cNvPr id="14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直角三角形 15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PLACING_PICTURE_USER_VIEWPORT" val="{&quot;height&quot;:10800,&quot;width&quot;:8100}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PLACING_PICTURE_USER_VIEWPORT" val="{&quot;height&quot;:2835,&quot;width&quot;:3969}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COMMONDATA" val="eyJoZGlkIjoiOWFjYWIyZjUwMTdmODQ5MGQwMGU3YWZkZjQxMjAxY2MifQ==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</Words>
  <Application>WPS 演示</Application>
  <PresentationFormat>宽屏</PresentationFormat>
  <Paragraphs>274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微软雅黑</vt:lpstr>
      <vt:lpstr>Times New Roman</vt:lpstr>
      <vt:lpstr>思源黑体 CN Regular</vt:lpstr>
      <vt:lpstr>思源黑体 CN Bold</vt:lpstr>
      <vt:lpstr>黑体</vt:lpstr>
      <vt:lpstr>Lato Regular</vt:lpstr>
      <vt:lpstr>Segoe Print</vt:lpstr>
      <vt:lpstr>Lato Light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黄小豆</cp:lastModifiedBy>
  <cp:revision>158</cp:revision>
  <dcterms:created xsi:type="dcterms:W3CDTF">2019-06-19T02:08:00Z</dcterms:created>
  <dcterms:modified xsi:type="dcterms:W3CDTF">2022-10-05T09:25:04Z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0FA7266D02E942AAAA912ABFFAAB6B71</vt:lpwstr>
  </property>
</Properties>
</file>