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Slide1"/>
    <p:sldId id="258" r:id="rIdSlide2"/>
    <p:sldId id="259" r:id="rIdSlide3"/>
    <p:sldId id="260" r:id="rIdSlide4"/>
    <p:sldId id="261" r:id="rIdSlide5"/>
    <p:sldId id="262" r:id="rIdSlide6"/>
    <p:sldId id="263" r:id="rIdSlide7"/>
    <p:sldId id="264" r:id="rIdSlide8"/>
    <p:sldId id="265" r:id="rIdSlide9"/>
    <p:sldId id="266" r:id="rIdSlide10"/>
    <p:sldId id="267" r:id="rIdSlide11"/>
    <p:sldId id="268" r:id="rIdSlide12"/>
    <p:sldId id="269" r:id="rIdSlide13"/>
    <p:sldId id="270" r:id="rIdSlide14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F5FD"/>
    <a:srgbClr val="D9EBFF"/>
    <a:srgbClr val="4FA1E8"/>
    <a:srgbClr val="575053"/>
    <a:srgbClr val="25557A"/>
    <a:srgbClr val="F5F7F9"/>
    <a:srgbClr val="FFFFFF"/>
    <a:srgbClr val="848EAC"/>
    <a:srgbClr val="A12B10"/>
    <a:srgbClr val="2483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21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Relationship Id="rId21" Type="http://schemas.openxmlformats.org/officeDocument/2006/relationships/tags" Target="tags/tag80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rgbClr val="25557A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1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bg1">
                  <a:lumMod val="9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1"/>
        <c:axId val="1756385360"/>
        <c:axId val="1756387000"/>
      </c:lineChart>
      <c:catAx>
        <c:axId val="1756385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7000"/>
        <c:crosses val="autoZero"/>
        <c:auto val="1"/>
        <c:lblAlgn val="ctr"/>
        <c:lblOffset val="100"/>
        <c:noMultiLvlLbl val="0"/>
      </c:catAx>
      <c:valAx>
        <c:axId val="1756387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5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25557A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bg1">
                <a:lumMod val="9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56385360"/>
        <c:axId val="1756387000"/>
      </c:barChart>
      <c:catAx>
        <c:axId val="17563853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7000"/>
        <c:crosses val="autoZero"/>
        <c:auto val="1"/>
        <c:lblAlgn val="ctr"/>
        <c:lblOffset val="100"/>
        <c:noMultiLvlLbl val="0"/>
      </c:catAx>
      <c:valAx>
        <c:axId val="17563870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563853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 sz="105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4.xml"/><Relationship Id="rId4" Type="http://schemas.openxmlformats.org/officeDocument/2006/relationships/image" Target="../media/image5.png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5.xml"/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image" Target="../media/image6.jpe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7.png"/></Relationships>
</file>

<file path=ppt/slides/_rels/slide5.xml.rels><?xml version="1.0" encoding="UTF-8" standalone="yes"?>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70.xml"/><Relationship Id="rId4" Type="http://schemas.openxmlformats.org/officeDocument/2006/relationships/image" Target="../media/image5.png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7.png"/></Relationships>
</file>

<file path=ppt/slides/_rels/slide6.xml.rels><?xml version="1.0" encoding="UTF-8" standalone="yes"?>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69.xml"/><Relationship Id="rId4" Type="http://schemas.openxmlformats.org/officeDocument/2006/relationships/image" Target="../media/image5.png"/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tags" Target="../tags/tag68.xml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7.xml"/><Relationship Id="rId1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1.xml"/><Relationship Id="rId1" Type="http://schemas.openxmlformats.org/officeDocument/2006/relationships/image" Target="../media/image7.png"/></Relationships>
</file>

<file path=ppt/slides/_rels/slide9.xml.rels><?xml version="1.0" encoding="UTF-8" standalone="yes"?>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2.xml"/><Relationship Id="rId7" Type="http://schemas.openxmlformats.org/officeDocument/2006/relationships/image" Target="../media/image5.png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Relationship Id="rId3" Type="http://schemas.openxmlformats.org/officeDocument/2006/relationships/tags" Target="../tags/tag71.xml"/><Relationship Id="rId2" Type="http://schemas.openxmlformats.org/officeDocument/2006/relationships/image" Target="../media/image11.jpeg"/><Relationship Id="rId1" Type="http://schemas.openxmlformats.org/officeDocument/2006/relationships/image" Target="../media/image7.png"/></Relationships>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2.xml"/><Relationship Id="rId1" Type="http://schemas.openxmlformats.org/officeDocument/2006/relationships/image" Target="../media/image7.pn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3.xml"/><Relationship Id="rId1" Type="http://schemas.openxmlformats.org/officeDocument/2006/relationships/image" Target="../media/image7.png"/></Relationships>
</file>

<file path=ppt/slides/_rels/slide12.xml.rels><?xml version="1.0" encoding="UTF-8" standalone="yes"?>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84.xml"/><Relationship Id="rId4" Type="http://schemas.openxmlformats.org/officeDocument/2006/relationships/image" Target="../media/image5.png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7.pn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5.xml"/><Relationship Id="rId1" Type="http://schemas.openxmlformats.org/officeDocument/2006/relationships/image" Target="../media/image7.png"/></Relationships>
</file>

<file path=ppt/slides/_rels/slide14.xml.rels><?xml version="1.0" encoding="UTF-8" standalone="yes"?>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9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9" name="图片 8" descr="1037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9106535" y="5777865"/>
            <a:ext cx="3085714" cy="108000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2151380" y="2035175"/>
            <a:ext cx="7889240" cy="2787650"/>
            <a:chOff x="4143" y="4637"/>
            <a:chExt cx="12424" cy="4390"/>
          </a:xfrm>
        </p:grpSpPr>
        <p:sp>
          <p:nvSpPr>
            <p:cNvPr id="27" name="文本框 1"/>
            <p:cNvSpPr txBox="1"/>
            <p:nvPr/>
          </p:nvSpPr>
          <p:spPr>
            <a:xfrm>
              <a:off x="4143" y="4637"/>
              <a:ext cx="12424" cy="1598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algn="ctr" rtl="0" eaLnBrk="1" fontAlgn="auto" latinLnBrk="0" hangingPunct="1"/>
              <a:r>
                <a:rPr 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VGGT</a:t>
              </a:r>
              <a:r>
                <a:rPr lang="en-US" alt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模块一</a:t>
              </a:r>
              <a:r>
                <a:rPr lang="zh-CN" altLang="en-US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测试汇报</a:t>
              </a:r>
              <a:endParaRPr lang="zh-CN" altLang="en-US" sz="6000" b="1" kern="10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8" name="文本框 1"/>
            <p:cNvSpPr txBox="1"/>
            <p:nvPr/>
          </p:nvSpPr>
          <p:spPr>
            <a:xfrm>
              <a:off x="7636" y="8530"/>
              <a:ext cx="5913" cy="497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l" rtl="0" eaLnBrk="1" fontAlgn="auto" latinLnBrk="0" hangingPunct="1">
                <a:lnSpc>
                  <a:spcPts val="1800"/>
                </a:lnSpc>
              </a:pP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汇报人丨黄国宸 曹钧杰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 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时间丨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2026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.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9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/>
              </a:r>
              <a:endParaRPr lang="zh-CN" altLang="en-US" sz="1600" kern="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9" name="文本框 32"/>
            <p:cNvSpPr txBox="1"/>
            <p:nvPr/>
          </p:nvSpPr>
          <p:spPr>
            <a:xfrm>
              <a:off x="5781" y="6564"/>
              <a:ext cx="9129" cy="564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ctr" rtl="0" eaLnBrk="1" fontAlgn="auto" latinLnBrk="0" hangingPunct="1">
                <a:lnSpc>
                  <a:spcPts val="2000"/>
                </a:lnSpc>
              </a:pP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32 条用例 · 2 种方法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0 权重 0 GPU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1 个缺陷</a:t>
              </a:r>
              <a:endParaRPr lang="en-US" altLang="zh-CN" sz="2000" b="1" kern="10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8" name="图片 17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0" y="0"/>
            <a:ext cx="4679950" cy="3831590"/>
          </a:xfrm>
          <a:prstGeom prst="rect">
            <a:avLst/>
          </a:prstGeom>
          <a:gradFill>
            <a:gsLst>
              <a:gs pos="52000">
                <a:srgbClr val="25557A"/>
              </a:gs>
              <a:gs pos="100000">
                <a:srgbClr val="2D84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10870" y="535305"/>
            <a:ext cx="3458210" cy="1877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fontAlgn="auto">
              <a:lnSpc>
                <a:spcPct val="150000"/>
              </a:lnSpc>
            </a:pPr>
            <a:r>
              <a:rPr lang="zh-CN" altLang="en-US" sz="8000" b="1"/>
              <a:t>目录</a:t>
            </a:r>
            <a:endParaRPr lang="zh-CN" altLang="en-US" sz="8000"/>
          </a:p>
          <a:p>
            <a:pPr algn="ctr" fontAlgn="auto">
              <a:lnSpc>
                <a:spcPct val="150000"/>
              </a:lnSpc>
            </a:pPr>
            <a:r>
              <a:rPr lang="en-US" altLang="zh-CN" sz="3200"/>
              <a:t>CONTENTS</a:t>
            </a:r>
            <a:endParaRPr lang="en-US" altLang="zh-CN" sz="3200"/>
          </a:p>
        </p:txBody>
      </p:sp>
      <p:grpSp>
        <p:nvGrpSpPr>
          <p:cNvPr id="16" name="组合 15"/>
          <p:cNvGrpSpPr/>
          <p:nvPr/>
        </p:nvGrpSpPr>
        <p:grpSpPr>
          <a:xfrm>
            <a:off x="5471795" y="1267460"/>
            <a:ext cx="3579495" cy="4323715"/>
            <a:chOff x="8183" y="1320"/>
            <a:chExt cx="5637" cy="6809"/>
          </a:xfrm>
        </p:grpSpPr>
        <p:sp>
          <p:nvSpPr>
            <p:cNvPr id="34" name="椭圆 33"/>
            <p:cNvSpPr/>
            <p:nvPr/>
          </p:nvSpPr>
          <p:spPr>
            <a:xfrm>
              <a:off x="8183" y="1320"/>
              <a:ext cx="1244" cy="124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rPr>
                <a:t>1</a:t>
              </a:r>
              <a:endParaRPr lang="en-US" altLang="zh-CN" sz="3200" b="1" dirty="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0046" y="1521"/>
              <a:ext cx="3775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2800" spc="300" dirty="0">
                  <a:latin typeface="+mn-ea"/>
                </a:rPr>
                <a:t>被测对象</a:t>
              </a:r>
              <a:endParaRPr lang="zh-CN" altLang="en-US" sz="2800" spc="300" dirty="0">
                <a:latin typeface="+mn-ea"/>
              </a:endParaRPr>
            </a:p>
          </p:txBody>
        </p:sp>
        <p:cxnSp>
          <p:nvCxnSpPr>
            <p:cNvPr id="36" name="直接连接符 35"/>
            <p:cNvCxnSpPr/>
            <p:nvPr/>
          </p:nvCxnSpPr>
          <p:spPr>
            <a:xfrm>
              <a:off x="9782" y="1651"/>
              <a:ext cx="0" cy="606"/>
            </a:xfrm>
            <a:prstGeom prst="line">
              <a:avLst/>
            </a:prstGeom>
            <a:ln w="31750">
              <a:solidFill>
                <a:srgbClr val="25557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组合 7"/>
            <p:cNvGrpSpPr/>
            <p:nvPr/>
          </p:nvGrpSpPr>
          <p:grpSpPr>
            <a:xfrm>
              <a:off x="8183" y="3175"/>
              <a:ext cx="5635" cy="1244"/>
              <a:chOff x="8183" y="3571"/>
              <a:chExt cx="5635" cy="1244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8183" y="3571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2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0" name="矩形 39"/>
              <p:cNvSpPr/>
              <p:nvPr/>
            </p:nvSpPr>
            <p:spPr>
              <a:xfrm>
                <a:off x="10044" y="3785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sz="2800" spc="300" dirty="0">
                    <a:latin typeface="+mn-ea"/>
                  </a:rPr>
                  <a:t>测试策略</a:t>
                </a:r>
                <a:endParaRPr lang="zh-CN" altLang="en-US" sz="2800" spc="300" dirty="0">
                  <a:latin typeface="+mn-ea"/>
                </a:endParaRPr>
              </a:p>
            </p:txBody>
          </p:sp>
          <p:cxnSp>
            <p:nvCxnSpPr>
              <p:cNvPr id="41" name="直接连接符 40"/>
              <p:cNvCxnSpPr/>
              <p:nvPr/>
            </p:nvCxnSpPr>
            <p:spPr>
              <a:xfrm>
                <a:off x="9782" y="3902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组合 8"/>
            <p:cNvGrpSpPr/>
            <p:nvPr/>
          </p:nvGrpSpPr>
          <p:grpSpPr>
            <a:xfrm>
              <a:off x="8183" y="5030"/>
              <a:ext cx="5635" cy="1244"/>
              <a:chOff x="8183" y="5822"/>
              <a:chExt cx="5635" cy="1244"/>
            </a:xfrm>
          </p:grpSpPr>
          <p:sp>
            <p:nvSpPr>
              <p:cNvPr id="43" name="椭圆 42"/>
              <p:cNvSpPr/>
              <p:nvPr/>
            </p:nvSpPr>
            <p:spPr>
              <a:xfrm>
                <a:off x="8183" y="5822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3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0044" y="6022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sz="2800" spc="300" dirty="0">
                    <a:latin typeface="+mn-ea"/>
                  </a:rPr>
                  <a:t>自动化实施</a:t>
                </a:r>
                <a:endParaRPr lang="zh-CN" altLang="en-US" sz="2800" spc="300" dirty="0">
                  <a:latin typeface="+mn-ea"/>
                </a:endParaRPr>
              </a:p>
            </p:txBody>
          </p:sp>
          <p:cxnSp>
            <p:nvCxnSpPr>
              <p:cNvPr id="45" name="直接连接符 44"/>
              <p:cNvCxnSpPr/>
              <p:nvPr/>
            </p:nvCxnSpPr>
            <p:spPr>
              <a:xfrm>
                <a:off x="9782" y="6153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8185" y="6885"/>
              <a:ext cx="5634" cy="1244"/>
              <a:chOff x="8186" y="8236"/>
              <a:chExt cx="5634" cy="1244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8186" y="8236"/>
                <a:ext cx="1244" cy="12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3200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4</a:t>
                </a:r>
                <a:endParaRPr lang="en-US" altLang="zh-CN" sz="3200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10046" y="8447"/>
                <a:ext cx="3775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sz="2800" spc="300" dirty="0">
                    <a:latin typeface="+mn-ea"/>
                  </a:rPr>
                  <a:t>结果与结论</a:t>
                </a:r>
                <a:endParaRPr lang="zh-CN" altLang="en-US" sz="2800" spc="300" dirty="0">
                  <a:latin typeface="+mn-ea"/>
                </a:endParaRPr>
              </a:p>
            </p:txBody>
          </p:sp>
          <p:cxnSp>
            <p:nvCxnSpPr>
              <p:cNvPr id="49" name="直接连接符 48"/>
              <p:cNvCxnSpPr/>
              <p:nvPr/>
            </p:nvCxnSpPr>
            <p:spPr>
              <a:xfrm>
                <a:off x="9785" y="8567"/>
                <a:ext cx="0" cy="606"/>
              </a:xfrm>
              <a:prstGeom prst="line">
                <a:avLst/>
              </a:prstGeom>
              <a:ln w="31750">
                <a:solidFill>
                  <a:srgbClr val="25557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6" name="图片 25" descr="校史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9255760" y="5777865"/>
            <a:ext cx="2905830" cy="1080000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8" name="图片 17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/>
        </p:nvGrpSpPr>
        <p:grpSpPr>
          <a:xfrm>
            <a:off x="0" y="3738245"/>
            <a:ext cx="4679950" cy="3119755"/>
            <a:chOff x="0" y="5887"/>
            <a:chExt cx="7370" cy="4913"/>
          </a:xfrm>
        </p:grpSpPr>
        <p:pic>
          <p:nvPicPr>
            <p:cNvPr id="13" name="图片 12" descr="IMG_2578(20220922-170619)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87"/>
              <a:ext cx="7370" cy="4913"/>
            </a:xfrm>
            <a:prstGeom prst="rect">
              <a:avLst/>
            </a:prstGeom>
          </p:spPr>
        </p:pic>
        <p:pic>
          <p:nvPicPr>
            <p:cNvPr id="19" name="图片 18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4" y="9474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/>
          <p:cNvSpPr/>
          <p:nvPr/>
        </p:nvSpPr>
        <p:spPr>
          <a:xfrm flipH="1">
            <a:off x="4337050" y="0"/>
            <a:ext cx="785495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gradFill flip="none">
            <a:gsLst>
              <a:gs pos="15000">
                <a:srgbClr val="25557A"/>
              </a:gs>
              <a:gs pos="32000">
                <a:srgbClr val="2483D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4896485" y="635"/>
            <a:ext cx="7295515" cy="6858000"/>
            <a:chOff x="7711" y="1"/>
            <a:chExt cx="11489" cy="10800"/>
          </a:xfrm>
        </p:grpSpPr>
        <p:pic>
          <p:nvPicPr>
            <p:cNvPr id="17" name="图片 16" descr="IMG_2580"/>
            <p:cNvPicPr>
              <a:picLocks noChangeAspect="1"/>
            </p:cNvPicPr>
            <p:nvPr/>
          </p:nvPicPr>
          <p:blipFill>
            <a:blip r:embed="rId1">
              <a:clrChange>
                <a:clrFrom>
                  <a:srgbClr val="006DBF">
                    <a:alpha val="100000"/>
                  </a:srgbClr>
                </a:clrFrom>
                <a:clrTo>
                  <a:srgbClr val="006DB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1840" y="2371"/>
              <a:ext cx="7360" cy="8429"/>
            </a:xfrm>
            <a:prstGeom prst="rect">
              <a:avLst/>
            </a:prstGeom>
          </p:spPr>
        </p:pic>
        <p:sp>
          <p:nvSpPr>
            <p:cNvPr id="21" name="任意多边形: 形状 52"/>
            <p:cNvSpPr/>
            <p:nvPr/>
          </p:nvSpPr>
          <p:spPr>
            <a:xfrm flipV="1">
              <a:off x="7711" y="1"/>
              <a:ext cx="6416" cy="10800"/>
            </a:xfrm>
            <a:custGeom>
              <a:avLst/>
              <a:gdLst>
                <a:gd name="connsiteX0" fmla="*/ 12191999 w 12192000"/>
                <a:gd name="connsiteY0" fmla="*/ 0 h 6858000"/>
                <a:gd name="connsiteX1" fmla="*/ 12192000 w 12192000"/>
                <a:gd name="connsiteY1" fmla="*/ 0 h 6858000"/>
                <a:gd name="connsiteX2" fmla="*/ 12192000 w 12192000"/>
                <a:gd name="connsiteY2" fmla="*/ 6858000 h 6858000"/>
                <a:gd name="connsiteX3" fmla="*/ 12191999 w 12192000"/>
                <a:gd name="connsiteY3" fmla="*/ 6858000 h 6858000"/>
                <a:gd name="connsiteX4" fmla="*/ 0 w 12192000"/>
                <a:gd name="connsiteY4" fmla="*/ 0 h 6858000"/>
                <a:gd name="connsiteX5" fmla="*/ 11295445 w 12192000"/>
                <a:gd name="connsiteY5" fmla="*/ 0 h 6858000"/>
                <a:gd name="connsiteX6" fmla="*/ 4437446 w 12192000"/>
                <a:gd name="connsiteY6" fmla="*/ 6858000 h 6858000"/>
                <a:gd name="connsiteX7" fmla="*/ 0 w 12192000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8000">
                  <a:moveTo>
                    <a:pt x="12191999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12191999" y="6858000"/>
                  </a:lnTo>
                  <a:close/>
                  <a:moveTo>
                    <a:pt x="0" y="0"/>
                  </a:moveTo>
                  <a:lnTo>
                    <a:pt x="11295445" y="0"/>
                  </a:lnTo>
                  <a:lnTo>
                    <a:pt x="4437446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5" name="图片 24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/>
        </p:nvGrpSpPr>
        <p:grpSpPr>
          <a:xfrm>
            <a:off x="1981200" y="1901190"/>
            <a:ext cx="6291580" cy="2896235"/>
            <a:chOff x="1932" y="2994"/>
            <a:chExt cx="9908" cy="4561"/>
          </a:xfrm>
        </p:grpSpPr>
        <p:grpSp>
          <p:nvGrpSpPr>
            <p:cNvPr id="30" name="组合 29"/>
            <p:cNvGrpSpPr/>
            <p:nvPr/>
          </p:nvGrpSpPr>
          <p:grpSpPr>
            <a:xfrm>
              <a:off x="1932" y="2994"/>
              <a:ext cx="3242" cy="2179"/>
              <a:chOff x="2761095" y="2292169"/>
              <a:chExt cx="2058736" cy="1383665"/>
            </a:xfrm>
          </p:grpSpPr>
          <p:sp>
            <p:nvSpPr>
              <p:cNvPr id="2" name="矩形: 圆角 1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3020843" y="2292169"/>
                <a:ext cx="1798988" cy="1383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8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8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68" name="矩形 67"/>
            <p:cNvSpPr/>
            <p:nvPr/>
          </p:nvSpPr>
          <p:spPr>
            <a:xfrm>
              <a:off x="4066" y="2994"/>
              <a:ext cx="2262" cy="2082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en-US" altLang="zh-CN" sz="8000" b="1" dirty="0">
                  <a:latin typeface="微软雅黑" panose="020B0503020204020204" charset="-122"/>
                  <a:ea typeface="微软雅黑" panose="020B0503020204020204" charset="-122"/>
                </a:rPr>
                <a:t>01</a:t>
              </a:r>
              <a:endParaRPr lang="en-US" altLang="zh-CN" sz="800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2118" y="5546"/>
              <a:ext cx="7188" cy="1743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6600" b="1" spc="300" dirty="0">
                  <a:latin typeface="微软雅黑" panose="020B0503020204020204" charset="-122"/>
                  <a:ea typeface="微软雅黑" panose="020B0503020204020204" charset="-122"/>
                </a:rPr>
                <a:t>被测对象核心功能</a:t>
              </a:r>
              <a:endParaRPr lang="zh-CN" altLang="en-US" sz="66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2212" y="6975"/>
              <a:ext cx="9628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6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TEST OBJECT &amp; CORE FUNCTIONS</a:t>
              </a:r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9" name="图片 18" descr="小招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45" y="6055995"/>
            <a:ext cx="1080000" cy="604432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被测对象：VGGT 的几何计算层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TEST OBJECT &amp; CORE FUNCTIONS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9" name="矩形: 圆角 18"/>
          <p:cNvSpPr/>
          <p:nvPr/>
        </p:nvSpPr>
        <p:spPr>
          <a:xfrm>
            <a:off x="977900" y="1648460"/>
            <a:ext cx="10236200" cy="45834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dirty="0"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  <p:sp>
        <p:nvSpPr>
          <p:cNvPr id="13" name="任意多边形: 形状 21"/>
          <p:cNvSpPr/>
          <p:nvPr/>
        </p:nvSpPr>
        <p:spPr>
          <a:xfrm>
            <a:off x="977900" y="2575560"/>
            <a:ext cx="1675765" cy="2781300"/>
          </a:xfrm>
          <a:custGeom>
            <a:avLst/>
            <a:gdLst>
              <a:gd name="connsiteX0" fmla="*/ 284837 w 1675487"/>
              <a:gd name="connsiteY0" fmla="*/ 0 h 2781300"/>
              <a:gd name="connsiteX1" fmla="*/ 1675487 w 1675487"/>
              <a:gd name="connsiteY1" fmla="*/ 1390650 h 2781300"/>
              <a:gd name="connsiteX2" fmla="*/ 284837 w 1675487"/>
              <a:gd name="connsiteY2" fmla="*/ 2781300 h 2781300"/>
              <a:gd name="connsiteX3" fmla="*/ 4573 w 1675487"/>
              <a:gd name="connsiteY3" fmla="*/ 2753047 h 2781300"/>
              <a:gd name="connsiteX4" fmla="*/ 0 w 1675487"/>
              <a:gd name="connsiteY4" fmla="*/ 2751872 h 2781300"/>
              <a:gd name="connsiteX5" fmla="*/ 0 w 1675487"/>
              <a:gd name="connsiteY5" fmla="*/ 29429 h 2781300"/>
              <a:gd name="connsiteX6" fmla="*/ 4573 w 1675487"/>
              <a:gd name="connsiteY6" fmla="*/ 28253 h 2781300"/>
              <a:gd name="connsiteX7" fmla="*/ 284837 w 1675487"/>
              <a:gd name="connsiteY7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75487" h="2781300">
                <a:moveTo>
                  <a:pt x="284837" y="0"/>
                </a:moveTo>
                <a:cubicBezTo>
                  <a:pt x="1052872" y="0"/>
                  <a:pt x="1675487" y="622615"/>
                  <a:pt x="1675487" y="1390650"/>
                </a:cubicBezTo>
                <a:cubicBezTo>
                  <a:pt x="1675487" y="2158685"/>
                  <a:pt x="1052872" y="2781300"/>
                  <a:pt x="284837" y="2781300"/>
                </a:cubicBezTo>
                <a:cubicBezTo>
                  <a:pt x="188833" y="2781300"/>
                  <a:pt x="95101" y="2771572"/>
                  <a:pt x="4573" y="2753047"/>
                </a:cubicBezTo>
                <a:lnTo>
                  <a:pt x="0" y="2751872"/>
                </a:lnTo>
                <a:lnTo>
                  <a:pt x="0" y="29429"/>
                </a:lnTo>
                <a:lnTo>
                  <a:pt x="4573" y="28253"/>
                </a:lnTo>
                <a:cubicBezTo>
                  <a:pt x="95101" y="9729"/>
                  <a:pt x="188833" y="0"/>
                  <a:pt x="284837" y="0"/>
                </a:cubicBezTo>
                <a:close/>
              </a:path>
            </a:pathLst>
          </a:cu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69035" y="3429000"/>
            <a:ext cx="1071880" cy="1076325"/>
          </a:xfrm>
          <a:prstGeom prst="rect">
            <a:avLst/>
          </a:prstGeom>
        </p:spPr>
        <p:txBody>
          <a:bodyPr wrap="none">
            <a:spAutoFit/>
          </a:bodyPr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被测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对象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 rot="0">
            <a:off x="2890520" y="2061845"/>
            <a:ext cx="7985125" cy="1217930"/>
            <a:chOff x="3134969" y="2228849"/>
            <a:chExt cx="7984866" cy="1218108"/>
          </a:xfrm>
        </p:grpSpPr>
        <p:sp>
          <p:nvSpPr>
            <p:cNvPr id="18" name="椭圆 1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1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前馈式三维大模型</a:t>
                </a:r>
                <a:endParaRPr lang="zh-CN" altLang="en-US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FEED-FORWARD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1B PARAMS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VGGT 是 Meta AI 与牛津大学的三维视觉大模型、CVPR 2025 最佳论文；单次前向即可从一至数百张图像预测相机内外参、深度图、点图与三维轨迹，约 10 亿参数。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 rot="0">
            <a:off x="3521075" y="3430905"/>
            <a:ext cx="7355205" cy="1217930"/>
            <a:chOff x="3134969" y="2228849"/>
            <a:chExt cx="7354946" cy="1218108"/>
          </a:xfrm>
        </p:grpSpPr>
        <p:sp>
          <p:nvSpPr>
            <p:cNvPr id="36" name="椭圆 35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2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3765265" y="2243632"/>
              <a:ext cx="6724650" cy="1203325"/>
              <a:chOff x="7893455" y="4126834"/>
              <a:chExt cx="6724650" cy="1203325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核心功能链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COORDS CHAIN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CAM · WORLD · PIXEL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7893455" y="4377024"/>
                <a:ext cx="672465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geometry.py 324 行 8 个函数（NumPy/PyTorch 混合），做深度图/相机/世界/像素坐标互转：unproject → depth_to_world → depth_to_cam（L15/47/87）。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 rot="0">
            <a:off x="2890520" y="4800600"/>
            <a:ext cx="7985125" cy="1217930"/>
            <a:chOff x="3134969" y="2228849"/>
            <a:chExt cx="7984866" cy="1218108"/>
          </a:xfrm>
        </p:grpSpPr>
        <p:sp>
          <p:nvSpPr>
            <p:cNvPr id="28" name="椭圆 2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3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绝对位姿不可比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GAUGE FREEDOM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RELATIVE ONLY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第一帧外参被固定为单位阵，以首帧相机作场景参考系。跨运行比较绝对位姿没有意义，断言只能取相对量或闭式解析解。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12" name="图片 11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6" name="组合 15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直角三角形 19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文档承诺与实现不一致，是最值得测的位置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DOC CONTRACT VS IMPLEMENTATION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6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直角三角形 16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660400" y="1234440"/>
            <a:ext cx="10858500" cy="4899660"/>
            <a:chOff x="1040" y="1944"/>
            <a:chExt cx="17100" cy="7716"/>
          </a:xfrm>
        </p:grpSpPr>
        <p:sp>
          <p:nvSpPr>
            <p:cNvPr id="2" name="矩形 1"/>
            <p:cNvSpPr/>
            <p:nvPr/>
          </p:nvSpPr>
          <p:spPr>
            <a:xfrm>
              <a:off x="1040" y="2274"/>
              <a:ext cx="17100" cy="333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1346" y="2586"/>
              <a:ext cx="11773" cy="2733"/>
              <a:chOff x="1188085" y="4304453"/>
              <a:chExt cx="4283710" cy="1735330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1188085" y="4304453"/>
                <a:ext cx="27308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函数契约（第 22 行）</a:t>
                </a:r>
                <a:endParaRPr lang="zh-CN" altLang="en-US" sz="2400" b="1" dirty="0">
                  <a:solidFill>
                    <a:srgbClr val="25557A"/>
                  </a:solidFill>
                </a:endParaRPr>
              </a:p>
            </p:txBody>
          </p:sp>
          <p:cxnSp>
            <p:nvCxnSpPr>
              <p:cNvPr id="20" name="直接连接符 19"/>
              <p:cNvCxnSpPr/>
              <p:nvPr/>
            </p:nvCxnSpPr>
            <p:spPr>
              <a:xfrm>
                <a:off x="1248911" y="4856923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20"/>
              <p:cNvSpPr txBox="1"/>
              <p:nvPr/>
            </p:nvSpPr>
            <p:spPr>
              <a:xfrm>
                <a:off x="1188085" y="4896457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lang="zh-CN" altLang="en-US" dirty="0"/>
                  <a:t>docstring 明文声明：depth_map 的形状可为 (S, H, W, 1) 或 (S, H, W)。</a:t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endParaRPr lang="zh-CN" altLang="en-US" dirty="0"/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>
              <a:off x="1040" y="5994"/>
              <a:ext cx="17100" cy="3666"/>
              <a:chOff x="660400" y="1603756"/>
              <a:chExt cx="10858500" cy="2328164"/>
            </a:xfrm>
          </p:grpSpPr>
          <p:sp>
            <p:nvSpPr>
              <p:cNvPr id="23" name="矩形 22"/>
              <p:cNvSpPr/>
              <p:nvPr/>
            </p:nvSpPr>
            <p:spPr>
              <a:xfrm>
                <a:off x="660400" y="1813560"/>
                <a:ext cx="10858500" cy="211836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32" name="图片 31" descr="C:\Users\14638\Desktop\IMG_2588(20220923-102348).JPGIMG_2588(20220923-102348)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9185" y="1603756"/>
                <a:ext cx="2327910" cy="2328164"/>
              </a:xfrm>
              <a:prstGeom prst="rect">
                <a:avLst/>
              </a:prstGeom>
            </p:spPr>
          </p:pic>
        </p:grpSp>
        <p:grpSp>
          <p:nvGrpSpPr>
            <p:cNvPr id="35" name="组合 34"/>
            <p:cNvGrpSpPr/>
            <p:nvPr/>
          </p:nvGrpSpPr>
          <p:grpSpPr>
            <a:xfrm>
              <a:off x="5870" y="6635"/>
              <a:ext cx="11773" cy="2744"/>
              <a:chOff x="1188085" y="4304453"/>
              <a:chExt cx="4283710" cy="1742315"/>
            </a:xfrm>
          </p:grpSpPr>
          <p:sp>
            <p:nvSpPr>
              <p:cNvPr id="37" name="文本框 36"/>
              <p:cNvSpPr txBox="1"/>
              <p:nvPr/>
            </p:nvSpPr>
            <p:spPr>
              <a:xfrm>
                <a:off x="1188085" y="4304453"/>
                <a:ext cx="2730844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实际实现（第 39 行）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8" name="直接连接符 37"/>
              <p:cNvCxnSpPr/>
              <p:nvPr/>
            </p:nvCxnSpPr>
            <p:spPr>
              <a:xfrm>
                <a:off x="1232903" y="4863908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文本框 38"/>
              <p:cNvSpPr txBox="1"/>
              <p:nvPr/>
            </p:nvSpPr>
            <p:spPr>
              <a:xfrm>
                <a:off x="1188085" y="4903442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lang="zh-CN" altLang="en-US" dirty="0"/>
                  <a:t>但实现第 39 行对每一帧无条件执行 squeeze(-1)，实质只兼容四维输入。</a:t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endParaRPr lang="zh-CN" altLang="en-US" dirty="0"/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13940" y="1944"/>
              <a:ext cx="3665" cy="3666"/>
              <a:chOff x="13940" y="1944"/>
              <a:chExt cx="3665" cy="3666"/>
            </a:xfrm>
          </p:grpSpPr>
          <p:pic>
            <p:nvPicPr>
              <p:cNvPr id="40" name="图片 39" descr="C:\Users\14638\Desktop\IMG_2587(20220923-102336).JPGIMG_2587(20220923-102336)"/>
              <p:cNvPicPr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13940" y="1944"/>
                <a:ext cx="3665" cy="3666"/>
              </a:xfrm>
              <a:prstGeom prst="rect">
                <a:avLst/>
              </a:prstGeom>
            </p:spPr>
          </p:pic>
          <p:pic>
            <p:nvPicPr>
              <p:cNvPr id="18" name="图片 17" descr="小招logo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22" y="4366"/>
                <a:ext cx="1701" cy="952"/>
              </a:xfrm>
              <a:prstGeom prst="rect">
                <a:avLst/>
              </a:prstGeom>
            </p:spPr>
          </p:pic>
        </p:grpSp>
        <p:pic>
          <p:nvPicPr>
            <p:cNvPr id="24" name="图片 23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1" y="8427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/>
          <p:cNvSpPr/>
          <p:nvPr/>
        </p:nvSpPr>
        <p:spPr>
          <a:xfrm flipH="1">
            <a:off x="4335145" y="0"/>
            <a:ext cx="785495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gradFill flip="none">
            <a:gsLst>
              <a:gs pos="0">
                <a:schemeClr val="accent1">
                  <a:lumMod val="20000"/>
                  <a:lumOff val="80000"/>
                </a:schemeClr>
              </a:gs>
              <a:gs pos="26000">
                <a:srgbClr val="D9EBF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" name="图片 3" descr="1.5"/>
          <p:cNvPicPr/>
          <p:nvPr>
            <p:custDataLst>
              <p:tags r:id="rId1"/>
            </p:custDataLst>
          </p:nvPr>
        </p:nvPicPr>
        <p:blipFill>
          <a:blip r:embed="rId2"/>
          <a:srcRect l="22403" t="1475" r="22481" b="58056"/>
          <a:stretch>
            <a:fillRect/>
          </a:stretch>
        </p:blipFill>
        <p:spPr>
          <a:xfrm flipH="1">
            <a:off x="7152005" y="2223135"/>
            <a:ext cx="5039995" cy="4634865"/>
          </a:xfrm>
          <a:prstGeom prst="rect">
            <a:avLst/>
          </a:prstGeom>
        </p:spPr>
      </p:pic>
      <p:pic>
        <p:nvPicPr>
          <p:cNvPr id="5" name="图片 4" descr="校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365" y="186055"/>
            <a:ext cx="1422400" cy="1080135"/>
          </a:xfrm>
          <a:prstGeom prst="rect">
            <a:avLst/>
          </a:prstGeom>
        </p:spPr>
      </p:pic>
      <p:sp>
        <p:nvSpPr>
          <p:cNvPr id="21" name="任意多边形: 形状 52"/>
          <p:cNvSpPr/>
          <p:nvPr/>
        </p:nvSpPr>
        <p:spPr>
          <a:xfrm flipV="1">
            <a:off x="4925060" y="0"/>
            <a:ext cx="4074160" cy="6858000"/>
          </a:xfrm>
          <a:custGeom>
            <a:avLst/>
            <a:gdLst>
              <a:gd name="connsiteX0" fmla="*/ 12191999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2191999 w 12192000"/>
              <a:gd name="connsiteY3" fmla="*/ 6858000 h 6858000"/>
              <a:gd name="connsiteX4" fmla="*/ 0 w 12192000"/>
              <a:gd name="connsiteY4" fmla="*/ 0 h 6858000"/>
              <a:gd name="connsiteX5" fmla="*/ 11295445 w 12192000"/>
              <a:gd name="connsiteY5" fmla="*/ 0 h 6858000"/>
              <a:gd name="connsiteX6" fmla="*/ 4437446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2191999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close/>
                <a:moveTo>
                  <a:pt x="0" y="0"/>
                </a:moveTo>
                <a:lnTo>
                  <a:pt x="11295445" y="0"/>
                </a:lnTo>
                <a:lnTo>
                  <a:pt x="443744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63" name="组合 62"/>
          <p:cNvGrpSpPr/>
          <p:nvPr/>
        </p:nvGrpSpPr>
        <p:grpSpPr>
          <a:xfrm rot="10800000">
            <a:off x="-28575" y="3744463"/>
            <a:ext cx="4737100" cy="5091168"/>
            <a:chOff x="8135783" y="-1669981"/>
            <a:chExt cx="4056217" cy="4359393"/>
          </a:xfrm>
        </p:grpSpPr>
        <p:sp>
          <p:nvSpPr>
            <p:cNvPr id="65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直角三角形 63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9" name="图片 18" descr="小招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3745" y="6055995"/>
            <a:ext cx="1080000" cy="604432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1981200" y="1901190"/>
            <a:ext cx="6291580" cy="2896235"/>
            <a:chOff x="1932" y="2994"/>
            <a:chExt cx="9908" cy="4561"/>
          </a:xfrm>
        </p:grpSpPr>
        <p:grpSp>
          <p:nvGrpSpPr>
            <p:cNvPr id="7" name="组合 6"/>
            <p:cNvGrpSpPr/>
            <p:nvPr/>
          </p:nvGrpSpPr>
          <p:grpSpPr>
            <a:xfrm>
              <a:off x="1932" y="2994"/>
              <a:ext cx="3242" cy="2179"/>
              <a:chOff x="2761095" y="2292169"/>
              <a:chExt cx="2058736" cy="1383665"/>
            </a:xfrm>
          </p:grpSpPr>
          <p:sp>
            <p:nvSpPr>
              <p:cNvPr id="8" name="矩形: 圆角 1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9" name="矩形: 圆角 6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3020843" y="2292169"/>
                <a:ext cx="1798988" cy="1383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8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8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4066" y="2994"/>
              <a:ext cx="2262" cy="2082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en-US" altLang="zh-CN" sz="8000" b="1" dirty="0">
                  <a:latin typeface="微软雅黑" panose="020B0503020204020204" charset="-122"/>
                  <a:ea typeface="微软雅黑" panose="020B0503020204020204" charset="-122"/>
                </a:rPr>
                <a:t>02</a:t>
              </a:r>
              <a:endParaRPr lang="en-US" altLang="zh-CN" sz="8000" b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2118" y="5546"/>
              <a:ext cx="7188" cy="1743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6600" b="1" spc="300" dirty="0">
                  <a:latin typeface="微软雅黑" panose="020B0503020204020204" charset="-122"/>
                  <a:ea typeface="微软雅黑" panose="020B0503020204020204" charset="-122"/>
                </a:rPr>
                <a:t>主要测试策略</a:t>
              </a:r>
              <a:endParaRPr lang="zh-CN" altLang="en-US" sz="66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212" y="6975"/>
              <a:ext cx="9628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6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MAIN TEST STRATEGY</a:t>
              </a:r>
              <a:endParaRPr lang="en-US" altLang="zh-CN" sz="900" spc="600" dirty="0">
                <a:solidFill>
                  <a:schemeClr val="bg1">
                    <a:lumMod val="65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直角三角形 4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等价类 + 边界值：两种经典方法打底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TWO CORE METHODS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1092200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693522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等价类划分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63853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按输入维度切有效/无效类：尺寸、帧数、坐标系、类型，共 19 条。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1466630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661424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62745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边界值分析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833077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专攻临界点：图像四角、深度 0、矩阵尺寸、eps±、Z=0，共 5 条。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4035854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6230648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831970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组合覆盖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402301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多维叠加出题：深度×旋转、帧广播、平移×内参、批量内参，共 4 条。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6605078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8799871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401193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错误推测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71524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凭怀疑补刀：非零 skew、批量长度不一致；判定表另固化 2 条。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直接连接符 53"/>
          <p:cNvCxnSpPr/>
          <p:nvPr/>
        </p:nvCxnSpPr>
        <p:spPr>
          <a:xfrm>
            <a:off x="9174301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每条用例都标了方法，可以逐条对账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CASE TO METHOD MAPPING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9" name="矩形: 圆角 18"/>
          <p:cNvSpPr/>
          <p:nvPr/>
        </p:nvSpPr>
        <p:spPr>
          <a:xfrm>
            <a:off x="977900" y="1648460"/>
            <a:ext cx="10236200" cy="45834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dirty="0"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  <p:sp>
        <p:nvSpPr>
          <p:cNvPr id="13" name="任意多边形: 形状 21"/>
          <p:cNvSpPr/>
          <p:nvPr/>
        </p:nvSpPr>
        <p:spPr>
          <a:xfrm>
            <a:off x="977900" y="2575560"/>
            <a:ext cx="1675765" cy="2781300"/>
          </a:xfrm>
          <a:custGeom>
            <a:avLst/>
            <a:gdLst>
              <a:gd name="connsiteX0" fmla="*/ 284837 w 1675487"/>
              <a:gd name="connsiteY0" fmla="*/ 0 h 2781300"/>
              <a:gd name="connsiteX1" fmla="*/ 1675487 w 1675487"/>
              <a:gd name="connsiteY1" fmla="*/ 1390650 h 2781300"/>
              <a:gd name="connsiteX2" fmla="*/ 284837 w 1675487"/>
              <a:gd name="connsiteY2" fmla="*/ 2781300 h 2781300"/>
              <a:gd name="connsiteX3" fmla="*/ 4573 w 1675487"/>
              <a:gd name="connsiteY3" fmla="*/ 2753047 h 2781300"/>
              <a:gd name="connsiteX4" fmla="*/ 0 w 1675487"/>
              <a:gd name="connsiteY4" fmla="*/ 2751872 h 2781300"/>
              <a:gd name="connsiteX5" fmla="*/ 0 w 1675487"/>
              <a:gd name="connsiteY5" fmla="*/ 29429 h 2781300"/>
              <a:gd name="connsiteX6" fmla="*/ 4573 w 1675487"/>
              <a:gd name="connsiteY6" fmla="*/ 28253 h 2781300"/>
              <a:gd name="connsiteX7" fmla="*/ 284837 w 1675487"/>
              <a:gd name="connsiteY7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75487" h="2781300">
                <a:moveTo>
                  <a:pt x="284837" y="0"/>
                </a:moveTo>
                <a:cubicBezTo>
                  <a:pt x="1052872" y="0"/>
                  <a:pt x="1675487" y="622615"/>
                  <a:pt x="1675487" y="1390650"/>
                </a:cubicBezTo>
                <a:cubicBezTo>
                  <a:pt x="1675487" y="2158685"/>
                  <a:pt x="1052872" y="2781300"/>
                  <a:pt x="284837" y="2781300"/>
                </a:cubicBezTo>
                <a:cubicBezTo>
                  <a:pt x="188833" y="2781300"/>
                  <a:pt x="95101" y="2771572"/>
                  <a:pt x="4573" y="2753047"/>
                </a:cubicBezTo>
                <a:lnTo>
                  <a:pt x="0" y="2751872"/>
                </a:lnTo>
                <a:lnTo>
                  <a:pt x="0" y="29429"/>
                </a:lnTo>
                <a:lnTo>
                  <a:pt x="4573" y="28253"/>
                </a:lnTo>
                <a:cubicBezTo>
                  <a:pt x="95101" y="9729"/>
                  <a:pt x="188833" y="0"/>
                  <a:pt x="284837" y="0"/>
                </a:cubicBezTo>
                <a:close/>
              </a:path>
            </a:pathLst>
          </a:cu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69035" y="3429000"/>
            <a:ext cx="1071880" cy="1076325"/>
          </a:xfrm>
          <a:prstGeom prst="rect">
            <a:avLst/>
          </a:prstGeom>
        </p:spPr>
        <p:txBody>
          <a:bodyPr wrap="none">
            <a:spAutoFit/>
          </a:bodyPr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方法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 rot="0">
            <a:off x="2890520" y="2061845"/>
            <a:ext cx="7985125" cy="1217930"/>
            <a:chOff x="3134969" y="2228849"/>
            <a:chExt cx="7984866" cy="1218108"/>
          </a:xfrm>
        </p:grpSpPr>
        <p:sp>
          <p:nvSpPr>
            <p:cNvPr id="18" name="椭圆 1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1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等价类划分</a:t>
                </a:r>
                <a:endParaRPr lang="zh-CN" altLang="en-US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EQUIVALENCE · 19 CASES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M1-GEO-001~030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切割依据是输入维度、坐标系、输入类型与合法性四组维度。001/004/006/007/008/009/011/012/013/016/017/018 等 19 条。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 rot="0">
            <a:off x="3521075" y="3430905"/>
            <a:ext cx="7355205" cy="1217930"/>
            <a:chOff x="3134969" y="2228849"/>
            <a:chExt cx="7354946" cy="1218108"/>
          </a:xfrm>
        </p:grpSpPr>
        <p:sp>
          <p:nvSpPr>
            <p:cNvPr id="36" name="椭圆 35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2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3765265" y="2243632"/>
              <a:ext cx="6724650" cy="1203325"/>
              <a:chOff x="7893455" y="4126834"/>
              <a:chExt cx="6724650" cy="1203325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边界值分析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BOUNDARY · 5 CASES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M1-GEO-002~025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7893455" y="4377024"/>
                <a:ext cx="672465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取每个等价类的上下界与临界点：002 图像四角、003 深度下界 0、010 矩阵尺寸、014 eps−/eps/eps+ 三点夹逼、025 Z=0 除零。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 rot="0">
            <a:off x="2890520" y="4800600"/>
            <a:ext cx="7985125" cy="1217930"/>
            <a:chOff x="3134969" y="2228849"/>
            <a:chExt cx="7984866" cy="1218108"/>
          </a:xfrm>
        </p:grpSpPr>
        <p:sp>
          <p:nvSpPr>
            <p:cNvPr id="28" name="椭圆 2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3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其余标注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OTHER · 8 CASES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M1-GEO-005~032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组合覆盖 4 条：015/022/028/031；错误推测 2 条：005/019；判定表 2 条：029/032。32 条全部有方法标注，与清单备注列一致。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12" name="图片 11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6" name="组合 15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直角三角形 19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用最小输入逼出两类失败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SHAPE MATRIX OF TEST SAMPLES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21" name="组合 20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22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直角三角形 22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749935" y="1419860"/>
            <a:ext cx="10692130" cy="4617720"/>
            <a:chOff x="1181" y="2236"/>
            <a:chExt cx="16838" cy="7272"/>
          </a:xfrm>
        </p:grpSpPr>
        <p:grpSp>
          <p:nvGrpSpPr>
            <p:cNvPr id="33" name="组合 32"/>
            <p:cNvGrpSpPr/>
            <p:nvPr/>
          </p:nvGrpSpPr>
          <p:grpSpPr>
            <a:xfrm>
              <a:off x="5662" y="2733"/>
              <a:ext cx="3586" cy="4308"/>
              <a:chOff x="871675" y="1735596"/>
              <a:chExt cx="2276930" cy="2735527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34" name="矩形 33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956268" y="2054948"/>
                <a:ext cx="2107745" cy="2416175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>
                  <a:lnSpc>
                    <a:spcPct val="120000"/>
                  </a:lnSpc>
                </a:pPr>
                <a:r>
                  <a:rPr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失败②：W &gt; 1 时对非单位轴 squeeze，直接抛错。</a:t>
                </a:r>
                <a:endParaRPr lang="zh-CN" altLang="en-US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  <a:p>
                <a:pPr algn="just">
                  <a:lnSpc>
                    <a:spcPct val="120000"/>
                  </a:lnSpc>
                </a:pPr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9952" y="2733"/>
              <a:ext cx="3586" cy="4257"/>
              <a:chOff x="871675" y="1735596"/>
              <a:chExt cx="2276930" cy="2703053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13" name="矩形 12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956268" y="2054948"/>
                <a:ext cx="2107745" cy="2084070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 fontAlgn="auto">
                  <a:lnSpc>
                    <a:spcPct val="120000"/>
                  </a:lnSpc>
                </a:pPr>
                <a:r>
                  <a:rPr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通过：正常返回 (2, 1, 1, 3)。这是声明的另一种形状。</a:t>
                </a:r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14242" y="2733"/>
              <a:ext cx="3586" cy="4257"/>
              <a:chOff x="871675" y="1735596"/>
              <a:chExt cx="2276930" cy="2703053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16" name="矩形 15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956268" y="2054948"/>
                <a:ext cx="2107745" cy="2084070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 fontAlgn="auto">
                  <a:lnSpc>
                    <a:spcPct val="120000"/>
                  </a:lnSpc>
                </a:pPr>
                <a:r>
                  <a:rPr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通过：正常返回 (2, 1, 2, 3)。与左格同源，缺陷只在三维分支。</a:t>
                </a:r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endParaRPr>
              </a:p>
            </p:txBody>
          </p:sp>
        </p:grpSp>
        <p:grpSp>
          <p:nvGrpSpPr>
            <p:cNvPr id="17" name="组合 16"/>
            <p:cNvGrpSpPr/>
            <p:nvPr/>
          </p:nvGrpSpPr>
          <p:grpSpPr>
            <a:xfrm>
              <a:off x="1373" y="2733"/>
              <a:ext cx="3586" cy="4317"/>
              <a:chOff x="871675" y="1735596"/>
              <a:chExt cx="2276930" cy="2741242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25" name="矩形 24"/>
              <p:cNvSpPr/>
              <p:nvPr/>
            </p:nvSpPr>
            <p:spPr>
              <a:xfrm>
                <a:off x="871675" y="1735596"/>
                <a:ext cx="2276930" cy="2703053"/>
              </a:xfrm>
              <a:prstGeom prst="rect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p>
                <a:pPr algn="ctr"/>
                <a:endParaRPr lang="zh-CN" altLang="en-US" kern="0" dirty="0">
                  <a:solidFill>
                    <a:srgbClr val="779B5E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956268" y="2060663"/>
                <a:ext cx="2107745" cy="2416175"/>
              </a:xfrm>
              <a:prstGeom prst="rect">
                <a:avLst/>
              </a:prstGeom>
              <a:grpFill/>
            </p:spPr>
            <p:txBody>
              <a:bodyPr wrap="square">
                <a:spAutoFit/>
              </a:bodyPr>
              <a:p>
                <a:pPr algn="just">
                  <a:lnSpc>
                    <a:spcPct val="120000"/>
                  </a:lnSpc>
                </a:pPr>
                <a:r>
                  <a:rPr lang="zh-CN" altLang="en-US"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失败①：W = 1 时宽度维被删，H, W 解包失败。</a:t>
                </a:r>
                <a:endParaRPr lang="zh-CN" altLang="en-US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  <a:p>
                <a:pPr algn="just">
                  <a:lnSpc>
                    <a:spcPct val="120000"/>
                  </a:lnSpc>
                </a:pPr>
                <a:endParaRPr lang="zh-CN" altLang="en-US" b="1" kern="0" dirty="0">
                  <a:solidFill>
                    <a:srgbClr val="2E703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endParaRPr>
              </a:p>
            </p:txBody>
          </p:sp>
        </p:grpSp>
        <p:pic>
          <p:nvPicPr>
            <p:cNvPr id="18" name="图片 17" descr="C:\Users\14638\Desktop\IMG_2592(20220923-103912).JPGIMG_2592(20220923-103912)"/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760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24" name="图片 23" descr="C:\Users\14638\Desktop\IMG_2593.JPGIMG_2593"/>
            <p:cNvPicPr/>
            <p:nvPr>
              <p:custDataLst>
                <p:tags r:id="rId3"/>
              </p:custDataLst>
            </p:nvPr>
          </p:nvPicPr>
          <p:blipFill>
            <a:blip r:embed="rId4"/>
            <a:srcRect/>
            <a:stretch>
              <a:fillRect/>
            </a:stretch>
          </p:blipFill>
          <p:spPr>
            <a:xfrm>
              <a:off x="1182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28" name="图片 27" descr="C:\Users\14638\Desktop\IMG_2590(20220923-103637).JPGIMG_2590(20220923-103637)"/>
            <p:cNvPicPr/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5471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30" name="图片 29" descr="C:\Users\14638\Desktop\IMG_2589(20220923-103609).JPGIMG_2589(20220923-103609)"/>
            <p:cNvPicPr/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4050" y="6673"/>
              <a:ext cx="3969" cy="2835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sp>
          <p:nvSpPr>
            <p:cNvPr id="31" name="矩形: 圆角 17"/>
            <p:cNvSpPr/>
            <p:nvPr/>
          </p:nvSpPr>
          <p:spPr>
            <a:xfrm>
              <a:off x="1181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lang="zh-CN" altLang="en-US" sz="2000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(2,1,1)</a:t>
              </a:r>
              <a:endParaRPr lang="zh-CN" altLang="en-US" sz="2000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2" name="矩形: 圆角 18"/>
            <p:cNvSpPr/>
            <p:nvPr/>
          </p:nvSpPr>
          <p:spPr>
            <a:xfrm>
              <a:off x="5471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lang="zh-CN" altLang="en-US" sz="2000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(2,1,2)</a:t>
              </a:r>
              <a:endParaRPr lang="zh-CN" altLang="en-US" sz="2000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43" name="矩形: 圆角 19"/>
            <p:cNvSpPr/>
            <p:nvPr/>
          </p:nvSpPr>
          <p:spPr>
            <a:xfrm>
              <a:off x="9760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lang="zh-CN" altLang="en-US" sz="2000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(2,1,1,1)</a:t>
              </a:r>
              <a:endParaRPr lang="zh-CN" altLang="en-US" sz="2000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4" name="矩形: 圆角 20"/>
            <p:cNvSpPr/>
            <p:nvPr/>
          </p:nvSpPr>
          <p:spPr>
            <a:xfrm>
              <a:off x="14050" y="2236"/>
              <a:ext cx="3969" cy="786"/>
            </a:xfrm>
            <a:prstGeom prst="roundRect">
              <a:avLst>
                <a:gd name="adj" fmla="val 50000"/>
              </a:avLst>
            </a:prstGeom>
            <a:solidFill>
              <a:srgbClr val="25557A"/>
            </a:solidFill>
            <a:ln w="19050" cap="flat" cmpd="sng" algn="ctr">
              <a:solidFill>
                <a:schemeClr val="bg1"/>
              </a:solidFill>
              <a:prstDash val="solid"/>
              <a:miter lim="800000"/>
            </a:ln>
            <a:effectLst>
              <a:outerShdw blurRad="152400" dist="152400" dir="5400000" sx="81000" sy="81000" algn="t" rotWithShape="0">
                <a:schemeClr val="tx2">
                  <a:lumMod val="50000"/>
                  <a:lumOff val="50000"/>
                  <a:alpha val="30000"/>
                </a:schemeClr>
              </a:outerShdw>
            </a:effectLst>
          </p:spPr>
          <p:txBody>
            <a:bodyPr rtlCol="0" anchor="ctr"/>
            <a:p>
              <a:pPr algn="ctr"/>
              <a:r>
                <a:rPr lang="zh-CN" altLang="en-US" sz="2000" b="1" kern="0" dirty="0">
                  <a:solidFill>
                    <a:schemeClr val="bg1"/>
                  </a:solidFill>
                  <a:effectLst/>
                  <a:latin typeface="微软雅黑" panose="020B0503020204020204" charset="-122"/>
                  <a:ea typeface="微软雅黑" panose="020B0503020204020204" charset="-122"/>
                </a:rPr>
                <a:t>(2,1,2,1)</a:t>
              </a:r>
              <a:endParaRPr lang="zh-CN" altLang="en-US" sz="2000" b="1" kern="0" dirty="0">
                <a:solidFill>
                  <a:schemeClr val="bg1"/>
                </a:solidFill>
                <a:effectLst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32" name="图片 31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16" y="8415"/>
              <a:ext cx="1701" cy="952"/>
            </a:xfrm>
            <a:prstGeom prst="rect">
              <a:avLst/>
            </a:prstGeom>
          </p:spPr>
        </p:pic>
        <p:pic>
          <p:nvPicPr>
            <p:cNvPr id="35" name="图片 34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05" y="8415"/>
              <a:ext cx="1701" cy="952"/>
            </a:xfrm>
            <a:prstGeom prst="rect">
              <a:avLst/>
            </a:prstGeom>
          </p:spPr>
        </p:pic>
        <p:pic>
          <p:nvPicPr>
            <p:cNvPr id="37" name="图片 36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94" y="8415"/>
              <a:ext cx="1701" cy="952"/>
            </a:xfrm>
            <a:prstGeom prst="rect">
              <a:avLst/>
            </a:prstGeom>
          </p:spPr>
        </p:pic>
        <p:pic>
          <p:nvPicPr>
            <p:cNvPr id="38" name="图片 37" descr="小招logo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405" y="8415"/>
              <a:ext cx="1701" cy="952"/>
            </a:xfrm>
            <a:prstGeom prst="rect">
              <a:avLst/>
            </a:prstGeom>
          </p:spPr>
        </p:pic>
      </p:grpSp>
    </p:spTree>
    <p:custDataLst>
      <p:tags r:id="rId8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一条命令跑完的自动化测试工程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TEST AUTOMATION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9" name="矩形: 圆角 18"/>
          <p:cNvSpPr/>
          <p:nvPr/>
        </p:nvSpPr>
        <p:spPr>
          <a:xfrm>
            <a:off x="977900" y="1648460"/>
            <a:ext cx="10236200" cy="45834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dirty="0">
              <a:latin typeface="微软雅黑" panose="020B0503020204020204" charset="-122"/>
              <a:ea typeface="微软雅黑" panose="020B0503020204020204" charset="-122"/>
              <a:sym typeface="+mn-lt"/>
            </a:endParaRPr>
          </a:p>
        </p:txBody>
      </p:sp>
      <p:sp>
        <p:nvSpPr>
          <p:cNvPr id="13" name="任意多边形: 形状 21"/>
          <p:cNvSpPr/>
          <p:nvPr/>
        </p:nvSpPr>
        <p:spPr>
          <a:xfrm>
            <a:off x="977900" y="2575560"/>
            <a:ext cx="1675765" cy="2781300"/>
          </a:xfrm>
          <a:custGeom>
            <a:avLst/>
            <a:gdLst>
              <a:gd name="connsiteX0" fmla="*/ 284837 w 1675487"/>
              <a:gd name="connsiteY0" fmla="*/ 0 h 2781300"/>
              <a:gd name="connsiteX1" fmla="*/ 1675487 w 1675487"/>
              <a:gd name="connsiteY1" fmla="*/ 1390650 h 2781300"/>
              <a:gd name="connsiteX2" fmla="*/ 284837 w 1675487"/>
              <a:gd name="connsiteY2" fmla="*/ 2781300 h 2781300"/>
              <a:gd name="connsiteX3" fmla="*/ 4573 w 1675487"/>
              <a:gd name="connsiteY3" fmla="*/ 2753047 h 2781300"/>
              <a:gd name="connsiteX4" fmla="*/ 0 w 1675487"/>
              <a:gd name="connsiteY4" fmla="*/ 2751872 h 2781300"/>
              <a:gd name="connsiteX5" fmla="*/ 0 w 1675487"/>
              <a:gd name="connsiteY5" fmla="*/ 29429 h 2781300"/>
              <a:gd name="connsiteX6" fmla="*/ 4573 w 1675487"/>
              <a:gd name="connsiteY6" fmla="*/ 28253 h 2781300"/>
              <a:gd name="connsiteX7" fmla="*/ 284837 w 1675487"/>
              <a:gd name="connsiteY7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75487" h="2781300">
                <a:moveTo>
                  <a:pt x="284837" y="0"/>
                </a:moveTo>
                <a:cubicBezTo>
                  <a:pt x="1052872" y="0"/>
                  <a:pt x="1675487" y="622615"/>
                  <a:pt x="1675487" y="1390650"/>
                </a:cubicBezTo>
                <a:cubicBezTo>
                  <a:pt x="1675487" y="2158685"/>
                  <a:pt x="1052872" y="2781300"/>
                  <a:pt x="284837" y="2781300"/>
                </a:cubicBezTo>
                <a:cubicBezTo>
                  <a:pt x="188833" y="2781300"/>
                  <a:pt x="95101" y="2771572"/>
                  <a:pt x="4573" y="2753047"/>
                </a:cubicBezTo>
                <a:lnTo>
                  <a:pt x="0" y="2751872"/>
                </a:lnTo>
                <a:lnTo>
                  <a:pt x="0" y="29429"/>
                </a:lnTo>
                <a:lnTo>
                  <a:pt x="4573" y="28253"/>
                </a:lnTo>
                <a:cubicBezTo>
                  <a:pt x="95101" y="9729"/>
                  <a:pt x="188833" y="0"/>
                  <a:pt x="284837" y="0"/>
                </a:cubicBezTo>
                <a:close/>
              </a:path>
            </a:pathLst>
          </a:cu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69035" y="3429000"/>
            <a:ext cx="1071880" cy="1076325"/>
          </a:xfrm>
          <a:prstGeom prst="rect">
            <a:avLst/>
          </a:prstGeom>
        </p:spPr>
        <p:txBody>
          <a:bodyPr wrap="none">
            <a:spAutoFit/>
          </a:bodyPr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自动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32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化</a:t>
            </a:r>
            <a:endParaRPr lang="zh-CN" sz="32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 rot="0">
            <a:off x="2890520" y="2061845"/>
            <a:ext cx="7985125" cy="1217930"/>
            <a:chOff x="3134969" y="2228849"/>
            <a:chExt cx="7984866" cy="1218108"/>
          </a:xfrm>
        </p:grpSpPr>
        <p:sp>
          <p:nvSpPr>
            <p:cNvPr id="18" name="椭圆 1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1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一键运行的测试工程</a:t>
                </a:r>
                <a:endParaRPr lang="zh-CN" altLang="en-US" b="1" dirty="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8 FILES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33 EXECUTIONS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tests/module1_coordinate/ 下 8 个用例文件对应 8 个函数；run_tests.ps1 一键运行 33 条用例（32 清单 + 1 对照），PYTHONPATH 注入被测模块，不改基线一行代码。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 rot="0">
            <a:off x="3521075" y="3430905"/>
            <a:ext cx="7355205" cy="1217930"/>
            <a:chOff x="3134969" y="2228849"/>
            <a:chExt cx="7354946" cy="1218108"/>
          </a:xfrm>
        </p:grpSpPr>
        <p:sp>
          <p:nvSpPr>
            <p:cNvPr id="36" name="椭圆 35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2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3765265" y="2243632"/>
              <a:ext cx="6724650" cy="1203325"/>
              <a:chOff x="7893455" y="4126834"/>
              <a:chExt cx="6724650" cy="1203325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一次运行双产出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JUNIT XML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UTF-8 LOG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7893455" y="4377024"/>
                <a:ext cx="672465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junit_report.py 单次运行同时产出 JUnit XML 与 UTF-8 运行日志；单次执行约 0.02 秒；退出码 0/1/2/3 明确区分全过、有失败、无工程、不可导入四种状态。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 rot="0">
            <a:off x="2890520" y="4800600"/>
            <a:ext cx="7985125" cy="1217930"/>
            <a:chOff x="3134969" y="2228849"/>
            <a:chExt cx="7984866" cy="1218108"/>
          </a:xfrm>
        </p:grpSpPr>
        <p:sp>
          <p:nvSpPr>
            <p:cNvPr id="28" name="椭圆 27"/>
            <p:cNvSpPr/>
            <p:nvPr/>
          </p:nvSpPr>
          <p:spPr>
            <a:xfrm>
              <a:off x="3134969" y="2228849"/>
              <a:ext cx="435661" cy="435661"/>
            </a:xfrm>
            <a:prstGeom prst="ellips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dirty="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rPr>
                <a:t>3</a:t>
              </a:r>
              <a:endParaRPr lang="en-US" altLang="zh-CN" sz="1600" dirty="0">
                <a:latin typeface="微软雅黑" panose="020B0503020204020204" charset="-122"/>
                <a:ea typeface="微软雅黑" panose="020B0503020204020204" charset="-122"/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3765265" y="2243632"/>
              <a:ext cx="7354570" cy="1203325"/>
              <a:chOff x="7893455" y="4126834"/>
              <a:chExt cx="7354570" cy="1203325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893455" y="4126834"/>
                <a:ext cx="2240242" cy="3683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zh-CN" altLang="en-US" b="1" dirty="0">
                    <a:solidFill>
                      <a:srgbClr val="25557A"/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结果逐位一致</a:t>
                </a:r>
                <a:endParaRPr lang="zh-CN" altLang="en-US" dirty="0">
                  <a:solidFill>
                    <a:schemeClr val="accent5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9465708" y="4220231"/>
                <a:ext cx="266572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CPU ONLY</a:t>
                </a:r>
                <a:r>
                  <a:rPr lang="en-US" altLang="zh-CN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 | </a:t>
                </a:r>
                <a:r>
                  <a:rPr lang="zh-CN" altLang="en-US" sz="800" dirty="0">
                    <a:solidFill>
                      <a:schemeClr val="bg1">
                        <a:lumMod val="6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ea"/>
                    <a:sym typeface="+mn-lt"/>
                  </a:rPr>
                  <a:t>DETERMINISTIC</a:t>
                </a:r>
                <a:endParaRPr lang="zh-CN" altLang="en-US" sz="800" dirty="0">
                  <a:solidFill>
                    <a:schemeClr val="bg1">
                      <a:lumMod val="6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7893455" y="4377024"/>
                <a:ext cx="7354570" cy="9531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>
                  <a:lnSpc>
                    <a:spcPct val="200000"/>
                  </a:lnSpc>
                </a:pPr>
                <a:r>
                  <a:rPr lang="zh-CN" alt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测试不依赖模型权重与 GPU；跨运行结果逐位一致，任何人一条命令即可复现全部 33 次执行与 2 个错误的现场。</a:t>
                </a:r>
                <a:endParaRPr lang="zh-CN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12" name="图片 11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6" name="组合 15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直角三角形 19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直角三角形 4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一次真实执行：33 条执行，31 通过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ONE REAL RUN · 93.9% PASS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1092200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693522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33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63853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条自动化用例执行，覆盖全部 8 个函数。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1466630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661424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62745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31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833077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条通过，含 1 条专门设计的绕障对照用例。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4035854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6230648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831970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402301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条失败：M1-GEO-016 与 018，traceback 逐层一致。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6605078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8799871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401193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93.9%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71524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用例通过率 = 31 / 33，退出码 1，与约定一致。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直接连接符 53"/>
          <p:cNvCxnSpPr/>
          <p:nvPr/>
        </p:nvCxnSpPr>
        <p:spPr>
          <a:xfrm>
            <a:off x="9174301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DEF-M1-001：一根被删掉的宽度维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DEFECT LOCATION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51" name="图片 50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16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直角三角形 16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660400" y="1234440"/>
            <a:ext cx="10858500" cy="4899660"/>
            <a:chOff x="1040" y="1944"/>
            <a:chExt cx="17100" cy="7716"/>
          </a:xfrm>
        </p:grpSpPr>
        <p:sp>
          <p:nvSpPr>
            <p:cNvPr id="2" name="矩形 1"/>
            <p:cNvSpPr/>
            <p:nvPr/>
          </p:nvSpPr>
          <p:spPr>
            <a:xfrm>
              <a:off x="1040" y="2274"/>
              <a:ext cx="17100" cy="333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1346" y="2586"/>
              <a:ext cx="11773" cy="2733"/>
              <a:chOff x="1188085" y="4304453"/>
              <a:chExt cx="4283710" cy="1735330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1188085" y="4304453"/>
                <a:ext cx="27308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现象与影响</a:t>
                </a:r>
                <a:endParaRPr lang="zh-CN" altLang="en-US" sz="2400" b="1" dirty="0">
                  <a:solidFill>
                    <a:srgbClr val="25557A"/>
                  </a:solidFill>
                </a:endParaRPr>
              </a:p>
            </p:txBody>
          </p:sp>
          <p:cxnSp>
            <p:nvCxnSpPr>
              <p:cNvPr id="20" name="直接连接符 19"/>
              <p:cNvCxnSpPr/>
              <p:nvPr/>
            </p:nvCxnSpPr>
            <p:spPr>
              <a:xfrm>
                <a:off x="1248911" y="4856923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20"/>
              <p:cNvSpPr txBox="1"/>
              <p:nvPr/>
            </p:nvSpPr>
            <p:spPr>
              <a:xfrm>
                <a:off x="1188085" y="4896457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lang="zh-CN" altLang="en-US" dirty="0"/>
                  <a:t>输入 (2, 1, 1) 三维深度图即抛 ValueError；docstring 声明的全部 (S, H, W) 输入都不可用。</a:t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endParaRPr lang="zh-CN" altLang="en-US" dirty="0"/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>
              <a:off x="1040" y="5994"/>
              <a:ext cx="17100" cy="3666"/>
              <a:chOff x="660400" y="1603756"/>
              <a:chExt cx="10858500" cy="2328164"/>
            </a:xfrm>
          </p:grpSpPr>
          <p:sp>
            <p:nvSpPr>
              <p:cNvPr id="23" name="矩形 22"/>
              <p:cNvSpPr/>
              <p:nvPr/>
            </p:nvSpPr>
            <p:spPr>
              <a:xfrm>
                <a:off x="660400" y="1813560"/>
                <a:ext cx="10858500" cy="211836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32" name="图片 31" descr="C:\Users\14638\Desktop\IMG_2588(20220923-102348).JPGIMG_2588(20220923-102348)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9185" y="1603756"/>
                <a:ext cx="2327910" cy="2328164"/>
              </a:xfrm>
              <a:prstGeom prst="rect">
                <a:avLst/>
              </a:prstGeom>
            </p:spPr>
          </p:pic>
        </p:grpSp>
        <p:grpSp>
          <p:nvGrpSpPr>
            <p:cNvPr id="35" name="组合 34"/>
            <p:cNvGrpSpPr/>
            <p:nvPr/>
          </p:nvGrpSpPr>
          <p:grpSpPr>
            <a:xfrm>
              <a:off x="5870" y="6635"/>
              <a:ext cx="11773" cy="2744"/>
              <a:chOff x="1188085" y="4304453"/>
              <a:chExt cx="4283710" cy="1742315"/>
            </a:xfrm>
          </p:grpSpPr>
          <p:sp>
            <p:nvSpPr>
              <p:cNvPr id="37" name="文本框 36"/>
              <p:cNvSpPr txBox="1"/>
              <p:nvPr/>
            </p:nvSpPr>
            <p:spPr>
              <a:xfrm>
                <a:off x="1188085" y="4304453"/>
                <a:ext cx="2730844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400" b="1" dirty="0">
                    <a:solidFill>
                      <a:srgbClr val="25557A"/>
                    </a:solidFill>
                  </a:rPr>
                  <a:t>根因与处置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8" name="直接连接符 37"/>
              <p:cNvCxnSpPr/>
              <p:nvPr/>
            </p:nvCxnSpPr>
            <p:spPr>
              <a:xfrm>
                <a:off x="1232903" y="4863908"/>
                <a:ext cx="4097913" cy="0"/>
              </a:xfrm>
              <a:prstGeom prst="line">
                <a:avLst/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文本框 38"/>
              <p:cNvSpPr txBox="1"/>
              <p:nvPr/>
            </p:nvSpPr>
            <p:spPr>
              <a:xfrm>
                <a:off x="1188085" y="4903442"/>
                <a:ext cx="4283710" cy="1143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just">
                  <a:lnSpc>
                    <a:spcPct val="130000"/>
                  </a:lnSpc>
                </a:pPr>
                <a:r>
                  <a:rPr lang="zh-CN" altLang="en-US" dirty="0"/>
                  <a:t>根因是第 39 行无条件 squeeze(-1)。已登记并给出修复建议，按约定未改动基线。</a:t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r>
                  <a:rPr lang="en-US" altLang="zh-CN" dirty="0"/>
                  <a:t/>
                </a:r>
                <a:r>
                  <a:rPr lang="zh-CN" altLang="en-US" dirty="0"/>
                  <a:t/>
                </a:r>
                <a:endParaRPr lang="zh-CN" altLang="en-US" dirty="0"/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13940" y="1944"/>
              <a:ext cx="3665" cy="3666"/>
              <a:chOff x="13940" y="1944"/>
              <a:chExt cx="3665" cy="3666"/>
            </a:xfrm>
          </p:grpSpPr>
          <p:pic>
            <p:nvPicPr>
              <p:cNvPr id="40" name="图片 39" descr="C:\Users\14638\Desktop\IMG_2587(20220923-102336).JPGIMG_2587(20220923-102336)"/>
              <p:cNvPicPr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13940" y="1944"/>
                <a:ext cx="3665" cy="3666"/>
              </a:xfrm>
              <a:prstGeom prst="rect">
                <a:avLst/>
              </a:prstGeom>
            </p:spPr>
          </p:pic>
          <p:pic>
            <p:nvPicPr>
              <p:cNvPr id="18" name="图片 17" descr="小招logo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22" y="4366"/>
                <a:ext cx="1701" cy="952"/>
              </a:xfrm>
              <a:prstGeom prst="rect">
                <a:avLst/>
              </a:prstGeom>
            </p:spPr>
          </p:pic>
        </p:grpSp>
        <p:pic>
          <p:nvPicPr>
            <p:cNvPr id="24" name="图片 23" descr="小招logo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1" y="8427"/>
              <a:ext cx="1701" cy="952"/>
            </a:xfrm>
            <a:prstGeom prst="rect">
              <a:avLst/>
            </a:prstGeom>
          </p:spPr>
        </p:pic>
      </p:grpSp>
    </p:spTree>
    <p:custDataLst>
      <p:tags r:id="rId5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10289667" y="-801077"/>
            <a:ext cx="1902333" cy="2044520"/>
            <a:chOff x="8135783" y="-1669981"/>
            <a:chExt cx="4056217" cy="4359393"/>
          </a:xfrm>
        </p:grpSpPr>
        <p:sp>
          <p:nvSpPr>
            <p:cNvPr id="7" name="任意多边形: 形状 10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直角三角形 4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351155" y="325120"/>
            <a:ext cx="4559300" cy="1015365"/>
            <a:chOff x="1572" y="494"/>
            <a:chExt cx="7180" cy="1599"/>
          </a:xfrm>
        </p:grpSpPr>
        <p:grpSp>
          <p:nvGrpSpPr>
            <p:cNvPr id="8" name="组合 7"/>
            <p:cNvGrpSpPr/>
            <p:nvPr/>
          </p:nvGrpSpPr>
          <p:grpSpPr>
            <a:xfrm>
              <a:off x="1572" y="494"/>
              <a:ext cx="2047" cy="1599"/>
              <a:chOff x="2761095" y="2248418"/>
              <a:chExt cx="1948563" cy="1522661"/>
            </a:xfrm>
          </p:grpSpPr>
          <p:sp>
            <p:nvSpPr>
              <p:cNvPr id="9" name="矩形: 圆角 24"/>
              <p:cNvSpPr/>
              <p:nvPr/>
            </p:nvSpPr>
            <p:spPr>
              <a:xfrm rot="2244181">
                <a:off x="2903192" y="2466308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26" name="矩形: 圆角 25"/>
              <p:cNvSpPr/>
              <p:nvPr/>
            </p:nvSpPr>
            <p:spPr>
              <a:xfrm rot="2244181">
                <a:off x="2761095" y="2996622"/>
                <a:ext cx="1156758" cy="366949"/>
              </a:xfrm>
              <a:prstGeom prst="roundRect">
                <a:avLst>
                  <a:gd name="adj" fmla="val 33648"/>
                </a:avLst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p>
                <a:pPr algn="ctr"/>
                <a:endParaRPr lang="zh-CN" altLang="en-US" sz="1100">
                  <a:latin typeface="微软雅黑" panose="020B0503020204020204" charset="-122"/>
                  <a:ea typeface="微软雅黑" panose="020B0503020204020204" charset="-122"/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2910670" y="2248418"/>
                <a:ext cx="1798988" cy="1522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60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微软雅黑" panose="020B0503020204020204" charset="-122"/>
                    <a:ea typeface="微软雅黑" panose="020B0503020204020204" charset="-122"/>
                  </a:rPr>
                  <a:t>P</a:t>
                </a:r>
                <a:endParaRPr lang="en-US" altLang="zh-CN" sz="6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3078" y="751"/>
              <a:ext cx="3788" cy="919"/>
            </a:xfrm>
            <a:prstGeom prst="rect">
              <a:avLst/>
            </a:prstGeom>
          </p:spPr>
          <p:txBody>
            <a:bodyPr wrap="none">
              <a:spAutoFit/>
            </a:bodyPr>
            <a:p>
              <a:r>
                <a:rPr lang="zh-CN" altLang="en-US" sz="3200" b="1" spc="300" dirty="0">
                  <a:latin typeface="微软雅黑" panose="020B0503020204020204" charset="-122"/>
                  <a:ea typeface="微软雅黑" panose="020B0503020204020204" charset="-122"/>
                </a:rPr>
                <a:t>四条结论，每条都有数据支撑</a:t>
              </a:r>
              <a:endParaRPr lang="zh-CN" altLang="en-US" sz="3200" b="1" spc="300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3107" y="1365"/>
              <a:ext cx="5645" cy="5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p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en-US" altLang="zh-CN" sz="900" spc="300" dirty="0">
                  <a:solidFill>
                    <a:schemeClr val="bg1">
                      <a:lumMod val="50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</a:rPr>
                <a:t>CONCLUSIONS</a:t>
              </a:r>
              <a:endParaRPr lang="en-US" altLang="zh-CN" sz="900" spc="300" dirty="0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1092200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693522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质量结论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63853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31/33 通过，唯一失败同源于一个缺陷；被测模块质量整体可信。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1466630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661424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62745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缺陷处置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833077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DEF-M1-001 已登记并给出修复建议；按约定未改动被测基线。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4035854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6230648" y="1900980"/>
            <a:ext cx="2299929" cy="3559277"/>
          </a:xfrm>
          <a:prstGeom prst="rect">
            <a:avLst/>
          </a:prstGeom>
          <a:solidFill>
            <a:srgbClr val="2555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831970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方法结论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402301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等价类 + 边界值满足 ≥2 种要求，五类标注 32 条全部对得上账。</a:t>
            </a:r>
            <a:endParaRPr lang="zh-CN" altLang="en-US" sz="16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6605078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chemeClr val="bg1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8799871" y="1900980"/>
            <a:ext cx="2299929" cy="35592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401193" y="2200283"/>
            <a:ext cx="10972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zh-CN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工程结论</a:t>
            </a:r>
            <a:endParaRPr lang="zh-CN" altLang="en-US" sz="2400" b="1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71524" y="2961251"/>
            <a:ext cx="1956619" cy="22678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50000"/>
              </a:lnSpc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一条命令复现、逐位一致，可长期作为该模块的回归基线。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直接连接符 53"/>
          <p:cNvCxnSpPr/>
          <p:nvPr/>
        </p:nvCxnSpPr>
        <p:spPr>
          <a:xfrm>
            <a:off x="9174301" y="2811599"/>
            <a:ext cx="1551069" cy="0"/>
          </a:xfrm>
          <a:prstGeom prst="line">
            <a:avLst/>
          </a:prstGeom>
          <a:ln w="19050">
            <a:gradFill flip="none" rotWithShape="1">
              <a:gsLst>
                <a:gs pos="0">
                  <a:srgbClr val="32416B">
                    <a:alpha val="0"/>
                  </a:srgbClr>
                </a:gs>
                <a:gs pos="50000">
                  <a:srgbClr val="32416B"/>
                </a:gs>
                <a:gs pos="100000">
                  <a:srgbClr val="32416B">
                    <a:alpha val="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图书馆"/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8452485" y="5777865"/>
            <a:ext cx="3739585" cy="1080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1037"/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9106535" y="5777865"/>
            <a:ext cx="3085714" cy="108000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2151380" y="2035175"/>
            <a:ext cx="7889240" cy="2787650"/>
            <a:chOff x="4143" y="4637"/>
            <a:chExt cx="12424" cy="4390"/>
          </a:xfrm>
        </p:grpSpPr>
        <p:sp>
          <p:nvSpPr>
            <p:cNvPr id="27" name="文本框 1"/>
            <p:cNvSpPr txBox="1"/>
            <p:nvPr/>
          </p:nvSpPr>
          <p:spPr>
            <a:xfrm>
              <a:off x="4143" y="4637"/>
              <a:ext cx="12424" cy="1598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spAutoFit/>
            </a:bodyPr>
            <a:p>
              <a:pPr algn="ctr" rtl="0" eaLnBrk="1" fontAlgn="auto" latinLnBrk="0" hangingPunct="1"/>
              <a:r>
                <a:rPr lang="zh-CN" sz="6000" b="1" kern="100">
                  <a:solidFill>
                    <a:srgbClr val="2555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谢谢观看</a:t>
              </a:r>
              <a:endParaRPr lang="zh-CN" sz="6000" b="1" kern="100">
                <a:solidFill>
                  <a:srgbClr val="2555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8" name="文本框 1"/>
            <p:cNvSpPr txBox="1"/>
            <p:nvPr/>
          </p:nvSpPr>
          <p:spPr>
            <a:xfrm>
              <a:off x="7636" y="8530"/>
              <a:ext cx="5913" cy="497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l" rtl="0" eaLnBrk="1" fontAlgn="auto" latinLnBrk="0" hangingPunct="1">
                <a:lnSpc>
                  <a:spcPts val="1800"/>
                </a:lnSpc>
              </a:pP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汇报人丨黄国宸 曹钧杰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 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时间丨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2026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.</a:t>
              </a:r>
              <a:r>
                <a:rPr lang="en-US" altLang="zh-CN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9</a:t>
              </a:r>
              <a:r>
                <a:rPr lang="zh-CN" altLang="en-US" sz="1600" kern="10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/>
              </a:r>
              <a:endParaRPr lang="zh-CN" altLang="en-US" sz="1600" kern="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  <p:sp>
          <p:nvSpPr>
            <p:cNvPr id="29" name="文本框 32"/>
            <p:cNvSpPr txBox="1"/>
            <p:nvPr/>
          </p:nvSpPr>
          <p:spPr>
            <a:xfrm>
              <a:off x="5781" y="6564"/>
              <a:ext cx="9129" cy="564"/>
            </a:xfrm>
            <a:prstGeom prst="rect">
              <a:avLst/>
            </a:prstGeom>
            <a:noFill/>
            <a:ln w="6350"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p>
              <a:pPr algn="ctr" rtl="0" eaLnBrk="1" fontAlgn="auto" latinLnBrk="0" hangingPunct="1">
                <a:lnSpc>
                  <a:spcPts val="2000"/>
                </a:lnSpc>
              </a:pP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脱离权重单测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用例自动转绿</a:t>
              </a:r>
              <a:r>
                <a:rPr lang="en-US" altLang="zh-CN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 | </a:t>
              </a:r>
              <a:r>
                <a:rPr lang="zh-CN" altLang="en-US" sz="2000" b="1" kern="1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Times New Roman" panose="02020603050405020304"/>
                </a:rPr>
                <a:t>一条命令复现</a:t>
              </a:r>
              <a:endParaRPr lang="en-US" altLang="zh-CN" sz="2000" b="1" kern="10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Times New Roman" panose="02020603050405020304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7454900" y="-1959610"/>
            <a:ext cx="4737100" cy="5091430"/>
            <a:chOff x="11740" y="-3086"/>
            <a:chExt cx="7460" cy="8018"/>
          </a:xfrm>
        </p:grpSpPr>
        <p:grpSp>
          <p:nvGrpSpPr>
            <p:cNvPr id="3" name="组合 2"/>
            <p:cNvGrpSpPr/>
            <p:nvPr/>
          </p:nvGrpSpPr>
          <p:grpSpPr>
            <a:xfrm>
              <a:off x="11740" y="-3086"/>
              <a:ext cx="7460" cy="8018"/>
              <a:chOff x="8135783" y="-1669981"/>
              <a:chExt cx="4056217" cy="4359393"/>
            </a:xfrm>
          </p:grpSpPr>
          <p:sp>
            <p:nvSpPr>
              <p:cNvPr id="7" name="任意多边形: 形状 12"/>
              <p:cNvSpPr/>
              <p:nvPr/>
            </p:nvSpPr>
            <p:spPr>
              <a:xfrm rot="18900000">
                <a:off x="8135783" y="-1669981"/>
                <a:ext cx="3339963" cy="3339962"/>
              </a:xfrm>
              <a:custGeom>
                <a:avLst/>
                <a:gdLst>
                  <a:gd name="connsiteX0" fmla="*/ 0 w 3339963"/>
                  <a:gd name="connsiteY0" fmla="*/ 0 h 3339962"/>
                  <a:gd name="connsiteX1" fmla="*/ 3339963 w 3339963"/>
                  <a:gd name="connsiteY1" fmla="*/ 3339962 h 3339962"/>
                  <a:gd name="connsiteX2" fmla="*/ 1099563 w 3339963"/>
                  <a:gd name="connsiteY2" fmla="*/ 3339962 h 333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339963" h="3339962">
                    <a:moveTo>
                      <a:pt x="0" y="0"/>
                    </a:moveTo>
                    <a:lnTo>
                      <a:pt x="3339963" y="3339962"/>
                    </a:lnTo>
                    <a:lnTo>
                      <a:pt x="1099563" y="3339962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直角三角形 7"/>
              <p:cNvSpPr/>
              <p:nvPr/>
            </p:nvSpPr>
            <p:spPr>
              <a:xfrm rot="10800000">
                <a:off x="9502588" y="0"/>
                <a:ext cx="2689412" cy="2689412"/>
              </a:xfrm>
              <a:prstGeom prst="rtTriangle">
                <a:avLst/>
              </a:prstGeom>
              <a:solidFill>
                <a:srgbClr val="2555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pic>
          <p:nvPicPr>
            <p:cNvPr id="12" name="图片 11" descr="校徽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99" y="293"/>
              <a:ext cx="2240" cy="1701"/>
            </a:xfrm>
            <a:prstGeom prst="rect">
              <a:avLst/>
            </a:prstGeom>
          </p:spPr>
        </p:pic>
      </p:grpSp>
      <p:grpSp>
        <p:nvGrpSpPr>
          <p:cNvPr id="13" name="组合 12"/>
          <p:cNvGrpSpPr/>
          <p:nvPr/>
        </p:nvGrpSpPr>
        <p:grpSpPr>
          <a:xfrm rot="10800000">
            <a:off x="-28575" y="3766688"/>
            <a:ext cx="4737100" cy="5091168"/>
            <a:chOff x="8135783" y="-1669981"/>
            <a:chExt cx="4056217" cy="4359393"/>
          </a:xfrm>
        </p:grpSpPr>
        <p:sp>
          <p:nvSpPr>
            <p:cNvPr id="14" name="任意多边形: 形状 64"/>
            <p:cNvSpPr/>
            <p:nvPr/>
          </p:nvSpPr>
          <p:spPr>
            <a:xfrm rot="18900000">
              <a:off x="8135783" y="-1669981"/>
              <a:ext cx="3339963" cy="3339962"/>
            </a:xfrm>
            <a:custGeom>
              <a:avLst/>
              <a:gdLst>
                <a:gd name="connsiteX0" fmla="*/ 0 w 3339963"/>
                <a:gd name="connsiteY0" fmla="*/ 0 h 3339962"/>
                <a:gd name="connsiteX1" fmla="*/ 3339963 w 3339963"/>
                <a:gd name="connsiteY1" fmla="*/ 3339962 h 3339962"/>
                <a:gd name="connsiteX2" fmla="*/ 1099563 w 3339963"/>
                <a:gd name="connsiteY2" fmla="*/ 3339962 h 333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9963" h="3339962">
                  <a:moveTo>
                    <a:pt x="0" y="0"/>
                  </a:moveTo>
                  <a:lnTo>
                    <a:pt x="3339963" y="3339962"/>
                  </a:lnTo>
                  <a:lnTo>
                    <a:pt x="1099563" y="3339962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直角三角形 15"/>
            <p:cNvSpPr/>
            <p:nvPr/>
          </p:nvSpPr>
          <p:spPr>
            <a:xfrm rot="10800000">
              <a:off x="9502588" y="0"/>
              <a:ext cx="2689412" cy="2689412"/>
            </a:xfrm>
            <a:prstGeom prst="rtTriangle">
              <a:avLst/>
            </a:prstGeom>
            <a:solidFill>
              <a:srgbClr val="2555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UNIT_PLACING_PICTURE_USER_VIEWPORT" val="{&quot;height&quot;:10800,&quot;width&quot;:8100}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UNIT_PLACING_PICTURE_USER_VIEWPORT" val="{&quot;height&quot;:2835,&quot;width&quot;:3969}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COMMONDATA" val="eyJoZGlkIjoiOWFjYWIyZjUwMTdmODQ5MGQwMGU3YWZkZjQxMjAxY2MifQ=="/>
</p:tagLst>
</file>

<file path=ppt/tags/tag8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1943</Words>
  <Application>WPS 演示</Application>
  <PresentationFormat>宽屏</PresentationFormat>
  <Paragraphs>274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Wingdings</vt:lpstr>
      <vt:lpstr>微软雅黑</vt:lpstr>
      <vt:lpstr>Times New Roman</vt:lpstr>
      <vt:lpstr>思源黑体 CN Regular</vt:lpstr>
      <vt:lpstr>思源黑体 CN Bold</vt:lpstr>
      <vt:lpstr>黑体</vt:lpstr>
      <vt:lpstr>Lato Regular</vt:lpstr>
      <vt:lpstr>Segoe Print</vt:lpstr>
      <vt:lpstr>Lato Light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黄小豆</cp:lastModifiedBy>
  <cp:revision>158</cp:revision>
  <dcterms:created xsi:type="dcterms:W3CDTF">2019-06-19T02:08:00Z</dcterms:created>
  <dcterms:modified xsi:type="dcterms:W3CDTF">2022-10-05T09:25:04Z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2052-11.1.0.12358</vt:lpwstr>
  </property>
  <property fmtid="{D5CDD505-2E9C-101B-9397-08002B2CF9AE}" pid="3" name="ICV">
    <vt:lpwstr>0FA7266D02E942AAAA912ABFFAAB6B71</vt:lpwstr>
  </property>
</Properties>
</file>