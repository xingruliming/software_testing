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作业要求：D:/华科研一/软件测试实践作业/实践作业要求v2026.pdf</a:t>
            </a:r>
          </a:p>
          <a:p>
            <a:r>
              <a:t>模块二测试报告：deliverables/module2/5VGGT模块二测试报告.docx</a:t>
            </a:r>
          </a:p>
          <a:p>
            <a:r>
              <a:t>测试用例清单：deliverables/module2/1VGGT模块二测试用例清单.xlsx</a:t>
            </a:r>
          </a:p>
          <a:p>
            <a:r>
              <a:t>仓库：https://github.com/xingruliming/Software_testing/tree/main/deliverables/module2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1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5.png"/><Relationship Id="rId15" Type="http://schemas.openxmlformats.org/officeDocument/2006/relationships/image" Target="../media/image4.jpeg"/><Relationship Id="rId14" Type="http://schemas.openxmlformats.org/officeDocument/2006/relationships/image" Target="../media/image2.png"/><Relationship Id="rId13" Type="http://schemas.openxmlformats.org/officeDocument/2006/relationships/image" Target="../media/image3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.png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.png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0" name="图片 8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9106535" y="5777865"/>
            <a:ext cx="3085714" cy="1080000"/>
          </a:xfrm>
          <a:prstGeom prst="rect">
            <a:avLst/>
          </a:prstGeom>
        </p:spPr>
      </p:pic>
      <p:sp>
        <p:nvSpPr>
          <p:cNvPr id="27" name="文本框 1"/>
          <p:cNvSpPr>
            <a:spLocks noGrp="1"/>
          </p:cNvSpPr>
          <p:nvPr/>
        </p:nvSpPr>
        <p:spPr>
          <a:xfrm>
            <a:off x="2151380" y="2035175"/>
            <a:ext cx="7889240" cy="101473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VGGT模块二测试汇报</a:t>
            </a:r>
            <a:endParaRPr sz="6000" b="1" kern="100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1"/>
          <p:cNvSpPr>
            <a:spLocks noGrp="1"/>
          </p:cNvSpPr>
          <p:nvPr/>
        </p:nvSpPr>
        <p:spPr>
          <a:xfrm>
            <a:off x="4369435" y="4507230"/>
            <a:ext cx="3754755" cy="31559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algn="l">
              <a:lnSpc>
                <a:spcPts val="18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汇报人丨黄国宸 曹钧杰  时间丨2026.9</a:t>
            </a:r>
            <a:endParaRPr sz="1600" kern="1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32"/>
          <p:cNvSpPr>
            <a:spLocks noGrp="1"/>
          </p:cNvSpPr>
          <p:nvPr/>
        </p:nvSpPr>
        <p:spPr>
          <a:xfrm>
            <a:off x="3191510" y="3258820"/>
            <a:ext cx="5796915" cy="35814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algn="ctr">
              <a:lnSpc>
                <a:spcPts val="2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条 AI 用例 · 13 通过 · 5 个有效缺陷</a:t>
            </a:r>
            <a:endParaRPr sz="2000" b="1" kern="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12"/>
          <p:cNvSpPr>
            <a:spLocks noGrp="1"/>
          </p:cNvSpPr>
          <p:nvPr/>
        </p:nvSpPr>
        <p:spPr>
          <a:xfrm rot="18900000">
            <a:off x="7455498" y="-1959932"/>
            <a:ext cx="3900614" cy="3900814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直角三角形 16"/>
          <p:cNvSpPr>
            <a:spLocks noGrp="1"/>
          </p:cNvSpPr>
          <p:nvPr/>
        </p:nvSpPr>
        <p:spPr>
          <a:xfrm rot="10800000">
            <a:off x="9051737" y="-9525"/>
            <a:ext cx="3140860" cy="314102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6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4679950" cy="3831590"/>
          </a:xfrm>
          <a:prstGeom prst="rect">
            <a:avLst/>
          </a:prstGeom>
          <a:gradFill>
            <a:gsLst>
              <a:gs pos="52000">
                <a:srgbClr val="25557A"/>
              </a:gs>
              <a:gs pos="100000">
                <a:srgbClr val="2D84B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0870" y="535305"/>
            <a:ext cx="3458210" cy="187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8000"/>
          </a:p>
          <a:p>
            <a:pPr algn="ctr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3200"/>
          </a:p>
        </p:txBody>
      </p:sp>
      <p:sp>
        <p:nvSpPr>
          <p:cNvPr id="34" name="椭圆 3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471795" y="1267460"/>
            <a:ext cx="844235" cy="8442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3200" b="1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736080" y="1403985"/>
            <a:ext cx="320230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被测对象与方案</a:t>
            </a:r>
            <a:endParaRPr sz="2800" spc="300">
              <a:latin typeface="+mn-ea"/>
              <a:ea typeface="+mn-ea"/>
              <a:cs typeface="+mn-ea"/>
            </a:endParaRPr>
          </a:p>
        </p:txBody>
      </p:sp>
      <p:sp>
        <p:nvSpPr>
          <p:cNvPr id="36" name="直接连接符 3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556949" y="1492092"/>
            <a:ext cx="0" cy="411259"/>
          </a:xfrm>
          <a:prstGeom prst="line">
            <a:avLst/>
          </a:prstGeom>
          <a:ln w="31750">
            <a:solidFill>
              <a:srgbClr val="255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椭圆 3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471795" y="2526347"/>
            <a:ext cx="844235" cy="8442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3200" b="1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734754" y="2671577"/>
            <a:ext cx="297653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测试策略</a:t>
            </a:r>
            <a:endParaRPr sz="2800" spc="300">
              <a:latin typeface="+mn-ea"/>
              <a:ea typeface="+mn-ea"/>
              <a:cs typeface="+mn-ea"/>
            </a:endParaRPr>
          </a:p>
        </p:txBody>
      </p:sp>
      <p:sp>
        <p:nvSpPr>
          <p:cNvPr id="41" name="直接连接符 4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556949" y="2750978"/>
            <a:ext cx="0" cy="411259"/>
          </a:xfrm>
          <a:prstGeom prst="line">
            <a:avLst/>
          </a:prstGeom>
          <a:ln w="31750">
            <a:solidFill>
              <a:srgbClr val="255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椭圆 4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471795" y="3785234"/>
            <a:ext cx="844235" cy="8442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3200" b="1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734754" y="3920963"/>
            <a:ext cx="256188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自动化实施</a:t>
            </a:r>
            <a:endParaRPr sz="2800" spc="300">
              <a:latin typeface="+mn-ea"/>
              <a:ea typeface="+mn-ea"/>
              <a:cs typeface="+mn-ea"/>
            </a:endParaRPr>
          </a:p>
        </p:txBody>
      </p:sp>
      <p:sp>
        <p:nvSpPr>
          <p:cNvPr id="45" name="直接连接符 4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556949" y="4009865"/>
            <a:ext cx="0" cy="411259"/>
          </a:xfrm>
          <a:prstGeom prst="line">
            <a:avLst/>
          </a:prstGeom>
          <a:ln w="31750">
            <a:solidFill>
              <a:srgbClr val="255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椭圆 4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473152" y="5044120"/>
            <a:ext cx="844235" cy="8442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3200" b="1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735432" y="5187315"/>
            <a:ext cx="34862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结果与 AI 反思</a:t>
            </a:r>
            <a:endParaRPr sz="2800" spc="300">
              <a:latin typeface="+mn-ea"/>
              <a:ea typeface="+mn-ea"/>
              <a:cs typeface="+mn-ea"/>
            </a:endParaRPr>
          </a:p>
        </p:txBody>
      </p:sp>
      <p:sp>
        <p:nvSpPr>
          <p:cNvPr id="49" name="直接连接符 4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558306" y="5268752"/>
            <a:ext cx="0" cy="411259"/>
          </a:xfrm>
          <a:prstGeom prst="line">
            <a:avLst/>
          </a:prstGeom>
          <a:ln w="31750">
            <a:solidFill>
              <a:srgbClr val="255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8" name="图片 25"/>
          <p:cNvPicPr>
            <a:picLocks noChangeAspect="1"/>
          </p:cNvPicPr>
          <p:nvPr/>
        </p:nvPicPr>
        <p:blipFill>
          <a:blip r:embed="rId13">
            <a:alphaModFix amt="25000"/>
          </a:blip>
          <a:stretch>
            <a:fillRect/>
          </a:stretch>
        </p:blipFill>
        <p:spPr>
          <a:xfrm>
            <a:off x="9255760" y="5777865"/>
            <a:ext cx="2905830" cy="1080000"/>
          </a:xfrm>
          <a:prstGeom prst="rect">
            <a:avLst/>
          </a:prstGeom>
        </p:spPr>
      </p:pic>
      <p:sp>
        <p:nvSpPr>
          <p:cNvPr id="7" name="任意多边形: 形状 12"/>
          <p:cNvSpPr>
            <a:spLocks noGrp="1"/>
          </p:cNvSpPr>
          <p:nvPr/>
        </p:nvSpPr>
        <p:spPr>
          <a:xfrm rot="18900000">
            <a:off x="7455498" y="-1959932"/>
            <a:ext cx="3900614" cy="3900814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直角三角形 16"/>
          <p:cNvSpPr>
            <a:spLocks noGrp="1"/>
          </p:cNvSpPr>
          <p:nvPr/>
        </p:nvSpPr>
        <p:spPr>
          <a:xfrm rot="10800000">
            <a:off x="9051737" y="-9525"/>
            <a:ext cx="3140860" cy="314102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1" name="图片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pic>
        <p:nvPicPr>
          <p:cNvPr id="72" name="图片 1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3738245"/>
            <a:ext cx="4679950" cy="3119755"/>
          </a:xfrm>
          <a:prstGeom prst="rect">
            <a:avLst/>
          </a:prstGeom>
        </p:spPr>
      </p:pic>
      <p:pic>
        <p:nvPicPr>
          <p:cNvPr id="73" name="图片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99590" y="6015990"/>
            <a:ext cx="1080135" cy="604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任意多边形: 形状 52"/>
          <p:cNvSpPr>
            <a:spLocks noGrp="1"/>
          </p:cNvSpPr>
          <p:nvPr/>
        </p:nvSpPr>
        <p:spPr>
          <a:xfrm flipH="1">
            <a:off x="4337050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/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rgbClr val="25557A"/>
              </a:gs>
              <a:gs pos="32000">
                <a:srgbClr val="2483D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5" name="图片 16"/>
          <p:cNvPicPr>
            <a:picLocks noChangeAspect="1"/>
          </p:cNvPicPr>
          <p:nvPr/>
        </p:nvPicPr>
        <p:blipFill>
          <a:blip r:embed="rId1">
            <a:clrChange>
              <a:clrFrom>
                <a:srgbClr val="006DBF">
                  <a:alpha val="100000"/>
                </a:srgbClr>
              </a:clrFrom>
              <a:clrTo>
                <a:srgbClr val="006DB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7518400" y="1505585"/>
            <a:ext cx="4673600" cy="5352415"/>
          </a:xfrm>
          <a:prstGeom prst="rect">
            <a:avLst/>
          </a:prstGeom>
        </p:spPr>
      </p:pic>
      <p:sp>
        <p:nvSpPr>
          <p:cNvPr id="21" name="任意多边形: 形状 52"/>
          <p:cNvSpPr>
            <a:spLocks noGrp="1"/>
          </p:cNvSpPr>
          <p:nvPr/>
        </p:nvSpPr>
        <p:spPr>
          <a:xfrm flipV="1">
            <a:off x="4896485" y="635"/>
            <a:ext cx="407416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/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7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sp>
        <p:nvSpPr>
          <p:cNvPr id="2" name="矩形: 圆角 1"/>
          <p:cNvSpPr>
            <a:spLocks noGrp="1"/>
          </p:cNvSpPr>
          <p:nvPr/>
        </p:nvSpPr>
        <p:spPr>
          <a:xfrm rot="2244181">
            <a:off x="2123318" y="2075783"/>
            <a:ext cx="1156720" cy="366949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: 圆角 65"/>
          <p:cNvSpPr>
            <a:spLocks noGrp="1"/>
          </p:cNvSpPr>
          <p:nvPr/>
        </p:nvSpPr>
        <p:spPr>
          <a:xfrm rot="2244181">
            <a:off x="1981226" y="2606097"/>
            <a:ext cx="1156720" cy="366949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240966" y="1901644"/>
            <a:ext cx="179893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8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3336290" y="1901190"/>
            <a:ext cx="1436370" cy="1322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8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339090" y="3521710"/>
            <a:ext cx="793305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被测对象与 AI 方案</a:t>
            </a:r>
            <a:endParaRPr sz="66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文本框 69"/>
          <p:cNvSpPr>
            <a:spLocks noGrp="1"/>
          </p:cNvSpPr>
          <p:nvPr/>
        </p:nvSpPr>
        <p:spPr>
          <a:xfrm>
            <a:off x="2159000" y="4429125"/>
            <a:ext cx="61137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6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6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OBJECT &amp; AI SCOPE</a:t>
            </a:r>
            <a:endParaRPr sz="900" spc="6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6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65" y="488315"/>
            <a:ext cx="24053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被测对象：VGGT 的 AI 输出层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OBJECT &amp; AI SCOPE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: 形状 21"/>
          <p:cNvSpPr>
            <a:spLocks noGrp="1"/>
          </p:cNvSpPr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/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被测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890520" y="2061845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520838" y="2076626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前馈三维重建模型</a:t>
            </a:r>
            <a:endParaRPr b="1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520838" y="2326780"/>
            <a:ext cx="7354808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输入多视角图像，单次前馈输出深度、相机参数、世界点云和跟踪特征；模型规模约 10 亿参数。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521075" y="3430905"/>
            <a:ext cx="435676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151393" y="3445686"/>
            <a:ext cx="2240320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输出层测试入口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151393" y="3695840"/>
            <a:ext cx="6724886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覆盖深度、置信度、两类世界点云、相机参数，以及批量推理入口的输入校验。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890520" y="4800600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520838" y="4815381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方案一：测AI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520838" y="5065535"/>
            <a:ext cx="7354808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模块一验证确定性几何函数；模块二测试 AI 输出质量、跨场景鲁棒性和异常输入安全。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片 11"/>
          <p:cNvPicPr>
            <a:picLocks noChangeAspect="1"/>
          </p:cNvPicPr>
          <p:nvPr/>
        </p:nvPicPr>
        <p:blipFill>
          <a:blip r:embed="rId10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17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直角三角形 19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65" y="488315"/>
            <a:ext cx="90728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 AI 与传统模块测试的断言不同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OUTPUTS VS DETERMINISTIC CODE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0" name="图片 50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16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直角三角形 16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0400" y="1443990"/>
            <a:ext cx="10858500" cy="211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854859" y="1642208"/>
            <a:ext cx="4765820" cy="461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传统模块：存在明确数学预期</a:t>
            </a:r>
            <a:endParaRPr sz="2400" b="1">
              <a:solidFill>
                <a:srgbClr val="25557A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961012" y="2194717"/>
            <a:ext cx="7151605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文本框 20"/>
          <p:cNvSpPr>
            <a:spLocks noGrp="1"/>
          </p:cNvSpPr>
          <p:nvPr/>
        </p:nvSpPr>
        <p:spPr>
          <a:xfrm>
            <a:off x="854859" y="2234254"/>
            <a:ext cx="7475855" cy="1143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模块一可以使用等值、边界和异常断言，单个输出能够直接判定对错。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0400" y="4016177"/>
            <a:ext cx="10858500" cy="2118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58" name="图片 31"/>
          <p:cNvPicPr>
            <a:picLocks noChangeAspect="1"/>
          </p:cNvPicPr>
          <p:nvPr/>
        </p:nvPicPr>
        <p:blipFill rotWithShape="1">
          <a:blip r:embed="rId2"/>
          <a:srcRect l="16624" r="16624"/>
          <a:stretch>
            <a:fillRect/>
          </a:stretch>
        </p:blipFill>
        <p:spPr>
          <a:xfrm>
            <a:off x="989185" y="3806396"/>
            <a:ext cx="2327910" cy="2327910"/>
          </a:xfrm>
          <a:prstGeom prst="rect">
            <a:avLst/>
          </a:prstGeom>
        </p:spPr>
      </p:pic>
      <p:sp>
        <p:nvSpPr>
          <p:cNvPr id="37" name="文本框 36"/>
          <p:cNvSpPr>
            <a:spLocks noGrp="1"/>
          </p:cNvSpPr>
          <p:nvPr/>
        </p:nvSpPr>
        <p:spPr>
          <a:xfrm>
            <a:off x="3727599" y="4213321"/>
            <a:ext cx="4765820" cy="460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AI输出：条件化质量结论</a:t>
            </a:r>
            <a:endParaRPr sz="2400" b="1">
              <a:solidFill>
                <a:schemeClr val="accent1"/>
              </a:solidFill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3805815" y="4772816"/>
            <a:ext cx="7151605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文本框 38"/>
          <p:cNvSpPr>
            <a:spLocks noGrp="1"/>
          </p:cNvSpPr>
          <p:nvPr/>
        </p:nvSpPr>
        <p:spPr>
          <a:xfrm>
            <a:off x="3727599" y="4812353"/>
            <a:ext cx="7475855" cy="1143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没有唯一真值，失败常表现为静默退化。断言必须使用区间、趋势和多分支一致性，并声明场景与阈值。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" name="图片 39"/>
          <p:cNvPicPr>
            <a:picLocks noChangeAspect="1"/>
          </p:cNvPicPr>
          <p:nvPr/>
        </p:nvPicPr>
        <p:blipFill rotWithShape="1">
          <a:blip r:embed="rId3"/>
          <a:srcRect l="16633" r="16633"/>
          <a:stretch>
            <a:fillRect/>
          </a:stretch>
        </p:blipFill>
        <p:spPr>
          <a:xfrm>
            <a:off x="8851900" y="1234440"/>
            <a:ext cx="2327275" cy="2327910"/>
          </a:xfrm>
          <a:prstGeom prst="rect">
            <a:avLst/>
          </a:prstGeom>
        </p:spPr>
      </p:pic>
      <p:pic>
        <p:nvPicPr>
          <p:cNvPr id="63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470" y="2772410"/>
            <a:ext cx="1080135" cy="604520"/>
          </a:xfrm>
          <a:prstGeom prst="rect">
            <a:avLst/>
          </a:prstGeom>
        </p:spPr>
      </p:pic>
      <p:pic>
        <p:nvPicPr>
          <p:cNvPr id="6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535" y="5351145"/>
            <a:ext cx="1080135" cy="604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任意多边形: 形状 52"/>
          <p:cNvSpPr>
            <a:spLocks noGrp="1"/>
          </p:cNvSpPr>
          <p:nvPr/>
        </p:nvSpPr>
        <p:spPr>
          <a:xfrm flipH="1">
            <a:off x="4335145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/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26000">
                <a:srgbClr val="D9E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0" name="图片 3"/>
          <p:cNvPicPr>
            <a:picLocks noChangeAspect="1"/>
          </p:cNvPicPr>
          <p:nvPr/>
        </p:nvPicPr>
        <p:blipFill>
          <a:blip r:embed="rId1"/>
          <a:srcRect l="22403" t="1475" r="22481" b="58056"/>
          <a:stretch>
            <a:fillRect/>
          </a:stretch>
        </p:blipFill>
        <p:spPr>
          <a:xfrm flipH="1">
            <a:off x="7152005" y="2223135"/>
            <a:ext cx="5039995" cy="4634865"/>
          </a:xfrm>
          <a:prstGeom prst="rect">
            <a:avLst/>
          </a:prstGeom>
        </p:spPr>
      </p:pic>
      <p:pic>
        <p:nvPicPr>
          <p:cNvPr id="71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sp>
        <p:nvSpPr>
          <p:cNvPr id="21" name="任意多边形: 形状 52"/>
          <p:cNvSpPr>
            <a:spLocks noGrp="1"/>
          </p:cNvSpPr>
          <p:nvPr/>
        </p:nvSpPr>
        <p:spPr>
          <a:xfrm flipV="1">
            <a:off x="4925060" y="0"/>
            <a:ext cx="407416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/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5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sp>
        <p:nvSpPr>
          <p:cNvPr id="8" name="矩形: 圆角 1"/>
          <p:cNvSpPr>
            <a:spLocks noGrp="1"/>
          </p:cNvSpPr>
          <p:nvPr/>
        </p:nvSpPr>
        <p:spPr>
          <a:xfrm rot="2244181">
            <a:off x="2123318" y="2075783"/>
            <a:ext cx="1156720" cy="366949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: 圆角 65"/>
          <p:cNvSpPr>
            <a:spLocks noGrp="1"/>
          </p:cNvSpPr>
          <p:nvPr/>
        </p:nvSpPr>
        <p:spPr>
          <a:xfrm rot="2244181">
            <a:off x="1981226" y="2606097"/>
            <a:ext cx="1156720" cy="366949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240966" y="1901644"/>
            <a:ext cx="179893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8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36290" y="1901190"/>
            <a:ext cx="1436370" cy="1322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8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99310" y="3521710"/>
            <a:ext cx="4564380" cy="1106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测试策略与 AI 实践</a:t>
            </a:r>
            <a:endParaRPr sz="66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2159000" y="4429125"/>
            <a:ext cx="61137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6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6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STRATEGY &amp; AI PRACTICE</a:t>
            </a:r>
            <a:endParaRPr sz="900" spc="6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直角三角形 4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65" y="488315"/>
            <a:ext cx="351599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无真值测试的四类断言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FOUR COMPLEMENTARY CHECKS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2200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1693522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几何自洽</a:t>
            </a:r>
            <a:endParaRPr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1263853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G1 比较点图与深度反投影，G2 将点图按相机参数投回像素网格，检验模型内部输出是否一致。</a:t>
            </a:r>
            <a:endParaRPr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466630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3661424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4262745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鲁棒性扰动</a:t>
            </a:r>
            <a:endParaRPr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>
            <a:spLocks noGrp="1"/>
          </p:cNvSpPr>
          <p:nvPr/>
        </p:nvSpPr>
        <p:spPr>
          <a:xfrm>
            <a:off x="3833077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改变帧数、分辨率、噪声和遮挡，比较 G1-G4 的变化幅度，观察质量是否稳定退化。</a:t>
            </a:r>
            <a:endParaRPr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4035854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矩形 45"/>
          <p:cNvSpPr>
            <a:spLocks noGrp="1"/>
          </p:cNvSpPr>
          <p:nvPr/>
        </p:nvSpPr>
        <p:spPr>
          <a:xfrm>
            <a:off x="6230648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6831970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趋势与边界</a:t>
            </a:r>
            <a:endParaRPr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>
            <a:spLocks noGrp="1"/>
          </p:cNvSpPr>
          <p:nvPr/>
        </p:nvSpPr>
        <p:spPr>
          <a:xfrm>
            <a:off x="6402301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 N=1/2/5/9 的单调关系、单帧 G4 不可用、置信阈值下探及跨场景变化。</a:t>
            </a:r>
            <a:endParaRPr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6605078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矩形 50"/>
          <p:cNvSpPr>
            <a:spLocks noGrp="1"/>
          </p:cNvSpPr>
          <p:nvPr/>
        </p:nvSpPr>
        <p:spPr>
          <a:xfrm>
            <a:off x="8799871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>
            <a:spLocks noGrp="1"/>
          </p:cNvSpPr>
          <p:nvPr/>
        </p:nvSpPr>
        <p:spPr>
          <a:xfrm>
            <a:off x="9401193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安全与可用性</a:t>
            </a:r>
            <a:endParaRPr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>
            <a:spLocks noGrp="1"/>
          </p:cNvSpPr>
          <p:nvPr/>
        </p:nvSpPr>
        <p:spPr>
          <a:xfrm>
            <a:off x="8971524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真实调用推理入口，验证空目录、无效路径和损坏图像。任务不含人口属性，公平性改用跨场景一致性评估。</a:t>
            </a:r>
            <a:endParaRPr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9174301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79" name="图片 26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65" y="488315"/>
            <a:ext cx="24053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条用例覆盖四个风险维度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CASE COVERAGE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: 形状 21"/>
          <p:cNvSpPr>
            <a:spLocks noGrp="1"/>
          </p:cNvSpPr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/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分组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2890520" y="2061845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520838" y="2076626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帧数与基线</a:t>
            </a:r>
            <a:endParaRPr b="1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>
            <a:spLocks noGrp="1"/>
          </p:cNvSpPr>
          <p:nvPr/>
        </p:nvSpPr>
        <p:spPr>
          <a:xfrm>
            <a:off x="5093142" y="2170010"/>
            <a:ext cx="2665809" cy="21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M2-AI-001~005 · 5 CASES</a:t>
            </a:r>
            <a:endParaRPr sz="8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3520838" y="2326780"/>
            <a:ext cx="7354808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 9 帧基线，再降至 5、2、1 帧，验证 G1 误差与深度置信随帧数单调改善。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3521075" y="3430905"/>
            <a:ext cx="435676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151393" y="3445686"/>
            <a:ext cx="2240320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扰动与确定性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5723702" y="3539070"/>
            <a:ext cx="2665816" cy="21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M2-AI-006~009 · 4 CASES</a:t>
            </a:r>
            <a:endParaRPr sz="8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4151393" y="3695840"/>
            <a:ext cx="6724886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 0.5 倍分辨率、高斯噪声、25% 遮挡和独立进程重跑，区分外观扰动与对应关系破坏。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2890520" y="4800600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520838" y="4815381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跨场景与异常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44"/>
          <p:cNvSpPr>
            <a:spLocks noGrp="1"/>
          </p:cNvSpPr>
          <p:nvPr/>
        </p:nvSpPr>
        <p:spPr>
          <a:xfrm>
            <a:off x="5093142" y="4908765"/>
            <a:ext cx="2665809" cy="21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M2-AI-010~015 · 6 CASES</a:t>
            </a:r>
            <a:endParaRPr sz="8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>
            <a:spLocks noGrp="1"/>
          </p:cNvSpPr>
          <p:nvPr/>
        </p:nvSpPr>
        <p:spPr>
          <a:xfrm>
            <a:off x="3520838" y="5065535"/>
            <a:ext cx="7354808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用竖构图近景场景验证阈值与裁切，再覆盖空目录、无效路径和损坏图像。15 条均已自动化。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片 11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17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直角三角形 19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65" y="488315"/>
            <a:ext cx="24053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扰动矩阵把质量退化转成可比较数据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ROBUSTNESS EXPERIMENT MATRIX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9" name="图片 50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22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直角三角形 22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595893" y="1735629"/>
            <a:ext cx="2277110" cy="2703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779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3680493" y="2054987"/>
            <a:ext cx="2107911" cy="241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G2 2.153 px、G4 0.8729，与基线基本相同。</a:t>
            </a: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20043" y="1735687"/>
            <a:ext cx="2277110" cy="2703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779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6404643" y="2055055"/>
            <a:ext cx="2107911" cy="20841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G2 2.105 px、G4 0.8759，未出现显著退化。</a:t>
            </a:r>
            <a:endParaRPr kern="0">
              <a:solidFill>
                <a:srgbClr val="779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44193" y="1735687"/>
            <a:ext cx="2277110" cy="2703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779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>
            <a:spLocks noGrp="1"/>
          </p:cNvSpPr>
          <p:nvPr/>
        </p:nvSpPr>
        <p:spPr>
          <a:xfrm>
            <a:off x="9128793" y="2055055"/>
            <a:ext cx="2107911" cy="20841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G4 NCC 降至 0.5536，低置信占比升至 40.19%。</a:t>
            </a:r>
            <a:endParaRPr kern="0">
              <a:solidFill>
                <a:srgbClr val="779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2378" y="1735629"/>
            <a:ext cx="2277110" cy="2703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779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>
            <a:spLocks noGrp="1"/>
          </p:cNvSpPr>
          <p:nvPr/>
        </p:nvSpPr>
        <p:spPr>
          <a:xfrm>
            <a:off x="956978" y="2060702"/>
            <a:ext cx="2107911" cy="241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N=1/2/5/9。G1 相对误差随帧数增加而单调下降。</a:t>
            </a: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0" name="图片 17"/>
          <p:cNvPicPr>
            <a:picLocks noChangeAspect="1"/>
          </p:cNvPicPr>
          <p:nvPr/>
        </p:nvPicPr>
        <p:blipFill rotWithShape="1">
          <a:blip r:embed="rId2"/>
          <a:srcRect l="3273" r="3273"/>
          <a:stretch>
            <a:fillRect/>
          </a:stretch>
        </p:blipFill>
        <p:spPr>
          <a:xfrm>
            <a:off x="6197600" y="4237355"/>
            <a:ext cx="2520315" cy="1800225"/>
          </a:xfrm>
          <a:prstGeom prst="roundRect">
            <a:avLst/>
          </a:prstGeom>
          <a:ln>
            <a:noFill/>
          </a:ln>
        </p:spPr>
      </p:pic>
      <p:pic>
        <p:nvPicPr>
          <p:cNvPr id="71" name="图片 23"/>
          <p:cNvPicPr>
            <a:picLocks noChangeAspect="1"/>
          </p:cNvPicPr>
          <p:nvPr/>
        </p:nvPicPr>
        <p:blipFill>
          <a:blip r:embed="rId3"/>
          <a:srcRect l="3273" r="3273"/>
          <a:stretch>
            <a:fillRect/>
          </a:stretch>
        </p:blipFill>
        <p:spPr>
          <a:xfrm>
            <a:off x="750570" y="4237355"/>
            <a:ext cx="2520315" cy="1800225"/>
          </a:xfrm>
          <a:prstGeom prst="roundRect">
            <a:avLst/>
          </a:prstGeom>
          <a:ln>
            <a:noFill/>
          </a:ln>
        </p:spPr>
      </p:pic>
      <p:pic>
        <p:nvPicPr>
          <p:cNvPr id="72" name="图片 27"/>
          <p:cNvPicPr>
            <a:picLocks noChangeAspect="1"/>
          </p:cNvPicPr>
          <p:nvPr/>
        </p:nvPicPr>
        <p:blipFill>
          <a:blip r:embed="rId4"/>
          <a:srcRect l="3273" r="3273"/>
          <a:stretch>
            <a:fillRect/>
          </a:stretch>
        </p:blipFill>
        <p:spPr>
          <a:xfrm>
            <a:off x="3474085" y="4237355"/>
            <a:ext cx="2520315" cy="1800225"/>
          </a:xfrm>
          <a:prstGeom prst="roundRect">
            <a:avLst/>
          </a:prstGeom>
          <a:ln>
            <a:noFill/>
          </a:ln>
        </p:spPr>
      </p:pic>
      <p:pic>
        <p:nvPicPr>
          <p:cNvPr id="73" name="图片 29"/>
          <p:cNvPicPr>
            <a:picLocks noChangeAspect="1"/>
          </p:cNvPicPr>
          <p:nvPr/>
        </p:nvPicPr>
        <p:blipFill>
          <a:blip r:embed="rId5"/>
          <a:srcRect l="3273" r="3273"/>
          <a:stretch>
            <a:fillRect/>
          </a:stretch>
        </p:blipFill>
        <p:spPr>
          <a:xfrm>
            <a:off x="8921750" y="4237355"/>
            <a:ext cx="2520315" cy="1800225"/>
          </a:xfrm>
          <a:prstGeom prst="roundRect">
            <a:avLst/>
          </a:prstGeom>
          <a:ln>
            <a:noFill/>
          </a:ln>
        </p:spPr>
      </p:pic>
      <p:sp>
        <p:nvSpPr>
          <p:cNvPr id="31" name="矩形: 圆角 17"/>
          <p:cNvSpPr>
            <a:spLocks noGrp="1"/>
          </p:cNvSpPr>
          <p:nvPr/>
        </p:nvSpPr>
        <p:spPr>
          <a:xfrm>
            <a:off x="749935" y="1419860"/>
            <a:ext cx="2520315" cy="499110"/>
          </a:xfrm>
          <a:prstGeom prst="roundRect">
            <a:avLst>
              <a:gd name="adj" fmla="val 50000"/>
            </a:avLst>
          </a:prstGeom>
          <a:solidFill>
            <a:srgbClr val="25557A"/>
          </a:solidFill>
          <a:ln w="19050" cmpd="sng">
            <a:solidFill>
              <a:schemeClr val="bg1"/>
            </a:solidFill>
            <a:prstDash val="solid"/>
          </a:ln>
          <a:effectLst>
            <a:outerShdw blurRad="152400" dist="152400" dir="5400000" sx="81000" sy="81000" algn="t" rotWithShape="0">
              <a:schemeClr val="tx2">
                <a:lumMod val="50000"/>
                <a:lumOff val="50000"/>
                <a:alpha val="30000"/>
              </a:schemeClr>
            </a:outerShdw>
          </a:effectLst>
        </p:spPr>
        <p:txBody>
          <a:bodyPr anchor="ctr"/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帧数 N</a:t>
            </a:r>
            <a:endParaRPr sz="20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: 圆角 18"/>
          <p:cNvSpPr>
            <a:spLocks noGrp="1"/>
          </p:cNvSpPr>
          <p:nvPr/>
        </p:nvSpPr>
        <p:spPr>
          <a:xfrm>
            <a:off x="3474085" y="1419860"/>
            <a:ext cx="2520315" cy="499110"/>
          </a:xfrm>
          <a:prstGeom prst="roundRect">
            <a:avLst>
              <a:gd name="adj" fmla="val 50000"/>
            </a:avLst>
          </a:prstGeom>
          <a:solidFill>
            <a:srgbClr val="25557A"/>
          </a:solidFill>
          <a:ln w="19050" cmpd="sng">
            <a:solidFill>
              <a:schemeClr val="bg1"/>
            </a:solidFill>
            <a:prstDash val="solid"/>
          </a:ln>
          <a:effectLst>
            <a:outerShdw blurRad="152400" dist="152400" dir="5400000" sx="81000" sy="81000" algn="t" rotWithShape="0">
              <a:schemeClr val="tx2">
                <a:lumMod val="50000"/>
                <a:lumOff val="50000"/>
                <a:alpha val="30000"/>
              </a:schemeClr>
            </a:outerShdw>
          </a:effectLst>
        </p:spPr>
        <p:txBody>
          <a:bodyPr anchor="ctr"/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分辨率 0.5×</a:t>
            </a:r>
            <a:endParaRPr sz="20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: 圆角 19"/>
          <p:cNvSpPr>
            <a:spLocks noGrp="1"/>
          </p:cNvSpPr>
          <p:nvPr/>
        </p:nvSpPr>
        <p:spPr>
          <a:xfrm>
            <a:off x="6197600" y="1419860"/>
            <a:ext cx="2520315" cy="499110"/>
          </a:xfrm>
          <a:prstGeom prst="roundRect">
            <a:avLst>
              <a:gd name="adj" fmla="val 50000"/>
            </a:avLst>
          </a:prstGeom>
          <a:solidFill>
            <a:srgbClr val="25557A"/>
          </a:solidFill>
          <a:ln w="19050" cmpd="sng">
            <a:solidFill>
              <a:schemeClr val="bg1"/>
            </a:solidFill>
            <a:prstDash val="solid"/>
          </a:ln>
          <a:effectLst>
            <a:outerShdw blurRad="152400" dist="152400" dir="5400000" sx="81000" sy="81000" algn="t" rotWithShape="0">
              <a:schemeClr val="tx2">
                <a:lumMod val="50000"/>
                <a:lumOff val="50000"/>
                <a:alpha val="30000"/>
              </a:schemeClr>
            </a:outerShdw>
          </a:effectLst>
        </p:spPr>
        <p:txBody>
          <a:bodyPr anchor="ctr"/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高斯噪声 σ=10</a:t>
            </a:r>
            <a:endParaRPr sz="20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: 圆角 20"/>
          <p:cNvSpPr>
            <a:spLocks noGrp="1"/>
          </p:cNvSpPr>
          <p:nvPr/>
        </p:nvSpPr>
        <p:spPr>
          <a:xfrm>
            <a:off x="8921750" y="1419860"/>
            <a:ext cx="2520315" cy="499110"/>
          </a:xfrm>
          <a:prstGeom prst="roundRect">
            <a:avLst>
              <a:gd name="adj" fmla="val 50000"/>
            </a:avLst>
          </a:prstGeom>
          <a:solidFill>
            <a:srgbClr val="25557A"/>
          </a:solidFill>
          <a:ln w="19050" cmpd="sng">
            <a:solidFill>
              <a:schemeClr val="bg1"/>
            </a:solidFill>
            <a:prstDash val="solid"/>
          </a:ln>
          <a:effectLst>
            <a:outerShdw blurRad="152400" dist="152400" dir="5400000" sx="81000" sy="81000" algn="t" rotWithShape="0">
              <a:schemeClr val="tx2">
                <a:lumMod val="50000"/>
                <a:lumOff val="50000"/>
                <a:alpha val="30000"/>
              </a:schemeClr>
            </a:outerShdw>
          </a:effectLst>
        </p:spPr>
        <p:txBody>
          <a:bodyPr anchor="ctr"/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遮挡 25%</a:t>
            </a:r>
            <a:endParaRPr sz="20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8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660" y="5343525"/>
            <a:ext cx="1080135" cy="604520"/>
          </a:xfrm>
          <a:prstGeom prst="rect">
            <a:avLst/>
          </a:prstGeom>
        </p:spPr>
      </p:pic>
      <p:pic>
        <p:nvPicPr>
          <p:cNvPr id="79" name="图片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4175" y="5343525"/>
            <a:ext cx="1080135" cy="604520"/>
          </a:xfrm>
          <a:prstGeom prst="rect">
            <a:avLst/>
          </a:prstGeom>
        </p:spPr>
      </p:pic>
      <p:pic>
        <p:nvPicPr>
          <p:cNvPr id="80" name="图片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690" y="5343525"/>
            <a:ext cx="1080135" cy="604520"/>
          </a:xfrm>
          <a:prstGeom prst="rect">
            <a:avLst/>
          </a:prstGeom>
        </p:spPr>
      </p:pic>
      <p:pic>
        <p:nvPicPr>
          <p:cNvPr id="81" name="图片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2175" y="5343525"/>
            <a:ext cx="1080135" cy="604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任意多边形: 形状 52"/>
          <p:cNvSpPr>
            <a:spLocks noGrp="1"/>
          </p:cNvSpPr>
          <p:nvPr/>
        </p:nvSpPr>
        <p:spPr>
          <a:xfrm flipH="1">
            <a:off x="4335145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/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26000">
                <a:srgbClr val="D9E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0" name="图片 3"/>
          <p:cNvPicPr>
            <a:picLocks noChangeAspect="1"/>
          </p:cNvPicPr>
          <p:nvPr/>
        </p:nvPicPr>
        <p:blipFill>
          <a:blip r:embed="rId1"/>
          <a:srcRect l="22403" t="1475" r="22481" b="58056"/>
          <a:stretch>
            <a:fillRect/>
          </a:stretch>
        </p:blipFill>
        <p:spPr>
          <a:xfrm flipH="1">
            <a:off x="7152005" y="2223135"/>
            <a:ext cx="5039995" cy="4634865"/>
          </a:xfrm>
          <a:prstGeom prst="rect">
            <a:avLst/>
          </a:prstGeom>
        </p:spPr>
      </p:pic>
      <p:pic>
        <p:nvPicPr>
          <p:cNvPr id="71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sp>
        <p:nvSpPr>
          <p:cNvPr id="21" name="任意多边形: 形状 52"/>
          <p:cNvSpPr>
            <a:spLocks noGrp="1"/>
          </p:cNvSpPr>
          <p:nvPr/>
        </p:nvSpPr>
        <p:spPr>
          <a:xfrm flipV="1">
            <a:off x="4925060" y="0"/>
            <a:ext cx="407416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/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5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sp>
        <p:nvSpPr>
          <p:cNvPr id="8" name="矩形: 圆角 1"/>
          <p:cNvSpPr>
            <a:spLocks noGrp="1"/>
          </p:cNvSpPr>
          <p:nvPr/>
        </p:nvSpPr>
        <p:spPr>
          <a:xfrm rot="2244181">
            <a:off x="2123318" y="2075783"/>
            <a:ext cx="1156720" cy="366949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: 圆角 65"/>
          <p:cNvSpPr>
            <a:spLocks noGrp="1"/>
          </p:cNvSpPr>
          <p:nvPr/>
        </p:nvSpPr>
        <p:spPr>
          <a:xfrm rot="2244181">
            <a:off x="1981226" y="2606097"/>
            <a:ext cx="1156720" cy="366949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240966" y="1901644"/>
            <a:ext cx="179893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8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36290" y="1901190"/>
            <a:ext cx="1436370" cy="1322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8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99310" y="3521710"/>
            <a:ext cx="4564380" cy="1106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自动化实施与执行结果</a:t>
            </a:r>
            <a:endParaRPr sz="66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2159000" y="4429125"/>
            <a:ext cx="61137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6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6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AUTOMATION &amp; RESULTS</a:t>
            </a:r>
            <a:endParaRPr sz="900" spc="6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65" y="488315"/>
            <a:ext cx="32943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自动化测试工程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AUTOMATION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: 形状 21"/>
          <p:cNvSpPr>
            <a:spLocks noGrp="1"/>
          </p:cNvSpPr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/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890520" y="2061845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520838" y="2076627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一键运行 15 条用例</a:t>
            </a:r>
            <a:endParaRPr b="1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520838" y="2326780"/>
            <a:ext cx="7354808" cy="953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run_tests.ps1 自动探测解释器、注入 PYTHONPATH 并执行 M2-AI-001~015；被测 VGGT 官方基线保持不变。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521075" y="3430905"/>
            <a:ext cx="435676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151393" y="3445687"/>
            <a:ext cx="2240320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现场复算与数据准备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151393" y="3695840"/>
            <a:ext cx="6724886" cy="953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测试直接读取当前 predictions.npz 复算 G1-G4；缺失扰动变体按固定种子 20260911 生成并缓存。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890520" y="4800600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520838" y="4815382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结果归档与折算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520838" y="5065535"/>
            <a:ext cx="7354808" cy="953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每次运行输出 JUnit XML、文本日志与退出码。已知缺陷默认记为 XFAIL，修复后可用 strict 模式做全绿验收。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片 11"/>
          <p:cNvPicPr>
            <a:picLocks noChangeAspect="1"/>
          </p:cNvPicPr>
          <p:nvPr/>
        </p:nvPicPr>
        <p:blipFill>
          <a:blip r:embed="rId10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17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直角三角形 19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直角三角形 4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65" y="488315"/>
            <a:ext cx="654685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执行结果：15 条执行，13 通过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 COMPLETE RUN · 86.7% PASS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2200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1693522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1263853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 AI 相关用例全部执行，无阻塞项。</a:t>
            </a:r>
            <a:endParaRPr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466630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3661424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4262745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>
            <a:spLocks noGrp="1"/>
          </p:cNvSpPr>
          <p:nvPr/>
        </p:nvSpPr>
        <p:spPr>
          <a:xfrm>
            <a:off x="3833077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条通过，覆盖基线、趋势、扰动、跨场景与输入校验。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4035854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矩形 45"/>
          <p:cNvSpPr>
            <a:spLocks noGrp="1"/>
          </p:cNvSpPr>
          <p:nvPr/>
        </p:nvSpPr>
        <p:spPr>
          <a:xfrm>
            <a:off x="6230648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6831970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>
            <a:spLocks noGrp="1"/>
          </p:cNvSpPr>
          <p:nvPr/>
        </p:nvSpPr>
        <p:spPr>
          <a:xfrm>
            <a:off x="6402301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条预期失败：M2-AI-010 与 015，分别复现阈值与异常处理缺陷。</a:t>
            </a:r>
            <a:endParaRPr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6605078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矩形 50"/>
          <p:cNvSpPr>
            <a:spLocks noGrp="1"/>
          </p:cNvSpPr>
          <p:nvPr/>
        </p:nvSpPr>
        <p:spPr>
          <a:xfrm>
            <a:off x="8799871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>
            <a:spLocks noGrp="1"/>
          </p:cNvSpPr>
          <p:nvPr/>
        </p:nvSpPr>
        <p:spPr>
          <a:xfrm>
            <a:off x="9401193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86.7%</a:t>
            </a:r>
            <a:endParaRPr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>
            <a:spLocks noGrp="1"/>
          </p:cNvSpPr>
          <p:nvPr/>
        </p:nvSpPr>
        <p:spPr>
          <a:xfrm>
            <a:off x="8971524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通过率 = 13 / 15；缺陷折算后结果符合预期。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9174301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79" name="图片 26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任意多边形: 形状 52"/>
          <p:cNvSpPr>
            <a:spLocks noGrp="1"/>
          </p:cNvSpPr>
          <p:nvPr/>
        </p:nvSpPr>
        <p:spPr>
          <a:xfrm flipH="1">
            <a:off x="4335145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/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26000">
                <a:srgbClr val="D9E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0" name="图片 3"/>
          <p:cNvPicPr>
            <a:picLocks noChangeAspect="1"/>
          </p:cNvPicPr>
          <p:nvPr/>
        </p:nvPicPr>
        <p:blipFill>
          <a:blip r:embed="rId1"/>
          <a:srcRect l="22403" t="1475" r="22481" b="58056"/>
          <a:stretch>
            <a:fillRect/>
          </a:stretch>
        </p:blipFill>
        <p:spPr>
          <a:xfrm flipH="1">
            <a:off x="7152005" y="2223135"/>
            <a:ext cx="5039995" cy="4634865"/>
          </a:xfrm>
          <a:prstGeom prst="rect">
            <a:avLst/>
          </a:prstGeom>
        </p:spPr>
      </p:pic>
      <p:pic>
        <p:nvPicPr>
          <p:cNvPr id="71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sp>
        <p:nvSpPr>
          <p:cNvPr id="21" name="任意多边形: 形状 52"/>
          <p:cNvSpPr>
            <a:spLocks noGrp="1"/>
          </p:cNvSpPr>
          <p:nvPr/>
        </p:nvSpPr>
        <p:spPr>
          <a:xfrm flipV="1">
            <a:off x="4925060" y="0"/>
            <a:ext cx="407416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/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5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sp>
        <p:nvSpPr>
          <p:cNvPr id="8" name="矩形: 圆角 1"/>
          <p:cNvSpPr>
            <a:spLocks noGrp="1"/>
          </p:cNvSpPr>
          <p:nvPr/>
        </p:nvSpPr>
        <p:spPr>
          <a:xfrm rot="2244181">
            <a:off x="2123318" y="2075783"/>
            <a:ext cx="1156720" cy="366949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: 圆角 65"/>
          <p:cNvSpPr>
            <a:spLocks noGrp="1"/>
          </p:cNvSpPr>
          <p:nvPr/>
        </p:nvSpPr>
        <p:spPr>
          <a:xfrm rot="2244181">
            <a:off x="1981226" y="2606097"/>
            <a:ext cx="1156720" cy="366949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240966" y="1901644"/>
            <a:ext cx="179893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8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36290" y="1901190"/>
            <a:ext cx="1436370" cy="1322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8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99310" y="3521710"/>
            <a:ext cx="4564380" cy="1106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结果、缺陷与 AI 反思</a:t>
            </a:r>
            <a:endParaRPr sz="66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2159000" y="4429125"/>
            <a:ext cx="61137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6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6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RESULTS, DEFECTS &amp; REFLECTION</a:t>
            </a:r>
            <a:endParaRPr sz="900" spc="6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65" y="488315"/>
            <a:ext cx="59613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关键结果：遮挡是唯一显著退化项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ROBUSTNESS FINDINGS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0" name="图片 50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16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直角三角形 16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0400" y="1443994"/>
            <a:ext cx="10858500" cy="21183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854859" y="1642635"/>
            <a:ext cx="6873240" cy="460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像素噪声与降采样：指标基本不变</a:t>
            </a:r>
            <a:endParaRPr sz="2400" b="1">
              <a:solidFill>
                <a:srgbClr val="25557A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961012" y="2195047"/>
            <a:ext cx="7151605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文本框 20"/>
          <p:cNvSpPr>
            <a:spLocks noGrp="1"/>
          </p:cNvSpPr>
          <p:nvPr/>
        </p:nvSpPr>
        <p:spPr>
          <a:xfrm>
            <a:off x="854859" y="2234576"/>
            <a:ext cx="7475855" cy="802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分辨率降为 0.5 倍时 G4 NCC 为 0.8729；加入 σ=10 高斯噪声时为 0.8759，均与基线 0.8729 同量级。</a:t>
            </a:r>
            <a:endParaRPr sz="1400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0400" y="4016229"/>
            <a:ext cx="10858500" cy="2118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58" name="图片 31"/>
          <p:cNvPicPr>
            <a:picLocks noChangeAspect="1"/>
          </p:cNvPicPr>
          <p:nvPr/>
        </p:nvPicPr>
        <p:blipFill rotWithShape="1">
          <a:blip r:embed="rId2"/>
          <a:srcRect l="16624" r="16624"/>
          <a:stretch>
            <a:fillRect/>
          </a:stretch>
        </p:blipFill>
        <p:spPr>
          <a:xfrm>
            <a:off x="989185" y="3806444"/>
            <a:ext cx="2327910" cy="2327953"/>
          </a:xfrm>
          <a:prstGeom prst="rect">
            <a:avLst/>
          </a:prstGeom>
        </p:spPr>
      </p:pic>
      <p:sp>
        <p:nvSpPr>
          <p:cNvPr id="37" name="文本框 36"/>
          <p:cNvSpPr>
            <a:spLocks noGrp="1"/>
          </p:cNvSpPr>
          <p:nvPr/>
        </p:nvSpPr>
        <p:spPr>
          <a:xfrm>
            <a:off x="3727599" y="4213524"/>
            <a:ext cx="5948680" cy="460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遮挡 25%：NCC 下降 36.6%</a:t>
            </a:r>
            <a:endParaRPr sz="2400" b="1">
              <a:solidFill>
                <a:srgbClr val="25557A"/>
              </a:solidFill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3805815" y="4772883"/>
            <a:ext cx="7151605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文本框 38"/>
          <p:cNvSpPr>
            <a:spLocks noGrp="1"/>
          </p:cNvSpPr>
          <p:nvPr/>
        </p:nvSpPr>
        <p:spPr>
          <a:xfrm>
            <a:off x="3727599" y="4812410"/>
            <a:ext cx="7475855" cy="1569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遮挡使 G4 NCC 从 0.8729 降至 0.5536，低置信占比从 21.90% 升至 40.19%。它直接破坏多视角对应关系。</a:t>
            </a:r>
            <a:endParaRPr sz="1400"/>
          </a:p>
        </p:txBody>
      </p:sp>
      <p:pic>
        <p:nvPicPr>
          <p:cNvPr id="62" name="图片 39"/>
          <p:cNvPicPr>
            <a:picLocks noChangeAspect="1"/>
          </p:cNvPicPr>
          <p:nvPr/>
        </p:nvPicPr>
        <p:blipFill rotWithShape="1">
          <a:blip r:embed="rId3"/>
          <a:srcRect l="16634" r="16634"/>
          <a:stretch>
            <a:fillRect/>
          </a:stretch>
        </p:blipFill>
        <p:spPr>
          <a:xfrm>
            <a:off x="8851900" y="1234440"/>
            <a:ext cx="2327275" cy="2327953"/>
          </a:xfrm>
          <a:prstGeom prst="rect">
            <a:avLst/>
          </a:prstGeom>
        </p:spPr>
      </p:pic>
      <p:pic>
        <p:nvPicPr>
          <p:cNvPr id="63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470" y="2772439"/>
            <a:ext cx="1080135" cy="604531"/>
          </a:xfrm>
          <a:prstGeom prst="rect">
            <a:avLst/>
          </a:prstGeom>
        </p:spPr>
      </p:pic>
      <p:pic>
        <p:nvPicPr>
          <p:cNvPr id="6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535" y="5351222"/>
            <a:ext cx="1080135" cy="6045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65" y="488315"/>
            <a:ext cx="19608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典型缺陷：固定阈值跨场景静默失效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DEF-M2-003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: 形状 21"/>
          <p:cNvSpPr>
            <a:spLocks noGrp="1"/>
          </p:cNvSpPr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/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2890520" y="2061845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520838" y="2076627"/>
            <a:ext cx="2240314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症状隐藏在正常流程</a:t>
            </a:r>
            <a:endParaRPr b="1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>
            <a:spLocks noGrp="1"/>
          </p:cNvSpPr>
          <p:nvPr/>
        </p:nvSpPr>
        <p:spPr>
          <a:xfrm>
            <a:off x="5302699" y="2170010"/>
            <a:ext cx="2665809" cy="213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8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3520838" y="2326817"/>
            <a:ext cx="7626350" cy="953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001_watercup 正常输出深度图和 GLB，但有效像素为 0，G1/G2/G4 被跳过且无提示。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3521075" y="3430905"/>
            <a:ext cx="435676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151393" y="3445687"/>
            <a:ext cx="4592319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同一阈值跨场景失效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5723702" y="3539070"/>
            <a:ext cx="2665816" cy="213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8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4151393" y="3695840"/>
            <a:ext cx="6724886" cy="953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 3.0 在基线有效；近景场景置信最大值仅 2.187，全部像素被过滤。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2890520" y="4800600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520838" y="4815382"/>
            <a:ext cx="2240314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风险是误判测试通过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>
            <a:spLocks noGrp="1"/>
          </p:cNvSpPr>
          <p:nvPr/>
        </p:nvSpPr>
        <p:spPr>
          <a:xfrm>
            <a:off x="3520838" y="5065535"/>
            <a:ext cx="7354808" cy="953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流程没有异常栈。若只看是否完成，使用者会把不可用结果误判为成功。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8" name="图片 11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17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直角三角形 19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65" y="488315"/>
            <a:ext cx="19608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缺陷修复建议与回归标准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FIX SUGGESTION &amp; REGRESSION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: 形状 21"/>
          <p:cNvSpPr>
            <a:spLocks noGrp="1"/>
          </p:cNvSpPr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/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2890520" y="2061845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520838" y="2076626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阈值改为相对量</a:t>
            </a:r>
            <a:endParaRPr b="1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3520838" y="2326780"/>
            <a:ext cx="7354808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按场景置信度分位数或最大值比例选择有效像素，并把实际阈值写入 run_info.json。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3521075" y="3430905"/>
            <a:ext cx="435676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151393" y="3445686"/>
            <a:ext cx="2240320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低有效像素告警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5723702" y="3539070"/>
            <a:ext cx="2665816" cy="213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8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4151393" y="3695840"/>
            <a:ext cx="6724886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当有效像素为 0 或低于最低占比时，返回“指标不可用”并说明原因，禁止静默跳过。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2890520" y="4800600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520838" y="4815381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回归标准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>
            <a:spLocks noGrp="1"/>
          </p:cNvSpPr>
          <p:nvPr/>
        </p:nvSpPr>
        <p:spPr>
          <a:xfrm>
            <a:off x="3520838" y="5065535"/>
            <a:ext cx="735480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修复后 M2-AI-010 应在默认配置下给出可解释结果或明确失败；strict 模式下 15 条应全部通过。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片 11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17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直角三角形 19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直角三角形 4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65" y="488315"/>
            <a:ext cx="24053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四条结论，每条都有实测数据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CONCLUSIONS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2200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1693522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执行结论</a:t>
            </a:r>
            <a:endParaRPr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1263853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条全部执行，13 通过、2 条预期失败；已建立可重复的 AI 输出回归基线。</a:t>
            </a:r>
            <a:endParaRPr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466630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3661424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4262745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鲁棒性结论</a:t>
            </a:r>
            <a:endParaRPr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>
            <a:spLocks noGrp="1"/>
          </p:cNvSpPr>
          <p:nvPr/>
        </p:nvSpPr>
        <p:spPr>
          <a:xfrm>
            <a:off x="3833077" y="2961251"/>
            <a:ext cx="19566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模型对降采样与像素噪声稳定，但对遮挡和近景低纹理场景敏感。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4035854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矩形 45"/>
          <p:cNvSpPr>
            <a:spLocks noGrp="1"/>
          </p:cNvSpPr>
          <p:nvPr/>
        </p:nvSpPr>
        <p:spPr>
          <a:xfrm>
            <a:off x="6230648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6831970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结论</a:t>
            </a:r>
            <a:endParaRPr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>
            <a:spLocks noGrp="1"/>
          </p:cNvSpPr>
          <p:nvPr/>
        </p:nvSpPr>
        <p:spPr>
          <a:xfrm>
            <a:off x="6402301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无真值时，自洽性只能证明必要条件，不能证明几何结果绝对正确。</a:t>
            </a:r>
            <a:endParaRPr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6605078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矩形 50"/>
          <p:cNvSpPr>
            <a:spLocks noGrp="1"/>
          </p:cNvSpPr>
          <p:nvPr/>
        </p:nvSpPr>
        <p:spPr>
          <a:xfrm>
            <a:off x="8799871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>
            <a:spLocks noGrp="1"/>
          </p:cNvSpPr>
          <p:nvPr/>
        </p:nvSpPr>
        <p:spPr>
          <a:xfrm>
            <a:off x="9401193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工程结论</a:t>
            </a:r>
            <a:endParaRPr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>
            <a:spLocks noGrp="1"/>
          </p:cNvSpPr>
          <p:nvPr/>
        </p:nvSpPr>
        <p:spPr>
          <a:xfrm>
            <a:off x="8971524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一键执行、现场复算、固定随机种子和 JUnit 归档支持持续回归。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9174301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79" name="图片 26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97" y="488347"/>
            <a:ext cx="7239000" cy="5835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反思：自洽是必要条件，不是充分条件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REFLECTION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: 形状 21"/>
          <p:cNvSpPr>
            <a:spLocks noGrp="1"/>
          </p:cNvSpPr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/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反思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2890520" y="2061845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520838" y="2076626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模型做对了什么</a:t>
            </a:r>
            <a:endParaRPr b="1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3520838" y="2326780"/>
            <a:ext cx="7354808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帧基线中 G1 相对误差 0.159%，99.45% 像素重投影误差低于 5 px；独立进程重跑逐位一致。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3521075" y="3430905"/>
            <a:ext cx="435676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151393" y="3445686"/>
            <a:ext cx="2240320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模型做错了什么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5723702" y="3539070"/>
            <a:ext cx="2665816" cy="213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8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4151393" y="3695840"/>
            <a:ext cx="6724886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近景低纹理场景的 G2 达 41.447 px，是基线的 19.1 倍；固定阈值与静默失败放大了风险。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2890520" y="4800600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520838" y="4815381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结论边界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>
            <a:spLocks noGrp="1"/>
          </p:cNvSpPr>
          <p:nvPr/>
        </p:nvSpPr>
        <p:spPr>
          <a:xfrm>
            <a:off x="3520838" y="5065535"/>
            <a:ext cx="735480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结论必须绑定场景、帧数、置信阈值和扰动强度。自洽可以整体带偏，仍需真值数据集验证绝对精度。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片 11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17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直角三角形 19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97" y="488347"/>
            <a:ext cx="7239000" cy="5835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资源成本与可复现边界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COST &amp; REPRODUCIBILITY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: 形状 21"/>
          <p:cNvSpPr>
            <a:spLocks noGrp="1"/>
          </p:cNvSpPr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/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</a:t>
            </a:r>
            <a:endParaRPr sz="32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2890520" y="2061845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520838" y="2076626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显存随帧数增长</a:t>
            </a:r>
            <a:endParaRPr b="1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3520838" y="2326780"/>
            <a:ext cx="7354808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单帧占用 6.869 GB，5 帧 7.662 GB，9 帧 8.467 GB；8 GB 显卡已接近物理上限。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3521075" y="3430905"/>
            <a:ext cx="435676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151393" y="3445686"/>
            <a:ext cx="2240320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批量实验成本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5723702" y="3539070"/>
            <a:ext cx="2665816" cy="213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80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4151393" y="3695840"/>
            <a:ext cx="6724886" cy="95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个扰动变体一次批量执行约 5 分 34 秒。缓存推理产物后，指标可在 CPU 上离线复算。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2890520" y="4800600"/>
            <a:ext cx="435675" cy="435597"/>
          </a:xfrm>
          <a:prstGeom prst="ellips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520838" y="4815381"/>
            <a:ext cx="2240314" cy="36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可复现边界</a:t>
            </a:r>
            <a:endParaRPr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>
            <a:spLocks noGrp="1"/>
          </p:cNvSpPr>
          <p:nvPr/>
        </p:nvSpPr>
        <p:spPr>
          <a:xfrm>
            <a:off x="3520838" y="5065535"/>
            <a:ext cx="7354808" cy="521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固定输入下四个关键字段逐位一致；跨场景绝对位姿仍因首帧参考系不同而不可直接比较。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片 11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17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直角三角形 19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10"/>
          <p:cNvSpPr>
            <a:spLocks noGrp="1"/>
          </p:cNvSpPr>
          <p:nvPr/>
        </p:nvSpPr>
        <p:spPr>
          <a:xfrm rot="18900000">
            <a:off x="10289667" y="-801077"/>
            <a:ext cx="1566415" cy="1566415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直角三角形 4"/>
          <p:cNvSpPr>
            <a:spLocks noGrp="1"/>
          </p:cNvSpPr>
          <p:nvPr/>
        </p:nvSpPr>
        <p:spPr>
          <a:xfrm rot="10800000">
            <a:off x="10930687" y="-17870"/>
            <a:ext cx="1261312" cy="126131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: 圆角 24"/>
          <p:cNvSpPr>
            <a:spLocks noGrp="1"/>
          </p:cNvSpPr>
          <p:nvPr/>
        </p:nvSpPr>
        <p:spPr>
          <a:xfrm rot="2244181">
            <a:off x="446312" y="470507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 rot="2244181">
            <a:off x="351522" y="824140"/>
            <a:ext cx="771648" cy="244694"/>
          </a:xfrm>
          <a:prstGeom prst="roundRect">
            <a:avLst>
              <a:gd name="adj" fmla="val 33648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51301" y="325210"/>
            <a:ext cx="1200066" cy="101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07497" y="488347"/>
            <a:ext cx="7239000" cy="5835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spc="3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个有效缺陷的分布与状态</a:t>
            </a:r>
            <a:endParaRPr sz="3200" b="1" spc="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325880" y="878205"/>
            <a:ext cx="3584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spc="3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DEFECTS &amp; STATUS</a:t>
            </a:r>
            <a:endParaRPr sz="900" spc="3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2200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1693522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损坏图像</a:t>
            </a:r>
            <a:endParaRPr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1263853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DEF-M2-001</a:t>
            </a:r>
            <a:endParaRPr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未捕获 PIL 异常并残留半成品。待修复。</a:t>
            </a:r>
            <a:endParaRPr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466630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3661424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4262745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静默裁切</a:t>
            </a:r>
            <a:endParaRPr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>
            <a:spLocks noGrp="1"/>
          </p:cNvSpPr>
          <p:nvPr/>
        </p:nvSpPr>
        <p:spPr>
          <a:xfrm>
            <a:off x="3833077" y="2961251"/>
            <a:ext cx="19566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DEF-M2-002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3:4 竖构图丢失 24.5% 视野且无提示。待修复。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4035854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矩形 45"/>
          <p:cNvSpPr>
            <a:spLocks noGrp="1"/>
          </p:cNvSpPr>
          <p:nvPr/>
        </p:nvSpPr>
        <p:spPr>
          <a:xfrm>
            <a:off x="6230648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6831970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阈值失效</a:t>
            </a:r>
            <a:endParaRPr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>
            <a:spLocks noGrp="1"/>
          </p:cNvSpPr>
          <p:nvPr/>
        </p:nvSpPr>
        <p:spPr>
          <a:xfrm>
            <a:off x="6402301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DEF-M2-003</a:t>
            </a:r>
            <a:endParaRPr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默认阈值使跨场景指标静默不可用。待修复。</a:t>
            </a:r>
            <a:endParaRPr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6605078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矩形 50"/>
          <p:cNvSpPr>
            <a:spLocks noGrp="1"/>
          </p:cNvSpPr>
          <p:nvPr/>
        </p:nvSpPr>
        <p:spPr>
          <a:xfrm>
            <a:off x="8799871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>
            <a:spLocks noGrp="1"/>
          </p:cNvSpPr>
          <p:nvPr/>
        </p:nvSpPr>
        <p:spPr>
          <a:xfrm>
            <a:off x="9401193" y="2200283"/>
            <a:ext cx="10972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后处理与平台</a:t>
            </a:r>
            <a:endParaRPr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>
            <a:spLocks noGrp="1"/>
          </p:cNvSpPr>
          <p:nvPr/>
        </p:nvSpPr>
        <p:spPr>
          <a:xfrm>
            <a:off x="8971524" y="2961251"/>
            <a:ext cx="1956619" cy="22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DEF-M2-004/005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背景剔除不足、中文路径写图失败。完整记录见缺陷报告。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9174301" y="2811599"/>
            <a:ext cx="1551069" cy="0"/>
          </a:xfrm>
          <a:prstGeom prst="line">
            <a:avLst/>
          </a:prstGeom>
          <a:ln w="19050">
            <a:gradFill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79" name="图片 26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文本框 1"/>
          <p:cNvSpPr>
            <a:spLocks noGrp="1"/>
          </p:cNvSpPr>
          <p:nvPr/>
        </p:nvSpPr>
        <p:spPr>
          <a:xfrm>
            <a:off x="2151380" y="2035175"/>
            <a:ext cx="7889240" cy="101473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ctr"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0" b="1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sz="6000" b="1" kern="100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1"/>
          <p:cNvSpPr>
            <a:spLocks noGrp="1"/>
          </p:cNvSpPr>
          <p:nvPr/>
        </p:nvSpPr>
        <p:spPr>
          <a:xfrm>
            <a:off x="4369435" y="4507230"/>
            <a:ext cx="3754755" cy="31559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algn="l">
              <a:lnSpc>
                <a:spcPts val="1800"/>
              </a:lnSpc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汇报人丨黄国宸 曹钧杰  时间丨2026.9</a:t>
            </a:r>
            <a:endParaRPr sz="1600" kern="1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32"/>
          <p:cNvSpPr>
            <a:spLocks noGrp="1"/>
          </p:cNvSpPr>
          <p:nvPr/>
        </p:nvSpPr>
        <p:spPr>
          <a:xfrm>
            <a:off x="3191510" y="3258820"/>
            <a:ext cx="5796915" cy="35814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algn="ctr">
              <a:lnSpc>
                <a:spcPts val="2000"/>
              </a:lnSpc>
              <a:buNone/>
            </a:pPr>
            <a:endParaRPr sz="2000" b="1" kern="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12"/>
          <p:cNvSpPr>
            <a:spLocks noGrp="1"/>
          </p:cNvSpPr>
          <p:nvPr/>
        </p:nvSpPr>
        <p:spPr>
          <a:xfrm rot="18900000">
            <a:off x="7455498" y="-1959932"/>
            <a:ext cx="3900614" cy="3900814"/>
          </a:xfrm>
          <a:custGeom>
            <a:avLst/>
            <a:gdLst>
              <a:gd name="connsiteX0" fmla="*/ 0 w 3339963"/>
              <a:gd name="connsiteY0" fmla="*/ 0 h 3339962"/>
              <a:gd name="connsiteX1" fmla="*/ 3339963 w 3339963"/>
              <a:gd name="connsiteY1" fmla="*/ 3339962 h 3339962"/>
              <a:gd name="connsiteX2" fmla="*/ 1099563 w 3339963"/>
              <a:gd name="connsiteY2" fmla="*/ 3339962 h 3339962"/>
            </a:gdLst>
            <a:ahLst/>
            <a:cxnLst/>
            <a:rect l="l" t="t" r="r" b="b"/>
            <a:pathLst>
              <a:path w="3339963" h="3339962">
                <a:moveTo>
                  <a:pt x="0" y="0"/>
                </a:moveTo>
                <a:lnTo>
                  <a:pt x="3339963" y="3339962"/>
                </a:lnTo>
                <a:lnTo>
                  <a:pt x="1099563" y="333996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直角三角形 7"/>
          <p:cNvSpPr>
            <a:spLocks noGrp="1"/>
          </p:cNvSpPr>
          <p:nvPr/>
        </p:nvSpPr>
        <p:spPr>
          <a:xfrm rot="10800000">
            <a:off x="9051737" y="-9525"/>
            <a:ext cx="3140860" cy="3141022"/>
          </a:xfrm>
          <a:prstGeom prst="rtTriangle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38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2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3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4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5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6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7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8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9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10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11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12.xml><?xml version="1.0" encoding="utf-8"?>
<p:tagLst xmlns:p="http://schemas.openxmlformats.org/presentationml/2006/main">
  <p:tag name="KSO_WM_DIAGRAM_VIRTUALLY_FRAME" val="{&quot;height&quot;:363.85,&quot;left&quot;:430.85,&quot;top&quot;:99.8,&quot;width&quot;:382.15}"/>
</p:tagLst>
</file>

<file path=ppt/tags/tag13.xml><?xml version="1.0" encoding="utf-8"?>
<p:tagLst xmlns:p="http://schemas.openxmlformats.org/presentationml/2006/main">
  <p:tag name="KSO_WM_DIAGRAM_VIRTUALLY_FRAME" val="{&quot;height&quot;:311.55,&quot;left&quot;:227.6,&quot;top&quot;:162.35,&quot;width&quot;:649.2499212598425}"/>
</p:tagLst>
</file>

<file path=ppt/tags/tag14.xml><?xml version="1.0" encoding="utf-8"?>
<p:tagLst xmlns:p="http://schemas.openxmlformats.org/presentationml/2006/main">
  <p:tag name="KSO_WM_DIAGRAM_VIRTUALLY_FRAME" val="{&quot;height&quot;:311.55,&quot;left&quot;:227.6,&quot;top&quot;:162.35,&quot;width&quot;:649.2499212598425}"/>
</p:tagLst>
</file>

<file path=ppt/tags/tag15.xml><?xml version="1.0" encoding="utf-8"?>
<p:tagLst xmlns:p="http://schemas.openxmlformats.org/presentationml/2006/main">
  <p:tag name="KSO_WM_DIAGRAM_VIRTUALLY_FRAME" val="{&quot;height&quot;:311.55,&quot;left&quot;:227.6,&quot;top&quot;:162.35,&quot;width&quot;:649.2499212598425}"/>
</p:tagLst>
</file>

<file path=ppt/tags/tag16.xml><?xml version="1.0" encoding="utf-8"?>
<p:tagLst xmlns:p="http://schemas.openxmlformats.org/presentationml/2006/main">
  <p:tag name="KSO_WM_DIAGRAM_VIRTUALLY_FRAME" val="{&quot;height&quot;:311.55,&quot;left&quot;:227.6,&quot;top&quot;:162.35,&quot;width&quot;:649.2499212598425}"/>
</p:tagLst>
</file>

<file path=ppt/tags/tag17.xml><?xml version="1.0" encoding="utf-8"?>
<p:tagLst xmlns:p="http://schemas.openxmlformats.org/presentationml/2006/main">
  <p:tag name="KSO_WM_DIAGRAM_VIRTUALLY_FRAME" val="{&quot;height&quot;:311.55,&quot;left&quot;:227.6,&quot;top&quot;:162.35,&quot;width&quot;:649.2499212598425}"/>
</p:tagLst>
</file>

<file path=ppt/tags/tag18.xml><?xml version="1.0" encoding="utf-8"?>
<p:tagLst xmlns:p="http://schemas.openxmlformats.org/presentationml/2006/main">
  <p:tag name="KSO_WM_DIAGRAM_VIRTUALLY_FRAME" val="{&quot;height&quot;:311.55,&quot;left&quot;:227.6,&quot;top&quot;:162.35,&quot;width&quot;:649.2499212598425}"/>
</p:tagLst>
</file>

<file path=ppt/tags/tag19.xml><?xml version="1.0" encoding="utf-8"?>
<p:tagLst xmlns:p="http://schemas.openxmlformats.org/presentationml/2006/main">
  <p:tag name="KSO_WM_DIAGRAM_VIRTUALLY_FRAME" val="{&quot;height&quot;:311.55,&quot;left&quot;:227.6,&quot;top&quot;:162.35,&quot;width&quot;:649.2499212598425}"/>
</p:tagLst>
</file>

<file path=ppt/tags/tag20.xml><?xml version="1.0" encoding="utf-8"?>
<p:tagLst xmlns:p="http://schemas.openxmlformats.org/presentationml/2006/main">
  <p:tag name="KSO_WM_DIAGRAM_VIRTUALLY_FRAME" val="{&quot;height&quot;:311.55,&quot;left&quot;:227.6,&quot;top&quot;:162.35,&quot;width&quot;:649.2499212598425}"/>
</p:tagLst>
</file>

<file path=ppt/tags/tag21.xml><?xml version="1.0" encoding="utf-8"?>
<p:tagLst xmlns:p="http://schemas.openxmlformats.org/presentationml/2006/main">
  <p:tag name="KSO_WM_DIAGRAM_VIRTUALLY_FRAME" val="{&quot;height&quot;:311.55,&quot;left&quot;:227.6,&quot;top&quot;:162.35,&quot;width&quot;:649.2499212598425}"/>
</p:tagLst>
</file>

<file path=ppt/tags/tag22.xml><?xml version="1.0" encoding="utf-8"?>
<p:tagLst xmlns:p="http://schemas.openxmlformats.org/presentationml/2006/main">
  <p:tag name="KSO_WM_DIAGRAM_VIRTUALLY_FRAME" val="{&quot;height&quot;:311.5609448818897,&quot;left&quot;:227.6,&quot;top&quot;:162.35,&quot;width&quot;:628.7999212598424}"/>
</p:tagLst>
</file>

<file path=ppt/tags/tag23.xml><?xml version="1.0" encoding="utf-8"?>
<p:tagLst xmlns:p="http://schemas.openxmlformats.org/presentationml/2006/main">
  <p:tag name="KSO_WM_DIAGRAM_VIRTUALLY_FRAME" val="{&quot;height&quot;:311.5609448818897,&quot;left&quot;:227.6,&quot;top&quot;:162.35,&quot;width&quot;:628.7999212598424}"/>
</p:tagLst>
</file>

<file path=ppt/tags/tag24.xml><?xml version="1.0" encoding="utf-8"?>
<p:tagLst xmlns:p="http://schemas.openxmlformats.org/presentationml/2006/main">
  <p:tag name="KSO_WM_DIAGRAM_VIRTUALLY_FRAME" val="{&quot;height&quot;:311.5609448818897,&quot;left&quot;:227.6,&quot;top&quot;:162.35,&quot;width&quot;:628.7999212598424}"/>
</p:tagLst>
</file>

<file path=ppt/tags/tag25.xml><?xml version="1.0" encoding="utf-8"?>
<p:tagLst xmlns:p="http://schemas.openxmlformats.org/presentationml/2006/main">
  <p:tag name="KSO_WM_DIAGRAM_VIRTUALLY_FRAME" val="{&quot;height&quot;:311.5609448818897,&quot;left&quot;:227.6,&quot;top&quot;:162.35,&quot;width&quot;:628.7999212598424}"/>
</p:tagLst>
</file>

<file path=ppt/tags/tag26.xml><?xml version="1.0" encoding="utf-8"?>
<p:tagLst xmlns:p="http://schemas.openxmlformats.org/presentationml/2006/main">
  <p:tag name="KSO_WM_DIAGRAM_VIRTUALLY_FRAME" val="{&quot;height&quot;:311.5609448818897,&quot;left&quot;:227.6,&quot;top&quot;:162.35,&quot;width&quot;:628.7999212598424}"/>
</p:tagLst>
</file>

<file path=ppt/tags/tag27.xml><?xml version="1.0" encoding="utf-8"?>
<p:tagLst xmlns:p="http://schemas.openxmlformats.org/presentationml/2006/main">
  <p:tag name="KSO_WM_DIAGRAM_VIRTUALLY_FRAME" val="{&quot;height&quot;:311.5609448818897,&quot;left&quot;:227.6,&quot;top&quot;:162.35,&quot;width&quot;:628.7999212598424}"/>
</p:tagLst>
</file>

<file path=ppt/tags/tag28.xml><?xml version="1.0" encoding="utf-8"?>
<p:tagLst xmlns:p="http://schemas.openxmlformats.org/presentationml/2006/main">
  <p:tag name="KSO_WM_DIAGRAM_VIRTUALLY_FRAME" val="{&quot;height&quot;:311.5609448818897,&quot;left&quot;:227.6,&quot;top&quot;:162.35,&quot;width&quot;:628.7999212598424}"/>
</p:tagLst>
</file>

<file path=ppt/tags/tag29.xml><?xml version="1.0" encoding="utf-8"?>
<p:tagLst xmlns:p="http://schemas.openxmlformats.org/presentationml/2006/main">
  <p:tag name="KSO_WM_DIAGRAM_VIRTUALLY_FRAME" val="{&quot;height&quot;:311.5609448818897,&quot;left&quot;:227.6,&quot;top&quot;:162.35,&quot;width&quot;:628.7999212598424}"/>
</p:tagLst>
</file>

<file path=ppt/tags/tag30.xml><?xml version="1.0" encoding="utf-8"?>
<p:tagLst xmlns:p="http://schemas.openxmlformats.org/presentationml/2006/main">
  <p:tag name="KSO_WM_DIAGRAM_VIRTUALLY_FRAME" val="{&quot;height&quot;:311.5609448818897,&quot;left&quot;:227.6,&quot;top&quot;:162.35,&quot;width&quot;:628.7999212598424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3090</Words>
  <Application>WPS 演示</Application>
  <PresentationFormat>Converted Presentation</PresentationFormat>
  <Paragraphs>398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Arial</vt:lpstr>
      <vt:lpstr>Wingdings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WPS_1661514863</cp:lastModifiedBy>
  <cp:revision>8</cp:revision>
  <dcterms:created xsi:type="dcterms:W3CDTF">2026-09-22T07:03:00Z</dcterms:created>
  <dcterms:modified xsi:type="dcterms:W3CDTF">2026-09-22T07:07:22Z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46C6A7D707A44CBB849DB4EDDA44FA0F_13</vt:lpwstr>
  </property>
  <property fmtid="{D5CDD505-2E9C-101B-9397-08002B2CF9AE}" pid="3" name="KSOProductBuildVer">
    <vt:lpwstr>2052-12.1.0.28043</vt:lpwstr>
  </property>
</Properties>
</file>